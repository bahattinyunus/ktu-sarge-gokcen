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401" r:id="rId5"/>
    <p:sldId id="402" r:id="rId6"/>
    <p:sldId id="257" r:id="rId7"/>
    <p:sldId id="306" r:id="rId8"/>
    <p:sldId id="309" r:id="rId9"/>
    <p:sldId id="278" r:id="rId10"/>
    <p:sldId id="310" r:id="rId11"/>
    <p:sldId id="343" r:id="rId12"/>
    <p:sldId id="314" r:id="rId13"/>
    <p:sldId id="403" r:id="rId14"/>
    <p:sldId id="441" r:id="rId15"/>
    <p:sldId id="319" r:id="rId16"/>
    <p:sldId id="317" r:id="rId17"/>
    <p:sldId id="350" r:id="rId18"/>
    <p:sldId id="349" r:id="rId19"/>
    <p:sldId id="329" r:id="rId20"/>
    <p:sldId id="331" r:id="rId21"/>
    <p:sldId id="333" r:id="rId22"/>
    <p:sldId id="335" r:id="rId23"/>
    <p:sldId id="435" r:id="rId24"/>
    <p:sldId id="438" r:id="rId25"/>
    <p:sldId id="436" r:id="rId26"/>
    <p:sldId id="313" r:id="rId27"/>
    <p:sldId id="431" r:id="rId28"/>
    <p:sldId id="341" r:id="rId29"/>
    <p:sldId id="346" r:id="rId30"/>
    <p:sldId id="328" r:id="rId31"/>
    <p:sldId id="440" r:id="rId32"/>
    <p:sldId id="437" r:id="rId33"/>
    <p:sldId id="442" r:id="rId34"/>
    <p:sldId id="404" r:id="rId35"/>
    <p:sldId id="443" r:id="rId36"/>
    <p:sldId id="433" r:id="rId37"/>
    <p:sldId id="434" r:id="rId3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tılay Nebi ÇALLI" initials="ANÇ" lastIdx="2" clrIdx="0"/>
  <p:cmAuthor id="1" name="Ömer Uçar" initials="ÖU" lastIdx="7" clrIdx="1">
    <p:extLst>
      <p:ext uri="{19B8F6BF-5375-455C-9EA6-DF929625EA0E}">
        <p15:presenceInfo xmlns:p15="http://schemas.microsoft.com/office/powerpoint/2012/main" userId="S::omer@novartspace.com::56ddcf12-8561-4ea2-b115-5259abf44f6e" providerId="AD"/>
      </p:ext>
    </p:extLst>
  </p:cmAuthor>
  <p:cmAuthor id="2" name="Tegin Berkay Budak" initials="TBB" lastIdx="9" clrIdx="2">
    <p:extLst>
      <p:ext uri="{19B8F6BF-5375-455C-9EA6-DF929625EA0E}">
        <p15:presenceInfo xmlns:p15="http://schemas.microsoft.com/office/powerpoint/2012/main" userId="S::berkay@novartspace.com::f49d29bb-5561-4e6f-b0d2-79201e93038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37"/>
  </p:normalViewPr>
  <p:slideViewPr>
    <p:cSldViewPr snapToGrid="0">
      <p:cViewPr varScale="1">
        <p:scale>
          <a:sx n="79" d="100"/>
          <a:sy n="79" d="100"/>
        </p:scale>
        <p:origin x="86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55DFB-82F2-4C64-93E4-F10510A6B5EA}" type="datetimeFigureOut">
              <a:rPr lang="tr-TR" smtClean="0"/>
              <a:t>7.07.2025</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0D787-957A-4C91-9FA2-965885DFC9A9}" type="slidenum">
              <a:rPr lang="tr-TR" smtClean="0"/>
              <a:t>‹#›</a:t>
            </a:fld>
            <a:endParaRPr lang="tr-TR"/>
          </a:p>
        </p:txBody>
      </p:sp>
    </p:spTree>
    <p:extLst>
      <p:ext uri="{BB962C8B-B14F-4D97-AF65-F5344CB8AC3E}">
        <p14:creationId xmlns:p14="http://schemas.microsoft.com/office/powerpoint/2010/main" val="1412038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a:t>
            </a:fld>
            <a:endParaRPr lang="tr-TR"/>
          </a:p>
        </p:txBody>
      </p:sp>
    </p:spTree>
    <p:extLst>
      <p:ext uri="{BB962C8B-B14F-4D97-AF65-F5344CB8AC3E}">
        <p14:creationId xmlns:p14="http://schemas.microsoft.com/office/powerpoint/2010/main" val="1625094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a:t>
            </a:fld>
            <a:endParaRPr lang="tr-TR"/>
          </a:p>
        </p:txBody>
      </p:sp>
    </p:spTree>
    <p:extLst>
      <p:ext uri="{BB962C8B-B14F-4D97-AF65-F5344CB8AC3E}">
        <p14:creationId xmlns:p14="http://schemas.microsoft.com/office/powerpoint/2010/main" val="163091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3</a:t>
            </a:fld>
            <a:endParaRPr lang="tr-TR"/>
          </a:p>
        </p:txBody>
      </p:sp>
    </p:spTree>
    <p:extLst>
      <p:ext uri="{BB962C8B-B14F-4D97-AF65-F5344CB8AC3E}">
        <p14:creationId xmlns:p14="http://schemas.microsoft.com/office/powerpoint/2010/main" val="1690051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4</a:t>
            </a:fld>
            <a:endParaRPr lang="tr-TR"/>
          </a:p>
        </p:txBody>
      </p:sp>
    </p:spTree>
    <p:extLst>
      <p:ext uri="{BB962C8B-B14F-4D97-AF65-F5344CB8AC3E}">
        <p14:creationId xmlns:p14="http://schemas.microsoft.com/office/powerpoint/2010/main" val="4247554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7980D787-957A-4C91-9FA2-965885DFC9A9}" type="slidenum">
              <a:rPr lang="tr-TR" smtClean="0"/>
              <a:t>5</a:t>
            </a:fld>
            <a:endParaRPr lang="tr-TR"/>
          </a:p>
        </p:txBody>
      </p:sp>
    </p:spTree>
    <p:extLst>
      <p:ext uri="{BB962C8B-B14F-4D97-AF65-F5344CB8AC3E}">
        <p14:creationId xmlns:p14="http://schemas.microsoft.com/office/powerpoint/2010/main" val="2419104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6</a:t>
            </a:fld>
            <a:endParaRPr lang="tr-TR"/>
          </a:p>
        </p:txBody>
      </p:sp>
    </p:spTree>
    <p:extLst>
      <p:ext uri="{BB962C8B-B14F-4D97-AF65-F5344CB8AC3E}">
        <p14:creationId xmlns:p14="http://schemas.microsoft.com/office/powerpoint/2010/main" val="735864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7</a:t>
            </a:fld>
            <a:endParaRPr lang="tr-TR"/>
          </a:p>
        </p:txBody>
      </p:sp>
    </p:spTree>
    <p:extLst>
      <p:ext uri="{BB962C8B-B14F-4D97-AF65-F5344CB8AC3E}">
        <p14:creationId xmlns:p14="http://schemas.microsoft.com/office/powerpoint/2010/main" val="2486403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8</a:t>
            </a:fld>
            <a:endParaRPr lang="tr-TR"/>
          </a:p>
        </p:txBody>
      </p:sp>
    </p:spTree>
    <p:extLst>
      <p:ext uri="{BB962C8B-B14F-4D97-AF65-F5344CB8AC3E}">
        <p14:creationId xmlns:p14="http://schemas.microsoft.com/office/powerpoint/2010/main" val="381679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9</a:t>
            </a:fld>
            <a:endParaRPr lang="tr-TR"/>
          </a:p>
        </p:txBody>
      </p:sp>
    </p:spTree>
    <p:extLst>
      <p:ext uri="{BB962C8B-B14F-4D97-AF65-F5344CB8AC3E}">
        <p14:creationId xmlns:p14="http://schemas.microsoft.com/office/powerpoint/2010/main" val="1462460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10</a:t>
            </a:fld>
            <a:endParaRPr lang="tr-TR"/>
          </a:p>
        </p:txBody>
      </p:sp>
    </p:spTree>
    <p:extLst>
      <p:ext uri="{BB962C8B-B14F-4D97-AF65-F5344CB8AC3E}">
        <p14:creationId xmlns:p14="http://schemas.microsoft.com/office/powerpoint/2010/main" val="3269839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11</a:t>
            </a:fld>
            <a:endParaRPr lang="tr-TR"/>
          </a:p>
        </p:txBody>
      </p:sp>
    </p:spTree>
    <p:extLst>
      <p:ext uri="{BB962C8B-B14F-4D97-AF65-F5344CB8AC3E}">
        <p14:creationId xmlns:p14="http://schemas.microsoft.com/office/powerpoint/2010/main" val="4189508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12</a:t>
            </a:fld>
            <a:endParaRPr lang="tr-TR"/>
          </a:p>
        </p:txBody>
      </p:sp>
    </p:spTree>
    <p:extLst>
      <p:ext uri="{BB962C8B-B14F-4D97-AF65-F5344CB8AC3E}">
        <p14:creationId xmlns:p14="http://schemas.microsoft.com/office/powerpoint/2010/main" val="2205863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13</a:t>
            </a:fld>
            <a:endParaRPr lang="tr-TR"/>
          </a:p>
        </p:txBody>
      </p:sp>
    </p:spTree>
    <p:extLst>
      <p:ext uri="{BB962C8B-B14F-4D97-AF65-F5344CB8AC3E}">
        <p14:creationId xmlns:p14="http://schemas.microsoft.com/office/powerpoint/2010/main" val="1018859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14</a:t>
            </a:fld>
            <a:endParaRPr lang="tr-TR"/>
          </a:p>
        </p:txBody>
      </p:sp>
    </p:spTree>
    <p:extLst>
      <p:ext uri="{BB962C8B-B14F-4D97-AF65-F5344CB8AC3E}">
        <p14:creationId xmlns:p14="http://schemas.microsoft.com/office/powerpoint/2010/main" val="3048375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15</a:t>
            </a:fld>
            <a:endParaRPr lang="tr-TR"/>
          </a:p>
        </p:txBody>
      </p:sp>
    </p:spTree>
    <p:extLst>
      <p:ext uri="{BB962C8B-B14F-4D97-AF65-F5344CB8AC3E}">
        <p14:creationId xmlns:p14="http://schemas.microsoft.com/office/powerpoint/2010/main" val="608094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16</a:t>
            </a:fld>
            <a:endParaRPr lang="tr-TR"/>
          </a:p>
        </p:txBody>
      </p:sp>
    </p:spTree>
    <p:extLst>
      <p:ext uri="{BB962C8B-B14F-4D97-AF65-F5344CB8AC3E}">
        <p14:creationId xmlns:p14="http://schemas.microsoft.com/office/powerpoint/2010/main" val="3554921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17</a:t>
            </a:fld>
            <a:endParaRPr lang="tr-TR"/>
          </a:p>
        </p:txBody>
      </p:sp>
    </p:spTree>
    <p:extLst>
      <p:ext uri="{BB962C8B-B14F-4D97-AF65-F5344CB8AC3E}">
        <p14:creationId xmlns:p14="http://schemas.microsoft.com/office/powerpoint/2010/main" val="4268878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18</a:t>
            </a:fld>
            <a:endParaRPr lang="tr-TR"/>
          </a:p>
        </p:txBody>
      </p:sp>
    </p:spTree>
    <p:extLst>
      <p:ext uri="{BB962C8B-B14F-4D97-AF65-F5344CB8AC3E}">
        <p14:creationId xmlns:p14="http://schemas.microsoft.com/office/powerpoint/2010/main" val="1216643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19</a:t>
            </a:fld>
            <a:endParaRPr lang="tr-TR"/>
          </a:p>
        </p:txBody>
      </p:sp>
    </p:spTree>
    <p:extLst>
      <p:ext uri="{BB962C8B-B14F-4D97-AF65-F5344CB8AC3E}">
        <p14:creationId xmlns:p14="http://schemas.microsoft.com/office/powerpoint/2010/main" val="2914502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20</a:t>
            </a:fld>
            <a:endParaRPr lang="tr-TR"/>
          </a:p>
        </p:txBody>
      </p:sp>
    </p:spTree>
    <p:extLst>
      <p:ext uri="{BB962C8B-B14F-4D97-AF65-F5344CB8AC3E}">
        <p14:creationId xmlns:p14="http://schemas.microsoft.com/office/powerpoint/2010/main" val="648123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21</a:t>
            </a:fld>
            <a:endParaRPr lang="tr-TR"/>
          </a:p>
        </p:txBody>
      </p:sp>
    </p:spTree>
    <p:extLst>
      <p:ext uri="{BB962C8B-B14F-4D97-AF65-F5344CB8AC3E}">
        <p14:creationId xmlns:p14="http://schemas.microsoft.com/office/powerpoint/2010/main" val="17795878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22</a:t>
            </a:fld>
            <a:endParaRPr lang="tr-TR"/>
          </a:p>
        </p:txBody>
      </p:sp>
    </p:spTree>
    <p:extLst>
      <p:ext uri="{BB962C8B-B14F-4D97-AF65-F5344CB8AC3E}">
        <p14:creationId xmlns:p14="http://schemas.microsoft.com/office/powerpoint/2010/main" val="649204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23</a:t>
            </a:fld>
            <a:endParaRPr lang="tr-TR"/>
          </a:p>
        </p:txBody>
      </p:sp>
    </p:spTree>
    <p:extLst>
      <p:ext uri="{BB962C8B-B14F-4D97-AF65-F5344CB8AC3E}">
        <p14:creationId xmlns:p14="http://schemas.microsoft.com/office/powerpoint/2010/main" val="4058834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24</a:t>
            </a:fld>
            <a:endParaRPr lang="tr-TR"/>
          </a:p>
        </p:txBody>
      </p:sp>
    </p:spTree>
    <p:extLst>
      <p:ext uri="{BB962C8B-B14F-4D97-AF65-F5344CB8AC3E}">
        <p14:creationId xmlns:p14="http://schemas.microsoft.com/office/powerpoint/2010/main" val="401405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25</a:t>
            </a:fld>
            <a:endParaRPr lang="tr-TR"/>
          </a:p>
        </p:txBody>
      </p:sp>
    </p:spTree>
    <p:extLst>
      <p:ext uri="{BB962C8B-B14F-4D97-AF65-F5344CB8AC3E}">
        <p14:creationId xmlns:p14="http://schemas.microsoft.com/office/powerpoint/2010/main" val="686673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80D787-957A-4C91-9FA2-965885DFC9A9}"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6051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27</a:t>
            </a:fld>
            <a:endParaRPr lang="tr-TR"/>
          </a:p>
        </p:txBody>
      </p:sp>
    </p:spTree>
    <p:extLst>
      <p:ext uri="{BB962C8B-B14F-4D97-AF65-F5344CB8AC3E}">
        <p14:creationId xmlns:p14="http://schemas.microsoft.com/office/powerpoint/2010/main" val="36416829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28</a:t>
            </a:fld>
            <a:endParaRPr lang="tr-TR"/>
          </a:p>
        </p:txBody>
      </p:sp>
    </p:spTree>
    <p:extLst>
      <p:ext uri="{BB962C8B-B14F-4D97-AF65-F5344CB8AC3E}">
        <p14:creationId xmlns:p14="http://schemas.microsoft.com/office/powerpoint/2010/main" val="2829529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29</a:t>
            </a:fld>
            <a:endParaRPr lang="tr-TR"/>
          </a:p>
        </p:txBody>
      </p:sp>
    </p:spTree>
    <p:extLst>
      <p:ext uri="{BB962C8B-B14F-4D97-AF65-F5344CB8AC3E}">
        <p14:creationId xmlns:p14="http://schemas.microsoft.com/office/powerpoint/2010/main" val="1676069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7980D787-957A-4C91-9FA2-965885DFC9A9}" type="slidenum">
              <a:rPr lang="tr-TR" smtClean="0"/>
              <a:t>30</a:t>
            </a:fld>
            <a:endParaRPr lang="tr-TR"/>
          </a:p>
        </p:txBody>
      </p:sp>
    </p:spTree>
    <p:extLst>
      <p:ext uri="{BB962C8B-B14F-4D97-AF65-F5344CB8AC3E}">
        <p14:creationId xmlns:p14="http://schemas.microsoft.com/office/powerpoint/2010/main" val="20019326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31</a:t>
            </a:fld>
            <a:endParaRPr lang="tr-TR"/>
          </a:p>
        </p:txBody>
      </p:sp>
    </p:spTree>
    <p:extLst>
      <p:ext uri="{BB962C8B-B14F-4D97-AF65-F5344CB8AC3E}">
        <p14:creationId xmlns:p14="http://schemas.microsoft.com/office/powerpoint/2010/main" val="2929287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80D787-957A-4C91-9FA2-965885DFC9A9}"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400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33</a:t>
            </a:fld>
            <a:endParaRPr lang="tr-TR"/>
          </a:p>
        </p:txBody>
      </p:sp>
    </p:spTree>
    <p:extLst>
      <p:ext uri="{BB962C8B-B14F-4D97-AF65-F5344CB8AC3E}">
        <p14:creationId xmlns:p14="http://schemas.microsoft.com/office/powerpoint/2010/main" val="27199905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34</a:t>
            </a:fld>
            <a:endParaRPr lang="tr-TR"/>
          </a:p>
        </p:txBody>
      </p:sp>
    </p:spTree>
    <p:extLst>
      <p:ext uri="{BB962C8B-B14F-4D97-AF65-F5344CB8AC3E}">
        <p14:creationId xmlns:p14="http://schemas.microsoft.com/office/powerpoint/2010/main" val="1172346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p:cNvSpPr>
            <a:spLocks noGrp="1"/>
          </p:cNvSpPr>
          <p:nvPr>
            <p:ph type="dt" sz="half" idx="10"/>
          </p:nvPr>
        </p:nvSpPr>
        <p:spPr/>
        <p:txBody>
          <a:bodyPr/>
          <a:lstStyle/>
          <a:p>
            <a:fld id="{7FAE8CB2-9691-490D-9BE8-156B3BD3EDDA}" type="datetime2">
              <a:rPr lang="tr-TR" smtClean="0"/>
              <a:t>7 Temmuz 2025 Pazartesi</a:t>
            </a:fld>
            <a:endParaRPr lang="tr-TR"/>
          </a:p>
        </p:txBody>
      </p:sp>
      <p:sp>
        <p:nvSpPr>
          <p:cNvPr id="5" name="Footer Placeholder 4"/>
          <p:cNvSpPr>
            <a:spLocks noGrp="1"/>
          </p:cNvSpPr>
          <p:nvPr>
            <p:ph type="ftr" sz="quarter" idx="11"/>
          </p:nvPr>
        </p:nvSpPr>
        <p:spPr/>
        <p:txBody>
          <a:bodyPr/>
          <a:lstStyle/>
          <a:p>
            <a:r>
              <a:rPr lang="tr-TR"/>
              <a:t>2018 TEKNOFEST ROKET YARIŞMASI ÖNCÜL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268642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06142BE6-88A1-4636-8CD1-5CDE0647BA87}" type="datetime2">
              <a:rPr lang="tr-TR" smtClean="0"/>
              <a:t>7 Temmuz 2025 Pazartesi</a:t>
            </a:fld>
            <a:endParaRPr lang="tr-TR"/>
          </a:p>
        </p:txBody>
      </p:sp>
      <p:sp>
        <p:nvSpPr>
          <p:cNvPr id="5" name="Footer Placeholder 4"/>
          <p:cNvSpPr>
            <a:spLocks noGrp="1"/>
          </p:cNvSpPr>
          <p:nvPr>
            <p:ph type="ftr" sz="quarter" idx="11"/>
          </p:nvPr>
        </p:nvSpPr>
        <p:spPr/>
        <p:txBody>
          <a:bodyPr/>
          <a:lstStyle/>
          <a:p>
            <a:r>
              <a:rPr lang="tr-TR"/>
              <a:t>2018 TEKNOFEST ROKET YARIŞMASI ÖNCÜL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41349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3EF135-1B39-46F9-B480-EDB3F7E0C68A}" type="datetime2">
              <a:rPr lang="tr-TR" smtClean="0"/>
              <a:t>7 Temmuz 2025 Pazartesi</a:t>
            </a:fld>
            <a:endParaRPr lang="tr-TR"/>
          </a:p>
        </p:txBody>
      </p:sp>
      <p:sp>
        <p:nvSpPr>
          <p:cNvPr id="5" name="Footer Placeholder 4"/>
          <p:cNvSpPr>
            <a:spLocks noGrp="1"/>
          </p:cNvSpPr>
          <p:nvPr>
            <p:ph type="ftr" sz="quarter" idx="11"/>
          </p:nvPr>
        </p:nvSpPr>
        <p:spPr/>
        <p:txBody>
          <a:bodyPr/>
          <a:lstStyle/>
          <a:p>
            <a:r>
              <a:rPr lang="tr-TR"/>
              <a:t>2018 TEKNOFEST ROKET YARIŞMASI ÖNCÜL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1678278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p>
            <a:fld id="{763D39CA-2D14-4B38-AF06-14C43CD290E5}" type="datetime2">
              <a:rPr lang="tr-TR" smtClean="0"/>
              <a:t>7 Temmuz 2025 Pazartesi</a:t>
            </a:fld>
            <a:endParaRPr lang="tr-TR"/>
          </a:p>
        </p:txBody>
      </p:sp>
      <p:sp>
        <p:nvSpPr>
          <p:cNvPr id="6" name="Footer Placeholder 5"/>
          <p:cNvSpPr>
            <a:spLocks noGrp="1"/>
          </p:cNvSpPr>
          <p:nvPr>
            <p:ph type="ftr" sz="quarter" idx="11"/>
          </p:nvPr>
        </p:nvSpPr>
        <p:spPr/>
        <p:txBody>
          <a:bodyPr/>
          <a:lstStyle/>
          <a:p>
            <a:r>
              <a:rPr lang="tr-TR"/>
              <a:t>2018 TEKNOFEST ROKET YARIŞMASI ÖNCÜL TASARIM RAPORU (ÖTR)</a:t>
            </a:r>
          </a:p>
        </p:txBody>
      </p:sp>
      <p:sp>
        <p:nvSpPr>
          <p:cNvPr id="7" name="Slide Number Placeholder 6"/>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178291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p>
            <a:fld id="{B5586FD2-488F-40DF-B568-34DEA0B57C64}" type="datetime2">
              <a:rPr lang="tr-TR" smtClean="0"/>
              <a:t>7 Temmuz 2025 Pazartesi</a:t>
            </a:fld>
            <a:endParaRPr lang="tr-TR"/>
          </a:p>
        </p:txBody>
      </p:sp>
      <p:sp>
        <p:nvSpPr>
          <p:cNvPr id="8" name="Footer Placeholder 7"/>
          <p:cNvSpPr>
            <a:spLocks noGrp="1"/>
          </p:cNvSpPr>
          <p:nvPr>
            <p:ph type="ftr" sz="quarter" idx="11"/>
          </p:nvPr>
        </p:nvSpPr>
        <p:spPr/>
        <p:txBody>
          <a:bodyPr/>
          <a:lstStyle/>
          <a:p>
            <a:r>
              <a:rPr lang="tr-TR"/>
              <a:t>2018 TEKNOFEST ROKET YARIŞMASI ÖNCÜL TASARIM RAPORU (ÖTR)</a:t>
            </a:r>
          </a:p>
        </p:txBody>
      </p:sp>
      <p:sp>
        <p:nvSpPr>
          <p:cNvPr id="9" name="Slide Number Placeholder 8"/>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3993464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p>
            <a:fld id="{8C086831-B416-4B9A-A450-170C5C34286D}" type="datetime2">
              <a:rPr lang="tr-TR" smtClean="0"/>
              <a:t>7 Temmuz 2025 Pazartesi</a:t>
            </a:fld>
            <a:endParaRPr lang="tr-TR"/>
          </a:p>
        </p:txBody>
      </p:sp>
      <p:sp>
        <p:nvSpPr>
          <p:cNvPr id="4" name="Footer Placeholder 3"/>
          <p:cNvSpPr>
            <a:spLocks noGrp="1"/>
          </p:cNvSpPr>
          <p:nvPr>
            <p:ph type="ftr" sz="quarter" idx="11"/>
          </p:nvPr>
        </p:nvSpPr>
        <p:spPr/>
        <p:txBody>
          <a:bodyPr/>
          <a:lstStyle/>
          <a:p>
            <a:r>
              <a:rPr lang="tr-TR"/>
              <a:t>2018 TEKNOFEST ROKET YARIŞMASI ÖNCÜL TASARIM RAPORU (ÖTR)</a:t>
            </a:r>
          </a:p>
        </p:txBody>
      </p:sp>
      <p:sp>
        <p:nvSpPr>
          <p:cNvPr id="5" name="Slide Number Placeholder 4"/>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2647338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49507-AD42-41CA-AEC4-E30B5C930225}" type="datetime2">
              <a:rPr lang="tr-TR" smtClean="0"/>
              <a:t>7 Temmuz 2025 Pazartesi</a:t>
            </a:fld>
            <a:endParaRPr lang="tr-TR"/>
          </a:p>
        </p:txBody>
      </p:sp>
      <p:sp>
        <p:nvSpPr>
          <p:cNvPr id="3" name="Footer Placeholder 2"/>
          <p:cNvSpPr>
            <a:spLocks noGrp="1"/>
          </p:cNvSpPr>
          <p:nvPr>
            <p:ph type="ftr" sz="quarter" idx="11"/>
          </p:nvPr>
        </p:nvSpPr>
        <p:spPr/>
        <p:txBody>
          <a:bodyPr/>
          <a:lstStyle/>
          <a:p>
            <a:r>
              <a:rPr lang="tr-TR"/>
              <a:t>2018 TEKNOFEST ROKET YARIŞMASI ÖNCÜL TASARIM RAPORU (ÖTR)</a:t>
            </a:r>
          </a:p>
        </p:txBody>
      </p:sp>
      <p:sp>
        <p:nvSpPr>
          <p:cNvPr id="4" name="Slide Number Placeholder 3"/>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415200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4BBE04-BFAD-4AC9-A91E-102D65BDF41E}" type="datetime2">
              <a:rPr lang="tr-TR" smtClean="0"/>
              <a:t>7 Temmuz 2025 Pazartesi</a:t>
            </a:fld>
            <a:endParaRPr lang="tr-TR"/>
          </a:p>
        </p:txBody>
      </p:sp>
      <p:sp>
        <p:nvSpPr>
          <p:cNvPr id="6" name="Footer Placeholder 5"/>
          <p:cNvSpPr>
            <a:spLocks noGrp="1"/>
          </p:cNvSpPr>
          <p:nvPr>
            <p:ph type="ftr" sz="quarter" idx="11"/>
          </p:nvPr>
        </p:nvSpPr>
        <p:spPr/>
        <p:txBody>
          <a:bodyPr/>
          <a:lstStyle/>
          <a:p>
            <a:r>
              <a:rPr lang="tr-TR"/>
              <a:t>2018 TEKNOFEST ROKET YARIŞMASI ÖNCÜL TASARIM RAPORU (ÖTR)</a:t>
            </a:r>
          </a:p>
        </p:txBody>
      </p:sp>
      <p:sp>
        <p:nvSpPr>
          <p:cNvPr id="7" name="Slide Number Placeholder 6"/>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2853421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48B8DF-9B11-4B50-A31B-88D0FACB57D4}" type="datetime2">
              <a:rPr lang="tr-TR" smtClean="0"/>
              <a:t>7 Temmuz 2025 Pazartesi</a:t>
            </a:fld>
            <a:endParaRPr lang="tr-TR"/>
          </a:p>
        </p:txBody>
      </p:sp>
      <p:sp>
        <p:nvSpPr>
          <p:cNvPr id="6" name="Footer Placeholder 5"/>
          <p:cNvSpPr>
            <a:spLocks noGrp="1"/>
          </p:cNvSpPr>
          <p:nvPr>
            <p:ph type="ftr" sz="quarter" idx="11"/>
          </p:nvPr>
        </p:nvSpPr>
        <p:spPr/>
        <p:txBody>
          <a:bodyPr/>
          <a:lstStyle/>
          <a:p>
            <a:r>
              <a:rPr lang="tr-TR"/>
              <a:t>2018 TEKNOFEST ROKET YARIŞMASI ÖNCÜL TASARIM RAPORU (ÖTR)</a:t>
            </a:r>
          </a:p>
        </p:txBody>
      </p:sp>
      <p:sp>
        <p:nvSpPr>
          <p:cNvPr id="7" name="Slide Number Placeholder 6"/>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3609509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036B13AA-6CA4-4018-AB6A-83696F88837D}" type="datetime2">
              <a:rPr lang="tr-TR" smtClean="0"/>
              <a:t>7 Temmuz 2025 Pazartesi</a:t>
            </a:fld>
            <a:endParaRPr lang="tr-TR"/>
          </a:p>
        </p:txBody>
      </p:sp>
      <p:sp>
        <p:nvSpPr>
          <p:cNvPr id="5" name="Footer Placeholder 4"/>
          <p:cNvSpPr>
            <a:spLocks noGrp="1"/>
          </p:cNvSpPr>
          <p:nvPr>
            <p:ph type="ftr" sz="quarter" idx="11"/>
          </p:nvPr>
        </p:nvSpPr>
        <p:spPr/>
        <p:txBody>
          <a:bodyPr/>
          <a:lstStyle/>
          <a:p>
            <a:r>
              <a:rPr lang="tr-TR"/>
              <a:t>2018 TEKNOFEST ROKET YARIŞMASI ÖNCÜL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866350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614A6D07-2EAE-4316-B7DB-B0FB13467948}" type="datetime2">
              <a:rPr lang="tr-TR" smtClean="0"/>
              <a:t>7 Temmuz 2025 Pazartesi</a:t>
            </a:fld>
            <a:endParaRPr lang="tr-TR"/>
          </a:p>
        </p:txBody>
      </p:sp>
      <p:sp>
        <p:nvSpPr>
          <p:cNvPr id="5" name="Footer Placeholder 4"/>
          <p:cNvSpPr>
            <a:spLocks noGrp="1"/>
          </p:cNvSpPr>
          <p:nvPr>
            <p:ph type="ftr" sz="quarter" idx="11"/>
          </p:nvPr>
        </p:nvSpPr>
        <p:spPr/>
        <p:txBody>
          <a:bodyPr/>
          <a:lstStyle/>
          <a:p>
            <a:r>
              <a:rPr lang="tr-TR"/>
              <a:t>2018 TEKNOFEST ROKET YARIŞMASI ÖNCÜL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396439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93D5B-6D19-4DFF-AD2B-3546E2B8FE94}" type="datetime2">
              <a:rPr lang="tr-TR" smtClean="0"/>
              <a:t>7 Temmuz 2025 Pazartesi</a:t>
            </a:fld>
            <a:endParaRPr lang="tr-T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tr-TR"/>
              <a:t>2018 TEKNOFEST ROKET YARIŞMASI ÖNCÜL TASARIM RAPORU (ÖTR)</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EDC82-49FF-42E3-B7EA-26FF728940D5}" type="slidenum">
              <a:rPr lang="tr-TR" smtClean="0"/>
              <a:t>‹#›</a:t>
            </a:fld>
            <a:endParaRPr lang="tr-TR"/>
          </a:p>
        </p:txBody>
      </p:sp>
      <p:sp>
        <p:nvSpPr>
          <p:cNvPr id="7" name="fr"/>
          <p:cNvSpPr txBox="1"/>
          <p:nvPr userDrawn="1"/>
        </p:nvSpPr>
        <p:spPr>
          <a:xfrm>
            <a:off x="0" y="6537960"/>
            <a:ext cx="12192000" cy="223138"/>
          </a:xfrm>
          <a:prstGeom prst="rect">
            <a:avLst/>
          </a:prstGeom>
          <a:noFill/>
        </p:spPr>
        <p:txBody>
          <a:bodyPr vert="horz" rtlCol="0">
            <a:spAutoFit/>
          </a:bodyPr>
          <a:lstStyle/>
          <a:p>
            <a:pPr algn="r"/>
            <a:endParaRPr lang="tr-TR" sz="850" b="0" i="0" u="none" baseline="0">
              <a:solidFill>
                <a:srgbClr val="FF0000"/>
              </a:solidFill>
              <a:latin typeface="Microsoft Sans Serif" panose="020B0604020202020204" pitchFamily="34" charset="0"/>
            </a:endParaRPr>
          </a:p>
        </p:txBody>
      </p:sp>
      <p:sp>
        <p:nvSpPr>
          <p:cNvPr id="8" name="hr" descr="Herkese Açık | Public"/>
          <p:cNvSpPr txBox="1"/>
          <p:nvPr userDrawn="1"/>
        </p:nvSpPr>
        <p:spPr>
          <a:xfrm>
            <a:off x="0" y="0"/>
            <a:ext cx="12192000" cy="223138"/>
          </a:xfrm>
          <a:prstGeom prst="rect">
            <a:avLst/>
          </a:prstGeom>
          <a:noFill/>
        </p:spPr>
        <p:txBody>
          <a:bodyPr vert="horz" rtlCol="0">
            <a:spAutoFit/>
          </a:bodyPr>
          <a:lstStyle/>
          <a:p>
            <a:pPr algn="r"/>
            <a:r>
              <a:rPr lang="tr-TR" sz="850" b="0" i="0" u="none" baseline="0">
                <a:solidFill>
                  <a:srgbClr val="FF0000"/>
                </a:solidFill>
                <a:latin typeface="Microsoft Sans Serif" panose="020B0604020202020204" pitchFamily="34" charset="0"/>
              </a:rPr>
              <a:t>Herkese Açık | Public</a:t>
            </a:r>
          </a:p>
        </p:txBody>
      </p:sp>
    </p:spTree>
    <p:extLst>
      <p:ext uri="{BB962C8B-B14F-4D97-AF65-F5344CB8AC3E}">
        <p14:creationId xmlns:p14="http://schemas.microsoft.com/office/powerpoint/2010/main" val="1928742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1</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0" y="1227317"/>
            <a:ext cx="12048621" cy="4247317"/>
          </a:xfrm>
          <a:prstGeom prst="rect">
            <a:avLst/>
          </a:prstGeom>
          <a:noFill/>
        </p:spPr>
        <p:txBody>
          <a:bodyPr wrap="square" rtlCol="0">
            <a:spAutoFit/>
          </a:bodyPr>
          <a:lstStyle/>
          <a:p>
            <a:pPr marL="285750" indent="-285750">
              <a:buFont typeface="Arial" panose="020B0604020202020204" pitchFamily="34" charset="0"/>
              <a:buChar char="•"/>
            </a:pPr>
            <a:r>
              <a:rPr lang="tr-TR" dirty="0"/>
              <a:t>Rapor boyunca tablolar hariç tüm yazıların minimum yazı tipi boyutu 18 ve yazı tipi </a:t>
            </a:r>
            <a:r>
              <a:rPr lang="tr-TR" dirty="0" err="1"/>
              <a:t>Calibri</a:t>
            </a:r>
            <a:r>
              <a:rPr lang="tr-TR" dirty="0"/>
              <a:t> olmalıdır. </a:t>
            </a:r>
          </a:p>
          <a:p>
            <a:pPr marL="285750" indent="-285750">
              <a:buFont typeface="Arial" panose="020B0604020202020204" pitchFamily="34" charset="0"/>
              <a:buChar char="•"/>
            </a:pPr>
            <a:r>
              <a:rPr lang="tr-TR" dirty="0"/>
              <a:t>Tablolar için 11 punto kullanılmalıdır.</a:t>
            </a:r>
          </a:p>
          <a:p>
            <a:pPr marL="285750" indent="-285750">
              <a:buFont typeface="Arial" panose="020B0604020202020204" pitchFamily="34" charset="0"/>
              <a:buChar char="•"/>
            </a:pPr>
            <a:r>
              <a:rPr lang="tr-TR" dirty="0"/>
              <a:t>Paragraflar </a:t>
            </a:r>
            <a:r>
              <a:rPr lang="tr-TR" b="1" dirty="0"/>
              <a:t>kalın (</a:t>
            </a:r>
            <a:r>
              <a:rPr lang="tr-TR" b="1" dirty="0" err="1"/>
              <a:t>bold</a:t>
            </a:r>
            <a:r>
              <a:rPr lang="tr-TR" b="1" dirty="0"/>
              <a:t>) </a:t>
            </a:r>
            <a:r>
              <a:rPr lang="tr-TR" dirty="0"/>
              <a:t>ve </a:t>
            </a:r>
            <a:r>
              <a:rPr lang="tr-TR" dirty="0">
                <a:highlight>
                  <a:srgbClr val="FFFF00"/>
                </a:highlight>
              </a:rPr>
              <a:t>vurgulu (</a:t>
            </a:r>
            <a:r>
              <a:rPr lang="tr-TR" dirty="0" err="1">
                <a:highlight>
                  <a:srgbClr val="FFFF00"/>
                </a:highlight>
              </a:rPr>
              <a:t>highlighted</a:t>
            </a:r>
            <a:r>
              <a:rPr lang="tr-TR" dirty="0">
                <a:highlight>
                  <a:srgbClr val="FFFF00"/>
                </a:highlight>
              </a:rPr>
              <a:t>)</a:t>
            </a:r>
            <a:r>
              <a:rPr lang="tr-TR" dirty="0"/>
              <a:t> olmamalıdır.</a:t>
            </a:r>
          </a:p>
          <a:p>
            <a:pPr marL="285750" indent="-285750">
              <a:buFont typeface="Arial" panose="020B0604020202020204" pitchFamily="34" charset="0"/>
              <a:buChar char="•"/>
            </a:pPr>
            <a:r>
              <a:rPr lang="tr-TR" dirty="0"/>
              <a:t>Rapor şablonunun kenar boşluklarına uyulmalıdır.</a:t>
            </a:r>
          </a:p>
          <a:p>
            <a:pPr marL="285750" indent="-285750">
              <a:buFont typeface="Arial" panose="020B0604020202020204" pitchFamily="34" charset="0"/>
              <a:buChar char="•"/>
            </a:pPr>
            <a:r>
              <a:rPr lang="en-US" b="1" dirty="0" err="1"/>
              <a:t>Raporda</a:t>
            </a:r>
            <a:r>
              <a:rPr lang="tr-TR" b="1" dirty="0"/>
              <a:t> isten</a:t>
            </a:r>
            <a:r>
              <a:rPr lang="en-US" b="1" dirty="0" err="1"/>
              <a:t>ilen</a:t>
            </a:r>
            <a:r>
              <a:rPr lang="en-US" b="1" dirty="0"/>
              <a:t> </a:t>
            </a:r>
            <a:r>
              <a:rPr lang="tr-TR" b="1" dirty="0"/>
              <a:t>bilgiler </a:t>
            </a:r>
            <a:r>
              <a:rPr lang="en-US" b="1" dirty="0" err="1"/>
              <a:t>ilgili</a:t>
            </a:r>
            <a:r>
              <a:rPr lang="tr-TR" b="1" dirty="0"/>
              <a:t> bölümde yer almıyorsa puanlanmayacaktır</a:t>
            </a:r>
            <a:r>
              <a:rPr lang="en-US" b="1" dirty="0"/>
              <a:t> (</a:t>
            </a:r>
            <a:r>
              <a:rPr lang="tr-TR" b="1" dirty="0"/>
              <a:t>Raporun başka bir kısmında belirtilmesi yeterli değildir</a:t>
            </a:r>
            <a:r>
              <a:rPr lang="en-US" b="1" dirty="0"/>
              <a:t>). </a:t>
            </a:r>
            <a:r>
              <a:rPr lang="en-US" b="1" dirty="0" err="1"/>
              <a:t>Diskalifiye</a:t>
            </a:r>
            <a:r>
              <a:rPr lang="en-US" b="1" dirty="0"/>
              <a:t> </a:t>
            </a:r>
            <a:r>
              <a:rPr lang="tr-TR" b="1" dirty="0"/>
              <a:t>kriterleri </a:t>
            </a:r>
            <a:r>
              <a:rPr lang="en-US" b="1" dirty="0" err="1"/>
              <a:t>gereğince</a:t>
            </a:r>
            <a:r>
              <a:rPr lang="en-US" b="1" dirty="0"/>
              <a:t> </a:t>
            </a:r>
            <a:r>
              <a:rPr lang="en-US" b="1" dirty="0" err="1"/>
              <a:t>istenen</a:t>
            </a:r>
            <a:r>
              <a:rPr lang="en-US" b="1" dirty="0"/>
              <a:t> </a:t>
            </a:r>
            <a:r>
              <a:rPr lang="en-US" b="1" dirty="0" err="1"/>
              <a:t>bilgiler</a:t>
            </a:r>
            <a:r>
              <a:rPr lang="en-US" b="1" dirty="0"/>
              <a:t> </a:t>
            </a:r>
            <a:r>
              <a:rPr lang="tr-TR" b="1" dirty="0"/>
              <a:t>doğru yansıda </a:t>
            </a:r>
            <a:r>
              <a:rPr lang="en-US" b="1" dirty="0" err="1"/>
              <a:t>yer</a:t>
            </a:r>
            <a:r>
              <a:rPr lang="en-US" b="1" dirty="0"/>
              <a:t> al</a:t>
            </a:r>
            <a:r>
              <a:rPr lang="tr-TR" b="1" dirty="0" err="1"/>
              <a:t>madığı</a:t>
            </a:r>
            <a:r>
              <a:rPr lang="tr-TR" b="1" dirty="0"/>
              <a:t> takdirde </a:t>
            </a:r>
            <a:r>
              <a:rPr lang="en-US" b="1" dirty="0" err="1"/>
              <a:t>ilgili</a:t>
            </a:r>
            <a:r>
              <a:rPr lang="en-US" b="1" dirty="0"/>
              <a:t> </a:t>
            </a:r>
            <a:r>
              <a:rPr lang="en-US" b="1" dirty="0" err="1"/>
              <a:t>takım</a:t>
            </a:r>
            <a:r>
              <a:rPr lang="en-US" b="1" dirty="0"/>
              <a:t> </a:t>
            </a:r>
            <a:r>
              <a:rPr lang="en-US" b="1" dirty="0" err="1"/>
              <a:t>diskalifiye</a:t>
            </a:r>
            <a:r>
              <a:rPr lang="en-US" b="1" dirty="0"/>
              <a:t> </a:t>
            </a:r>
            <a:r>
              <a:rPr lang="en-US" b="1" dirty="0" err="1"/>
              <a:t>edilecektir</a:t>
            </a:r>
            <a:r>
              <a:rPr lang="en-US" b="1" dirty="0"/>
              <a:t>.</a:t>
            </a:r>
          </a:p>
          <a:p>
            <a:pPr marL="285750" indent="-285750">
              <a:buFont typeface="Arial" panose="020B0604020202020204" pitchFamily="34" charset="0"/>
              <a:buChar char="•"/>
            </a:pPr>
            <a:r>
              <a:rPr lang="tr-TR" dirty="0"/>
              <a:t>Paylaşılan ölçüler teknik resim formatına uygun görsellerle </a:t>
            </a:r>
            <a:r>
              <a:rPr lang="en-US" dirty="0" err="1"/>
              <a:t>sunulmalı</a:t>
            </a:r>
            <a:r>
              <a:rPr lang="en-US" dirty="0"/>
              <a:t> </a:t>
            </a:r>
            <a:r>
              <a:rPr lang="tr-TR" dirty="0"/>
              <a:t>ve rapordaki tüm birimler SI birim sistemine </a:t>
            </a:r>
            <a:r>
              <a:rPr lang="tr-TR" i="1" dirty="0"/>
              <a:t>(International </a:t>
            </a:r>
            <a:r>
              <a:rPr lang="tr-TR" i="1" dirty="0" err="1"/>
              <a:t>System</a:t>
            </a:r>
            <a:r>
              <a:rPr lang="tr-TR" i="1" dirty="0"/>
              <a:t> of </a:t>
            </a:r>
            <a:r>
              <a:rPr lang="tr-TR" i="1" dirty="0" err="1"/>
              <a:t>Units</a:t>
            </a:r>
            <a:r>
              <a:rPr lang="tr-TR" i="1" dirty="0"/>
              <a:t>) </a:t>
            </a:r>
            <a:r>
              <a:rPr lang="tr-TR" dirty="0"/>
              <a:t>uygun </a:t>
            </a:r>
            <a:r>
              <a:rPr lang="en-US" dirty="0" err="1"/>
              <a:t>olarak</a:t>
            </a:r>
            <a:r>
              <a:rPr lang="en-US" dirty="0"/>
              <a:t> </a:t>
            </a:r>
            <a:r>
              <a:rPr lang="en-US" dirty="0" err="1"/>
              <a:t>belirtilmelidir</a:t>
            </a:r>
            <a:r>
              <a:rPr lang="tr-TR" dirty="0"/>
              <a:t>. Eksik ölçü</a:t>
            </a:r>
            <a:r>
              <a:rPr lang="en-US" dirty="0"/>
              <a:t> </a:t>
            </a:r>
            <a:r>
              <a:rPr lang="en-US" dirty="0" err="1"/>
              <a:t>birimi</a:t>
            </a:r>
            <a:r>
              <a:rPr lang="tr-TR" dirty="0"/>
              <a:t> olan </a:t>
            </a:r>
            <a:r>
              <a:rPr lang="tr-TR" dirty="0" err="1"/>
              <a:t>ölçümlendirmeler</a:t>
            </a:r>
            <a:r>
              <a:rPr lang="tr-TR" dirty="0"/>
              <a:t> </a:t>
            </a:r>
            <a:r>
              <a:rPr lang="en-US" dirty="0" err="1"/>
              <a:t>dikkate</a:t>
            </a:r>
            <a:r>
              <a:rPr lang="en-US" dirty="0"/>
              <a:t> </a:t>
            </a:r>
            <a:r>
              <a:rPr lang="en-US" dirty="0" err="1"/>
              <a:t>alınmayacaktır</a:t>
            </a:r>
            <a:r>
              <a:rPr lang="tr-TR" dirty="0"/>
              <a:t>. </a:t>
            </a:r>
          </a:p>
          <a:p>
            <a:pPr marL="285750" indent="-285750">
              <a:buFont typeface="Arial" panose="020B0604020202020204" pitchFamily="34" charset="0"/>
              <a:buChar char="•"/>
            </a:pPr>
            <a:r>
              <a:rPr lang="tr-TR" dirty="0"/>
              <a:t>Kullanılacak olan tablolar ilgili yansıdaki tablo formatından farklı olmamalıdır.</a:t>
            </a:r>
          </a:p>
          <a:p>
            <a:pPr marL="285750" indent="-285750">
              <a:buFont typeface="Arial" panose="020B0604020202020204" pitchFamily="34" charset="0"/>
              <a:buChar char="•"/>
            </a:pPr>
            <a:r>
              <a:rPr lang="tr-TR" dirty="0"/>
              <a:t>Grafik ve tablolar </a:t>
            </a:r>
            <a:r>
              <a:rPr lang="en-US" dirty="0" err="1"/>
              <a:t>için</a:t>
            </a:r>
            <a:r>
              <a:rPr lang="en-US" dirty="0"/>
              <a:t> </a:t>
            </a:r>
            <a:r>
              <a:rPr lang="tr-TR" dirty="0"/>
              <a:t>başlık</a:t>
            </a:r>
            <a:r>
              <a:rPr lang="en-US" dirty="0"/>
              <a:t> </a:t>
            </a:r>
            <a:r>
              <a:rPr lang="en-US" dirty="0" err="1"/>
              <a:t>bilgisi</a:t>
            </a:r>
            <a:r>
              <a:rPr lang="en-US" dirty="0"/>
              <a:t> </a:t>
            </a:r>
            <a:r>
              <a:rPr lang="en-US" dirty="0" err="1"/>
              <a:t>yer</a:t>
            </a:r>
            <a:r>
              <a:rPr lang="en-US" dirty="0"/>
              <a:t> </a:t>
            </a:r>
            <a:r>
              <a:rPr lang="en-US" dirty="0" err="1"/>
              <a:t>almalıdır</a:t>
            </a:r>
            <a:r>
              <a:rPr lang="tr-TR" dirty="0"/>
              <a:t>. Başlı</a:t>
            </a:r>
            <a:r>
              <a:rPr lang="en-US" dirty="0"/>
              <a:t>k </a:t>
            </a:r>
            <a:r>
              <a:rPr lang="en-US" dirty="0" err="1"/>
              <a:t>bilgisi</a:t>
            </a:r>
            <a:r>
              <a:rPr lang="tr-TR" dirty="0"/>
              <a:t> ol</a:t>
            </a:r>
            <a:r>
              <a:rPr lang="en-US" dirty="0"/>
              <a:t>maya</a:t>
            </a:r>
            <a:r>
              <a:rPr lang="tr-TR" dirty="0"/>
              <a:t>n</a:t>
            </a:r>
            <a:r>
              <a:rPr lang="en-US" dirty="0"/>
              <a:t> </a:t>
            </a:r>
            <a:r>
              <a:rPr lang="en-US" dirty="0" err="1"/>
              <a:t>grafik</a:t>
            </a:r>
            <a:r>
              <a:rPr lang="en-US" dirty="0"/>
              <a:t> </a:t>
            </a:r>
            <a:r>
              <a:rPr lang="en-US" dirty="0" err="1"/>
              <a:t>ve</a:t>
            </a:r>
            <a:r>
              <a:rPr lang="en-US" dirty="0"/>
              <a:t> </a:t>
            </a:r>
            <a:r>
              <a:rPr lang="en-US" dirty="0" err="1"/>
              <a:t>tablolar</a:t>
            </a:r>
            <a:r>
              <a:rPr lang="tr-TR" dirty="0"/>
              <a:t> değerlendir</a:t>
            </a:r>
            <a:r>
              <a:rPr lang="en-US" dirty="0" err="1"/>
              <a:t>meye</a:t>
            </a:r>
            <a:r>
              <a:rPr lang="en-US" dirty="0"/>
              <a:t> </a:t>
            </a:r>
            <a:r>
              <a:rPr lang="en-US" dirty="0" err="1"/>
              <a:t>alınmayacaktır</a:t>
            </a:r>
            <a:r>
              <a:rPr lang="tr-TR" dirty="0"/>
              <a:t>.</a:t>
            </a:r>
          </a:p>
          <a:p>
            <a:pPr marL="285750" indent="-285750">
              <a:buFont typeface="Arial" panose="020B0604020202020204" pitchFamily="34" charset="0"/>
              <a:buChar char="•"/>
            </a:pPr>
            <a:r>
              <a:rPr lang="tr-TR" dirty="0"/>
              <a:t>Grafik ve tablolar şablondaki boyutlara benzer olmalıdır.</a:t>
            </a:r>
          </a:p>
          <a:p>
            <a:pPr marL="285750" indent="-285750">
              <a:buFont typeface="Arial" panose="020B0604020202020204" pitchFamily="34" charset="0"/>
              <a:buChar char="•"/>
            </a:pPr>
            <a:r>
              <a:rPr lang="tr-TR" dirty="0"/>
              <a:t>Sistemler ile alakalı bilgiler kısa ve </a:t>
            </a:r>
            <a:r>
              <a:rPr lang="en-US" dirty="0" err="1"/>
              <a:t>rahat</a:t>
            </a:r>
            <a:r>
              <a:rPr lang="en-US" dirty="0"/>
              <a:t> </a:t>
            </a:r>
            <a:r>
              <a:rPr lang="en-US" dirty="0" err="1"/>
              <a:t>anlaşılabilir</a:t>
            </a:r>
            <a:r>
              <a:rPr lang="en-US" dirty="0"/>
              <a:t> (net)</a:t>
            </a:r>
            <a:r>
              <a:rPr lang="tr-TR" dirty="0"/>
              <a:t> </a:t>
            </a:r>
            <a:r>
              <a:rPr lang="en-US" dirty="0" err="1"/>
              <a:t>olmalıdır</a:t>
            </a:r>
            <a:r>
              <a:rPr lang="tr-TR" dirty="0"/>
              <a:t>. </a:t>
            </a:r>
            <a:r>
              <a:rPr lang="en-US" dirty="0"/>
              <a:t>T</a:t>
            </a:r>
            <a:r>
              <a:rPr lang="tr-TR" dirty="0" err="1"/>
              <a:t>ablo</a:t>
            </a:r>
            <a:r>
              <a:rPr lang="tr-TR" dirty="0"/>
              <a:t> ve görseller</a:t>
            </a:r>
            <a:r>
              <a:rPr lang="en-US" dirty="0"/>
              <a:t> </a:t>
            </a:r>
            <a:r>
              <a:rPr lang="tr-TR" dirty="0"/>
              <a:t>malzeme, boyutlandırma, karşılaştırma vb. </a:t>
            </a:r>
            <a:r>
              <a:rPr lang="en-US" dirty="0" err="1"/>
              <a:t>ihtiyaç</a:t>
            </a:r>
            <a:r>
              <a:rPr lang="en-US" dirty="0"/>
              <a:t> </a:t>
            </a:r>
            <a:r>
              <a:rPr lang="en-US" dirty="0" err="1"/>
              <a:t>duyulan</a:t>
            </a:r>
            <a:r>
              <a:rPr lang="en-US" dirty="0"/>
              <a:t> </a:t>
            </a:r>
            <a:r>
              <a:rPr lang="en-US" dirty="0" err="1"/>
              <a:t>yerlerde</a:t>
            </a:r>
            <a:r>
              <a:rPr lang="en-US" dirty="0"/>
              <a:t>  </a:t>
            </a:r>
            <a:r>
              <a:rPr lang="tr-TR" dirty="0"/>
              <a:t>kullanılmalıdır.</a:t>
            </a:r>
          </a:p>
          <a:p>
            <a:pPr marL="285750" indent="-285750">
              <a:buFont typeface="Arial" panose="020B0604020202020204" pitchFamily="34" charset="0"/>
              <a:buChar char="•"/>
            </a:pPr>
            <a:r>
              <a:rPr lang="tr-TR" dirty="0"/>
              <a:t>Karşılaştırmalarda seçilen unsurun yazı rengi </a:t>
            </a:r>
            <a:r>
              <a:rPr lang="tr-TR" b="1" dirty="0">
                <a:solidFill>
                  <a:schemeClr val="accent6">
                    <a:lumMod val="50000"/>
                  </a:schemeClr>
                </a:solidFill>
              </a:rPr>
              <a:t>yeşil</a:t>
            </a:r>
            <a:r>
              <a:rPr lang="tr-TR" dirty="0">
                <a:solidFill>
                  <a:schemeClr val="accent6">
                    <a:lumMod val="50000"/>
                  </a:schemeClr>
                </a:solidFill>
              </a:rPr>
              <a:t> </a:t>
            </a:r>
            <a:r>
              <a:rPr lang="en-US" dirty="0" err="1"/>
              <a:t>olmalıdır</a:t>
            </a:r>
            <a:r>
              <a:rPr lang="tr-TR" dirty="0"/>
              <a:t>.</a:t>
            </a: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4" name="Title 1">
            <a:extLst>
              <a:ext uri="{FF2B5EF4-FFF2-40B4-BE49-F238E27FC236}">
                <a16:creationId xmlns:a16="http://schemas.microsoft.com/office/drawing/2014/main" id="{9CBE1148-4EA2-4AB0-A9B6-024224A9976E}"/>
              </a:ext>
            </a:extLst>
          </p:cNvPr>
          <p:cNvSpPr>
            <a:spLocks noGrp="1"/>
          </p:cNvSpPr>
          <p:nvPr>
            <p:ph type="ctrTitle"/>
          </p:nvPr>
        </p:nvSpPr>
        <p:spPr>
          <a:xfrm>
            <a:off x="1524000" y="236691"/>
            <a:ext cx="9144000" cy="750956"/>
          </a:xfrm>
        </p:spPr>
        <p:txBody>
          <a:bodyPr>
            <a:noAutofit/>
          </a:bodyPr>
          <a:lstStyle/>
          <a:p>
            <a:r>
              <a:rPr lang="tr-TR" sz="4800" b="1">
                <a:solidFill>
                  <a:srgbClr val="FF0000"/>
                </a:solidFill>
                <a:latin typeface="Times New Roman" panose="02020603050405020304" pitchFamily="18" charset="0"/>
                <a:cs typeface="Times New Roman" panose="02020603050405020304" pitchFamily="18" charset="0"/>
              </a:rPr>
              <a:t>UYARI </a:t>
            </a:r>
            <a:r>
              <a:rPr lang="en-US" sz="4800" b="1">
                <a:solidFill>
                  <a:srgbClr val="FF0000"/>
                </a:solidFill>
                <a:latin typeface="Times New Roman" panose="02020603050405020304" pitchFamily="18" charset="0"/>
                <a:cs typeface="Times New Roman" panose="02020603050405020304" pitchFamily="18" charset="0"/>
              </a:rPr>
              <a:t> - 1</a:t>
            </a:r>
            <a:endParaRPr lang="tr-TR" sz="4800" b="1">
              <a:solidFill>
                <a:srgbClr val="FF0000"/>
              </a:solidFill>
              <a:latin typeface="Times New Roman" panose="02020603050405020304" pitchFamily="18" charset="0"/>
              <a:cs typeface="Times New Roman" panose="02020603050405020304" pitchFamily="18" charset="0"/>
            </a:endParaRPr>
          </a:p>
        </p:txBody>
      </p:sp>
      <p:sp>
        <p:nvSpPr>
          <p:cNvPr id="13" name="Footer Placeholder 8">
            <a:extLst>
              <a:ext uri="{FF2B5EF4-FFF2-40B4-BE49-F238E27FC236}">
                <a16:creationId xmlns:a16="http://schemas.microsoft.com/office/drawing/2014/main" id="{C623A707-1580-B057-62BC-406588A43C48}"/>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
        <p:nvSpPr>
          <p:cNvPr id="2" name="Rectangle 3">
            <a:extLst>
              <a:ext uri="{FF2B5EF4-FFF2-40B4-BE49-F238E27FC236}">
                <a16:creationId xmlns:a16="http://schemas.microsoft.com/office/drawing/2014/main" id="{BE5D3BD6-CEAB-CF59-8DEF-D07EDA147BD7}"/>
              </a:ext>
            </a:extLst>
          </p:cNvPr>
          <p:cNvSpPr/>
          <p:nvPr/>
        </p:nvSpPr>
        <p:spPr>
          <a:xfrm>
            <a:off x="3443703" y="5816050"/>
            <a:ext cx="5304594" cy="369332"/>
          </a:xfrm>
          <a:prstGeom prst="rect">
            <a:avLst/>
          </a:prstGeom>
        </p:spPr>
        <p:txBody>
          <a:bodyPr wrap="none">
            <a:spAutoFit/>
          </a:bodyPr>
          <a:lstStyle/>
          <a:p>
            <a:pPr algn="ctr"/>
            <a:r>
              <a:rPr lang="en-US">
                <a:solidFill>
                  <a:srgbClr val="FF0000"/>
                </a:solidFill>
              </a:rPr>
              <a:t>Bu </a:t>
            </a:r>
            <a:r>
              <a:rPr lang="en-US" err="1">
                <a:solidFill>
                  <a:srgbClr val="FF0000"/>
                </a:solidFill>
              </a:rPr>
              <a:t>sayfa</a:t>
            </a:r>
            <a:r>
              <a:rPr lang="en-US">
                <a:solidFill>
                  <a:srgbClr val="FF0000"/>
                </a:solidFill>
              </a:rPr>
              <a:t> </a:t>
            </a:r>
            <a:r>
              <a:rPr lang="en-US" err="1">
                <a:solidFill>
                  <a:srgbClr val="FF0000"/>
                </a:solidFill>
              </a:rPr>
              <a:t>bilgi</a:t>
            </a:r>
            <a:r>
              <a:rPr lang="en-US">
                <a:solidFill>
                  <a:srgbClr val="FF0000"/>
                </a:solidFill>
              </a:rPr>
              <a:t> </a:t>
            </a:r>
            <a:r>
              <a:rPr lang="en-US" err="1">
                <a:solidFill>
                  <a:srgbClr val="FF0000"/>
                </a:solidFill>
              </a:rPr>
              <a:t>amaçlıdır</a:t>
            </a:r>
            <a:r>
              <a:rPr lang="en-US">
                <a:solidFill>
                  <a:srgbClr val="FF0000"/>
                </a:solidFill>
              </a:rPr>
              <a:t>. </a:t>
            </a:r>
            <a:r>
              <a:rPr lang="en-US" err="1">
                <a:solidFill>
                  <a:srgbClr val="FF0000"/>
                </a:solidFill>
              </a:rPr>
              <a:t>Takımlar</a:t>
            </a:r>
            <a:r>
              <a:rPr lang="en-US">
                <a:solidFill>
                  <a:srgbClr val="FF0000"/>
                </a:solidFill>
              </a:rPr>
              <a:t> </a:t>
            </a:r>
            <a:r>
              <a:rPr lang="en-US" err="1">
                <a:solidFill>
                  <a:srgbClr val="FF0000"/>
                </a:solidFill>
              </a:rPr>
              <a:t>tarafından</a:t>
            </a:r>
            <a:r>
              <a:rPr lang="en-US">
                <a:solidFill>
                  <a:srgbClr val="FF0000"/>
                </a:solidFill>
              </a:rPr>
              <a:t> </a:t>
            </a:r>
            <a:r>
              <a:rPr lang="en-US" err="1">
                <a:solidFill>
                  <a:srgbClr val="FF0000"/>
                </a:solidFill>
              </a:rPr>
              <a:t>silinmelidir</a:t>
            </a:r>
            <a:r>
              <a:rPr lang="en-US">
                <a:solidFill>
                  <a:srgbClr val="FF0000"/>
                </a:solidFill>
              </a:rPr>
              <a:t>.</a:t>
            </a:r>
            <a:endParaRPr lang="tr-TR">
              <a:solidFill>
                <a:srgbClr val="FF0000"/>
              </a:solidFill>
            </a:endParaRPr>
          </a:p>
        </p:txBody>
      </p:sp>
    </p:spTree>
    <p:extLst>
      <p:ext uri="{BB962C8B-B14F-4D97-AF65-F5344CB8AC3E}">
        <p14:creationId xmlns:p14="http://schemas.microsoft.com/office/powerpoint/2010/main" val="4067584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6691"/>
            <a:ext cx="9144000" cy="750956"/>
          </a:xfrm>
        </p:spPr>
        <p:txBody>
          <a:bodyPr>
            <a:noAutofit/>
          </a:bodyPr>
          <a:lstStyle/>
          <a:p>
            <a:r>
              <a:rPr lang="tr-TR" sz="4800" b="1">
                <a:solidFill>
                  <a:srgbClr val="FF0000"/>
                </a:solidFill>
                <a:latin typeface="Times New Roman" panose="02020603050405020304" pitchFamily="18" charset="0"/>
                <a:cs typeface="Times New Roman" panose="02020603050405020304" pitchFamily="18" charset="0"/>
              </a:rPr>
              <a:t>UYARI </a:t>
            </a:r>
            <a:r>
              <a:rPr lang="en-US" sz="4800" b="1">
                <a:solidFill>
                  <a:srgbClr val="FF0000"/>
                </a:solidFill>
                <a:latin typeface="Times New Roman" panose="02020603050405020304" pitchFamily="18" charset="0"/>
                <a:cs typeface="Times New Roman" panose="02020603050405020304" pitchFamily="18" charset="0"/>
              </a:rPr>
              <a:t>- 2</a:t>
            </a:r>
            <a:endParaRPr lang="tr-TR" sz="4800" b="1">
              <a:solidFill>
                <a:srgbClr val="FF000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2</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0" y="1227317"/>
            <a:ext cx="11959772" cy="4801314"/>
          </a:xfrm>
          <a:prstGeom prst="rect">
            <a:avLst/>
          </a:prstGeom>
          <a:noFill/>
        </p:spPr>
        <p:txBody>
          <a:bodyPr wrap="square" rtlCol="0">
            <a:spAutoFit/>
          </a:bodyPr>
          <a:lstStyle/>
          <a:p>
            <a:pPr marL="285750" indent="-285750">
              <a:buFont typeface="Arial" panose="020B0604020202020204" pitchFamily="34" charset="0"/>
              <a:buChar char="•"/>
            </a:pPr>
            <a:r>
              <a:rPr lang="tr-TR" dirty="0"/>
              <a:t>Rapor boyunca birden fazla defa istenen bilgiler, her istendiği yansıda birbirinden bağımsız olarak tekrar açıklanmalıdır. İlgili yerde bulunamayan bilgiler daha önce açıklanmış olsa dahi puan</a:t>
            </a:r>
            <a:r>
              <a:rPr lang="en-US" dirty="0" err="1"/>
              <a:t>lamaya</a:t>
            </a:r>
            <a:r>
              <a:rPr lang="en-US" dirty="0"/>
              <a:t> tabi </a:t>
            </a:r>
            <a:r>
              <a:rPr lang="en-US" dirty="0" err="1"/>
              <a:t>tutulmayacak</a:t>
            </a:r>
            <a:r>
              <a:rPr lang="tr-TR" dirty="0"/>
              <a:t> veya </a:t>
            </a:r>
            <a:r>
              <a:rPr lang="en-US" dirty="0"/>
              <a:t> </a:t>
            </a:r>
            <a:r>
              <a:rPr lang="en-US" dirty="0" err="1"/>
              <a:t>gerektiğinde</a:t>
            </a:r>
            <a:r>
              <a:rPr lang="en-US" dirty="0"/>
              <a:t> </a:t>
            </a:r>
            <a:r>
              <a:rPr lang="en-US" dirty="0" err="1"/>
              <a:t>takım</a:t>
            </a:r>
            <a:r>
              <a:rPr lang="en-US" dirty="0"/>
              <a:t> </a:t>
            </a:r>
            <a:r>
              <a:rPr lang="tr-TR" dirty="0"/>
              <a:t>diskalifiye edile</a:t>
            </a:r>
            <a:r>
              <a:rPr lang="en-US" dirty="0" err="1"/>
              <a:t>cektir</a:t>
            </a:r>
            <a:r>
              <a:rPr lang="tr-TR" dirty="0"/>
              <a:t>.</a:t>
            </a:r>
          </a:p>
          <a:p>
            <a:pPr marL="285750" indent="-285750">
              <a:buFont typeface="Arial" panose="020B0604020202020204" pitchFamily="34" charset="0"/>
              <a:buChar char="•"/>
            </a:pPr>
            <a:r>
              <a:rPr lang="tr-TR" dirty="0"/>
              <a:t>Ek</a:t>
            </a:r>
            <a:r>
              <a:rPr lang="en-US" dirty="0"/>
              <a:t>’</a:t>
            </a:r>
            <a:r>
              <a:rPr lang="tr-TR" dirty="0"/>
              <a:t>te </a:t>
            </a:r>
            <a:r>
              <a:rPr lang="en-US" dirty="0" err="1"/>
              <a:t>istenen</a:t>
            </a:r>
            <a:r>
              <a:rPr lang="en-US" dirty="0"/>
              <a:t> </a:t>
            </a:r>
            <a:r>
              <a:rPr lang="en-US" dirty="0" err="1"/>
              <a:t>veya</a:t>
            </a:r>
            <a:r>
              <a:rPr lang="en-US" dirty="0"/>
              <a:t> </a:t>
            </a:r>
            <a:r>
              <a:rPr lang="tr-TR" dirty="0"/>
              <a:t>verilmesine izin verilen dokümanlar</a:t>
            </a:r>
            <a:r>
              <a:rPr lang="en-US" dirty="0" err="1"/>
              <a:t>ın</a:t>
            </a:r>
            <a:r>
              <a:rPr lang="en-US" dirty="0"/>
              <a:t> (</a:t>
            </a:r>
            <a:r>
              <a:rPr lang="en-US" dirty="0" err="1"/>
              <a:t>tablolar</a:t>
            </a:r>
            <a:r>
              <a:rPr lang="en-US" dirty="0"/>
              <a:t> </a:t>
            </a:r>
            <a:r>
              <a:rPr lang="en-US" dirty="0" err="1"/>
              <a:t>dahil</a:t>
            </a:r>
            <a:r>
              <a:rPr lang="en-US" dirty="0"/>
              <a:t>) </a:t>
            </a:r>
            <a:r>
              <a:rPr lang="en-US" dirty="0" err="1"/>
              <a:t>ismi</a:t>
            </a:r>
            <a:r>
              <a:rPr lang="tr-TR" dirty="0"/>
              <a:t> ilgili yansıda</a:t>
            </a:r>
            <a:r>
              <a:rPr lang="en-US" dirty="0"/>
              <a:t> </a:t>
            </a:r>
            <a:r>
              <a:rPr lang="en-US" dirty="0" err="1"/>
              <a:t>yer</a:t>
            </a:r>
            <a:r>
              <a:rPr lang="en-US" dirty="0"/>
              <a:t> </a:t>
            </a:r>
            <a:r>
              <a:rPr lang="en-US" dirty="0" err="1"/>
              <a:t>almalı</a:t>
            </a:r>
            <a:r>
              <a:rPr lang="en-US" dirty="0"/>
              <a:t> ve </a:t>
            </a:r>
            <a:r>
              <a:rPr lang="en-US" dirty="0" err="1"/>
              <a:t>dokümanlar</a:t>
            </a:r>
            <a:r>
              <a:rPr lang="en-US" dirty="0"/>
              <a:t> </a:t>
            </a:r>
            <a:r>
              <a:rPr lang="tr-TR" dirty="0"/>
              <a:t>AHR</a:t>
            </a:r>
            <a:r>
              <a:rPr lang="en-US" dirty="0"/>
              <a:t> </a:t>
            </a:r>
            <a:r>
              <a:rPr lang="en-US" dirty="0" err="1"/>
              <a:t>ile</a:t>
            </a:r>
            <a:r>
              <a:rPr lang="en-US" dirty="0"/>
              <a:t> </a:t>
            </a:r>
            <a:r>
              <a:rPr lang="en-US" dirty="0" err="1"/>
              <a:t>birlikte</a:t>
            </a:r>
            <a:r>
              <a:rPr lang="en-US" dirty="0"/>
              <a:t> </a:t>
            </a:r>
            <a:r>
              <a:rPr lang="en-US" dirty="0" err="1"/>
              <a:t>eksiksiz</a:t>
            </a:r>
            <a:r>
              <a:rPr lang="en-US" dirty="0"/>
              <a:t> </a:t>
            </a:r>
            <a:r>
              <a:rPr lang="en-US" dirty="0" err="1"/>
              <a:t>olarak</a:t>
            </a:r>
            <a:r>
              <a:rPr lang="en-US" dirty="0"/>
              <a:t> </a:t>
            </a:r>
            <a:r>
              <a:rPr lang="en-US" dirty="0" err="1"/>
              <a:t>sunulmalıdır</a:t>
            </a:r>
            <a:r>
              <a:rPr lang="en-US" dirty="0"/>
              <a:t>.</a:t>
            </a:r>
            <a:endParaRPr lang="tr-TR" dirty="0"/>
          </a:p>
          <a:p>
            <a:pPr marL="285750" indent="-285750">
              <a:buFont typeface="Arial" panose="020B0604020202020204" pitchFamily="34" charset="0"/>
              <a:buChar char="•"/>
            </a:pPr>
            <a:r>
              <a:rPr lang="tr-TR" dirty="0"/>
              <a:t>AHR</a:t>
            </a:r>
            <a:r>
              <a:rPr lang="en-US" dirty="0"/>
              <a:t> </a:t>
            </a:r>
            <a:r>
              <a:rPr lang="en-US" dirty="0" err="1"/>
              <a:t>içerisinde</a:t>
            </a:r>
            <a:r>
              <a:rPr lang="en-US" dirty="0"/>
              <a:t> </a:t>
            </a:r>
            <a:r>
              <a:rPr lang="en-US" dirty="0" err="1"/>
              <a:t>veya</a:t>
            </a:r>
            <a:r>
              <a:rPr lang="en-US" dirty="0"/>
              <a:t> </a:t>
            </a:r>
            <a:r>
              <a:rPr lang="en-US" dirty="0" err="1"/>
              <a:t>EK’inde</a:t>
            </a:r>
            <a:r>
              <a:rPr lang="en-US" dirty="0"/>
              <a:t> </a:t>
            </a:r>
            <a:r>
              <a:rPr lang="en-US" dirty="0" err="1"/>
              <a:t>sunulacak</a:t>
            </a:r>
            <a:r>
              <a:rPr lang="en-US" dirty="0"/>
              <a:t> t</a:t>
            </a:r>
            <a:r>
              <a:rPr lang="tr-TR" dirty="0" err="1"/>
              <a:t>ablolar</a:t>
            </a:r>
            <a:r>
              <a:rPr lang="en-US" dirty="0"/>
              <a:t> </a:t>
            </a:r>
            <a:r>
              <a:rPr lang="en-US" dirty="0" err="1"/>
              <a:t>sunulurken</a:t>
            </a:r>
            <a:r>
              <a:rPr lang="tr-TR" dirty="0"/>
              <a:t> </a:t>
            </a:r>
            <a:r>
              <a:rPr lang="en-US" dirty="0" err="1"/>
              <a:t>tabloların</a:t>
            </a:r>
            <a:r>
              <a:rPr lang="en-US" dirty="0"/>
              <a:t> </a:t>
            </a:r>
            <a:r>
              <a:rPr lang="tr-TR" dirty="0"/>
              <a:t>ekran görüntüleri </a:t>
            </a:r>
            <a:r>
              <a:rPr lang="en-US" dirty="0" err="1"/>
              <a:t>paylaşılmamalıdır</a:t>
            </a:r>
            <a:r>
              <a:rPr lang="tr-TR" dirty="0"/>
              <a:t>.</a:t>
            </a:r>
          </a:p>
          <a:p>
            <a:pPr marL="285750" indent="-285750">
              <a:buFont typeface="Arial" panose="020B0604020202020204" pitchFamily="34" charset="0"/>
              <a:buChar char="•"/>
            </a:pPr>
            <a:r>
              <a:rPr lang="tr-TR" dirty="0"/>
              <a:t>AHR</a:t>
            </a:r>
            <a:r>
              <a:rPr lang="en-US" dirty="0"/>
              <a:t> </a:t>
            </a:r>
            <a:r>
              <a:rPr lang="en-US" dirty="0" err="1"/>
              <a:t>içerisinde</a:t>
            </a:r>
            <a:r>
              <a:rPr lang="en-US" dirty="0"/>
              <a:t> </a:t>
            </a:r>
            <a:r>
              <a:rPr lang="en-US" dirty="0" err="1"/>
              <a:t>veya</a:t>
            </a:r>
            <a:r>
              <a:rPr lang="en-US" dirty="0"/>
              <a:t> </a:t>
            </a:r>
            <a:r>
              <a:rPr lang="en-US" dirty="0" err="1"/>
              <a:t>EK’inde</a:t>
            </a:r>
            <a:r>
              <a:rPr lang="en-US" dirty="0"/>
              <a:t> </a:t>
            </a:r>
            <a:r>
              <a:rPr lang="en-US" dirty="0" err="1"/>
              <a:t>sunulacak</a:t>
            </a:r>
            <a:r>
              <a:rPr lang="en-US" dirty="0"/>
              <a:t> </a:t>
            </a:r>
            <a:r>
              <a:rPr lang="en-US" dirty="0" err="1"/>
              <a:t>metinler</a:t>
            </a:r>
            <a:r>
              <a:rPr lang="en-US" dirty="0"/>
              <a:t>, </a:t>
            </a:r>
            <a:r>
              <a:rPr lang="en-US" dirty="0" err="1"/>
              <a:t>formül</a:t>
            </a:r>
            <a:r>
              <a:rPr lang="en-US" dirty="0"/>
              <a:t>, </a:t>
            </a:r>
            <a:r>
              <a:rPr lang="en-US" dirty="0" err="1"/>
              <a:t>denklem</a:t>
            </a:r>
            <a:r>
              <a:rPr lang="en-US" dirty="0"/>
              <a:t> (</a:t>
            </a:r>
            <a:r>
              <a:rPr lang="tr-TR" dirty="0"/>
              <a:t>Powerpoint’in formül ve denklem ekleyicisi kullanılmalıdır</a:t>
            </a:r>
            <a:r>
              <a:rPr lang="en-US" dirty="0"/>
              <a:t>), </a:t>
            </a:r>
            <a:r>
              <a:rPr lang="en-US" dirty="0" err="1"/>
              <a:t>bağıntı</a:t>
            </a:r>
            <a:r>
              <a:rPr lang="en-US" dirty="0"/>
              <a:t> vb. </a:t>
            </a:r>
            <a:r>
              <a:rPr lang="tr-TR" dirty="0"/>
              <a:t>ekran görüntü</a:t>
            </a:r>
            <a:r>
              <a:rPr lang="en-US" dirty="0" err="1"/>
              <a:t>sü</a:t>
            </a:r>
            <a:r>
              <a:rPr lang="tr-TR" dirty="0"/>
              <a:t> </a:t>
            </a:r>
            <a:r>
              <a:rPr lang="en-US" dirty="0" err="1"/>
              <a:t>şeklinde</a:t>
            </a:r>
            <a:r>
              <a:rPr lang="en-US" dirty="0"/>
              <a:t> </a:t>
            </a:r>
            <a:r>
              <a:rPr lang="en-US" dirty="0" err="1"/>
              <a:t>sunulmamalıdır</a:t>
            </a:r>
            <a:r>
              <a:rPr lang="tr-TR" dirty="0"/>
              <a:t>. </a:t>
            </a:r>
          </a:p>
          <a:p>
            <a:pPr marL="285750" indent="-285750">
              <a:buFont typeface="Arial" panose="020B0604020202020204" pitchFamily="34" charset="0"/>
              <a:buChar char="•"/>
            </a:pPr>
            <a:r>
              <a:rPr lang="en-US" dirty="0" err="1"/>
              <a:t>Raporun</a:t>
            </a:r>
            <a:r>
              <a:rPr lang="en-US" dirty="0"/>
              <a:t> h</a:t>
            </a:r>
            <a:r>
              <a:rPr lang="tr-TR" dirty="0"/>
              <a:t>er sayfa</a:t>
            </a:r>
            <a:r>
              <a:rPr lang="en-US" dirty="0" err="1"/>
              <a:t>sın</a:t>
            </a:r>
            <a:r>
              <a:rPr lang="tr-TR" dirty="0"/>
              <a:t>da logo bulunmalı ve başlıklar kesinlikle değiştirilmemelidir. </a:t>
            </a:r>
            <a:r>
              <a:rPr lang="en-US" dirty="0" err="1"/>
              <a:t>Yarışma</a:t>
            </a:r>
            <a:r>
              <a:rPr lang="en-US" dirty="0"/>
              <a:t> </a:t>
            </a:r>
            <a:r>
              <a:rPr lang="en-US" dirty="0" err="1"/>
              <a:t>Komitesi</a:t>
            </a:r>
            <a:r>
              <a:rPr lang="en-US" dirty="0"/>
              <a:t> </a:t>
            </a:r>
            <a:r>
              <a:rPr lang="en-US" dirty="0" err="1"/>
              <a:t>tarafından</a:t>
            </a:r>
            <a:r>
              <a:rPr lang="en-US" dirty="0"/>
              <a:t> </a:t>
            </a:r>
            <a:r>
              <a:rPr lang="en-US" dirty="0" err="1"/>
              <a:t>paylaşılan</a:t>
            </a:r>
            <a:r>
              <a:rPr lang="en-US" dirty="0"/>
              <a:t> ş</a:t>
            </a:r>
            <a:r>
              <a:rPr lang="tr-TR" dirty="0" err="1"/>
              <a:t>ablonda</a:t>
            </a:r>
            <a:r>
              <a:rPr lang="en-US" dirty="0"/>
              <a:t>ki </a:t>
            </a:r>
            <a:r>
              <a:rPr lang="en-US" dirty="0" err="1"/>
              <a:t>yansılara</a:t>
            </a:r>
            <a:r>
              <a:rPr lang="en-US" dirty="0"/>
              <a:t> </a:t>
            </a:r>
            <a:r>
              <a:rPr lang="tr-TR" dirty="0"/>
              <a:t>yeni </a:t>
            </a:r>
            <a:r>
              <a:rPr lang="en-US" dirty="0"/>
              <a:t>ve/</a:t>
            </a:r>
            <a:r>
              <a:rPr lang="en-US" dirty="0" err="1"/>
              <a:t>veya</a:t>
            </a:r>
            <a:r>
              <a:rPr lang="en-US" dirty="0"/>
              <a:t> </a:t>
            </a:r>
            <a:r>
              <a:rPr lang="en-US" dirty="0" err="1"/>
              <a:t>farklı</a:t>
            </a:r>
            <a:r>
              <a:rPr lang="en-US" dirty="0"/>
              <a:t> </a:t>
            </a:r>
            <a:r>
              <a:rPr lang="en-US" dirty="0" err="1"/>
              <a:t>bir</a:t>
            </a:r>
            <a:r>
              <a:rPr lang="en-US" dirty="0"/>
              <a:t> </a:t>
            </a:r>
            <a:r>
              <a:rPr lang="tr-TR" dirty="0"/>
              <a:t>yansı eklenmemelidir.</a:t>
            </a:r>
          </a:p>
          <a:p>
            <a:pPr marL="285750" indent="-285750">
              <a:buFont typeface="Arial" panose="020B0604020202020204" pitchFamily="34" charset="0"/>
              <a:buChar char="•"/>
            </a:pPr>
            <a:r>
              <a:rPr lang="tr-TR" dirty="0"/>
              <a:t>Rapor «PDF» formatında yüklenmelidir. PDF</a:t>
            </a:r>
            <a:r>
              <a:rPr lang="en-US" dirty="0"/>
              <a:t>’den </a:t>
            </a:r>
            <a:r>
              <a:rPr lang="en-US" dirty="0" err="1"/>
              <a:t>farklı</a:t>
            </a:r>
            <a:r>
              <a:rPr lang="tr-TR" dirty="0"/>
              <a:t> bir format</a:t>
            </a:r>
            <a:r>
              <a:rPr lang="en-US" dirty="0"/>
              <a:t>ta </a:t>
            </a:r>
            <a:r>
              <a:rPr lang="en-US" dirty="0" err="1"/>
              <a:t>sunulan</a:t>
            </a:r>
            <a:r>
              <a:rPr lang="en-US" dirty="0"/>
              <a:t> </a:t>
            </a:r>
            <a:r>
              <a:rPr lang="en-US" dirty="0" err="1"/>
              <a:t>rapor</a:t>
            </a:r>
            <a:r>
              <a:rPr lang="tr-TR" dirty="0"/>
              <a:t> kesinlikle değerlendirilmeye</a:t>
            </a:r>
            <a:r>
              <a:rPr lang="en-US" dirty="0"/>
              <a:t> </a:t>
            </a:r>
            <a:r>
              <a:rPr lang="en-US" dirty="0" err="1"/>
              <a:t>alınmayacaktır</a:t>
            </a:r>
            <a:r>
              <a:rPr lang="tr-TR" dirty="0"/>
              <a:t>.</a:t>
            </a:r>
          </a:p>
          <a:p>
            <a:pPr marL="285750" indent="-285750">
              <a:buFont typeface="Arial" panose="020B0604020202020204" pitchFamily="34" charset="0"/>
              <a:buChar char="•"/>
            </a:pPr>
            <a:r>
              <a:rPr lang="tr-TR" dirty="0"/>
              <a:t>Yukarıdaki maddelerde özel olarak belirtilmemiş olsa dahi </a:t>
            </a:r>
            <a:r>
              <a:rPr lang="en-US" dirty="0"/>
              <a:t>AHR </a:t>
            </a:r>
            <a:r>
              <a:rPr lang="en-US" dirty="0" err="1"/>
              <a:t>formatına</a:t>
            </a:r>
            <a:r>
              <a:rPr lang="tr-TR" dirty="0"/>
              <a:t> uygun olarak verilmeyen bilgiler</a:t>
            </a:r>
            <a:r>
              <a:rPr lang="en-US" dirty="0"/>
              <a:t> </a:t>
            </a:r>
            <a:r>
              <a:rPr lang="tr-TR" dirty="0"/>
              <a:t>değerlendirme</a:t>
            </a:r>
            <a:r>
              <a:rPr lang="en-US" dirty="0"/>
              <a:t>ye </a:t>
            </a:r>
            <a:r>
              <a:rPr lang="en-US" dirty="0" err="1"/>
              <a:t>alınmayacaktır</a:t>
            </a:r>
            <a:r>
              <a:rPr lang="tr-TR" dirty="0"/>
              <a:t>. </a:t>
            </a:r>
          </a:p>
          <a:p>
            <a:pPr marL="285750" indent="-285750">
              <a:buFont typeface="Arial" panose="020B0604020202020204" pitchFamily="34" charset="0"/>
              <a:buChar char="•"/>
            </a:pPr>
            <a:r>
              <a:rPr lang="tr-TR" dirty="0"/>
              <a:t>Yansılarda yarışmacılara rehber olan yazı (şartname maddeleri dahil), örnek görsel ve kutucukların tamamı silinmelidir.</a:t>
            </a:r>
          </a:p>
          <a:p>
            <a:endParaRPr lang="tr-TR" i="1" dirty="0"/>
          </a:p>
          <a:p>
            <a:pPr marL="285750" indent="-285750">
              <a:buFont typeface="Arial" panose="020B0604020202020204" pitchFamily="34" charset="0"/>
              <a:buChar char="•"/>
            </a:pPr>
            <a:endParaRPr lang="tr-TR" i="1" dirty="0"/>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7" name="Rectangle 3">
            <a:extLst>
              <a:ext uri="{FF2B5EF4-FFF2-40B4-BE49-F238E27FC236}">
                <a16:creationId xmlns:a16="http://schemas.microsoft.com/office/drawing/2014/main" id="{5B846386-1100-C25E-45A0-1FD6B0D2BCAC}"/>
              </a:ext>
            </a:extLst>
          </p:cNvPr>
          <p:cNvSpPr/>
          <p:nvPr/>
        </p:nvSpPr>
        <p:spPr>
          <a:xfrm>
            <a:off x="3443703" y="5816050"/>
            <a:ext cx="5304594" cy="369332"/>
          </a:xfrm>
          <a:prstGeom prst="rect">
            <a:avLst/>
          </a:prstGeom>
        </p:spPr>
        <p:txBody>
          <a:bodyPr wrap="none">
            <a:spAutoFit/>
          </a:bodyPr>
          <a:lstStyle/>
          <a:p>
            <a:pPr algn="ctr"/>
            <a:r>
              <a:rPr lang="en-US">
                <a:solidFill>
                  <a:srgbClr val="FF0000"/>
                </a:solidFill>
              </a:rPr>
              <a:t>Bu </a:t>
            </a:r>
            <a:r>
              <a:rPr lang="en-US" err="1">
                <a:solidFill>
                  <a:srgbClr val="FF0000"/>
                </a:solidFill>
              </a:rPr>
              <a:t>sayfa</a:t>
            </a:r>
            <a:r>
              <a:rPr lang="en-US">
                <a:solidFill>
                  <a:srgbClr val="FF0000"/>
                </a:solidFill>
              </a:rPr>
              <a:t> </a:t>
            </a:r>
            <a:r>
              <a:rPr lang="en-US" err="1">
                <a:solidFill>
                  <a:srgbClr val="FF0000"/>
                </a:solidFill>
              </a:rPr>
              <a:t>bilgi</a:t>
            </a:r>
            <a:r>
              <a:rPr lang="en-US">
                <a:solidFill>
                  <a:srgbClr val="FF0000"/>
                </a:solidFill>
              </a:rPr>
              <a:t> </a:t>
            </a:r>
            <a:r>
              <a:rPr lang="en-US" err="1">
                <a:solidFill>
                  <a:srgbClr val="FF0000"/>
                </a:solidFill>
              </a:rPr>
              <a:t>amaçlıdır</a:t>
            </a:r>
            <a:r>
              <a:rPr lang="en-US">
                <a:solidFill>
                  <a:srgbClr val="FF0000"/>
                </a:solidFill>
              </a:rPr>
              <a:t>. </a:t>
            </a:r>
            <a:r>
              <a:rPr lang="en-US" err="1">
                <a:solidFill>
                  <a:srgbClr val="FF0000"/>
                </a:solidFill>
              </a:rPr>
              <a:t>Takımlar</a:t>
            </a:r>
            <a:r>
              <a:rPr lang="en-US">
                <a:solidFill>
                  <a:srgbClr val="FF0000"/>
                </a:solidFill>
              </a:rPr>
              <a:t> </a:t>
            </a:r>
            <a:r>
              <a:rPr lang="en-US" err="1">
                <a:solidFill>
                  <a:srgbClr val="FF0000"/>
                </a:solidFill>
              </a:rPr>
              <a:t>tarafından</a:t>
            </a:r>
            <a:r>
              <a:rPr lang="en-US">
                <a:solidFill>
                  <a:srgbClr val="FF0000"/>
                </a:solidFill>
              </a:rPr>
              <a:t> </a:t>
            </a:r>
            <a:r>
              <a:rPr lang="en-US" err="1">
                <a:solidFill>
                  <a:srgbClr val="FF0000"/>
                </a:solidFill>
              </a:rPr>
              <a:t>silinmelidir</a:t>
            </a:r>
            <a:r>
              <a:rPr lang="en-US">
                <a:solidFill>
                  <a:srgbClr val="FF0000"/>
                </a:solidFill>
              </a:rPr>
              <a:t>.</a:t>
            </a:r>
            <a:endParaRPr lang="tr-TR">
              <a:solidFill>
                <a:srgbClr val="FF0000"/>
              </a:solidFill>
            </a:endParaRPr>
          </a:p>
        </p:txBody>
      </p:sp>
      <p:sp>
        <p:nvSpPr>
          <p:cNvPr id="8" name="Footer Placeholder 8">
            <a:extLst>
              <a:ext uri="{FF2B5EF4-FFF2-40B4-BE49-F238E27FC236}">
                <a16:creationId xmlns:a16="http://schemas.microsoft.com/office/drawing/2014/main" id="{C004628C-1730-E6F8-AB11-59AC8C3FA90C}"/>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498672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rotWithShape="1">
          <a:blip r:embed="rId3"/>
          <a:srcRect l="15894"/>
          <a:stretch/>
        </p:blipFill>
        <p:spPr>
          <a:xfrm>
            <a:off x="10753658" y="57790"/>
            <a:ext cx="1377714" cy="1116000"/>
          </a:xfrm>
          <a:prstGeom prst="rect">
            <a:avLst/>
          </a:prstGeom>
        </p:spPr>
      </p:pic>
      <p:sp>
        <p:nvSpPr>
          <p:cNvPr id="8" name="TextBox 7"/>
          <p:cNvSpPr txBox="1"/>
          <p:nvPr/>
        </p:nvSpPr>
        <p:spPr>
          <a:xfrm>
            <a:off x="54592" y="57258"/>
            <a:ext cx="1171978" cy="1116000"/>
          </a:xfrm>
          <a:prstGeom prst="rect">
            <a:avLst/>
          </a:prstGeom>
          <a:noFill/>
          <a:ln>
            <a:solidFill>
              <a:schemeClr val="tx1"/>
            </a:solidFill>
          </a:ln>
        </p:spPr>
        <p:txBody>
          <a:bodyPr wrap="square" rtlCol="0" anchor="ctr">
            <a:spAutoFit/>
          </a:bodyPr>
          <a:lstStyle/>
          <a:p>
            <a:pPr algn="ctr"/>
            <a:r>
              <a:rPr lang="tr-TR">
                <a:latin typeface="+mj-lt"/>
                <a:cs typeface="Times New Roman" panose="02020603050405020304" pitchFamily="18" charset="0"/>
              </a:rP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3</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2" name="Title 1">
            <a:extLst>
              <a:ext uri="{FF2B5EF4-FFF2-40B4-BE49-F238E27FC236}">
                <a16:creationId xmlns:a16="http://schemas.microsoft.com/office/drawing/2014/main" id="{1F8BD050-6C93-CAF0-20F7-CB96951E0CD1}"/>
              </a:ext>
            </a:extLst>
          </p:cNvPr>
          <p:cNvSpPr>
            <a:spLocks noGrp="1"/>
          </p:cNvSpPr>
          <p:nvPr>
            <p:ph type="ctrTitle"/>
          </p:nvPr>
        </p:nvSpPr>
        <p:spPr>
          <a:xfrm>
            <a:off x="1226570" y="1625056"/>
            <a:ext cx="9829800" cy="3607888"/>
          </a:xfrm>
        </p:spPr>
        <p:txBody>
          <a:bodyPr>
            <a:normAutofit fontScale="90000"/>
          </a:bodyPr>
          <a:lstStyle/>
          <a:p>
            <a:r>
              <a:rPr lang="tr-TR" sz="4800" b="1" dirty="0">
                <a:solidFill>
                  <a:srgbClr val="0070C0"/>
                </a:solidFill>
                <a:latin typeface="Times New Roman" panose="02020603050405020304" pitchFamily="18" charset="0"/>
                <a:cs typeface="Times New Roman" panose="02020603050405020304" pitchFamily="18" charset="0"/>
              </a:rPr>
              <a:t>TEKNOFEST 202</a:t>
            </a:r>
            <a:r>
              <a:rPr lang="en-US" sz="4800" b="1" dirty="0">
                <a:solidFill>
                  <a:srgbClr val="0070C0"/>
                </a:solidFill>
                <a:latin typeface="Times New Roman" panose="02020603050405020304" pitchFamily="18" charset="0"/>
                <a:cs typeface="Times New Roman" panose="02020603050405020304" pitchFamily="18" charset="0"/>
              </a:rPr>
              <a:t>5</a:t>
            </a:r>
            <a:br>
              <a:rPr lang="tr-TR" sz="4800" b="1" dirty="0">
                <a:solidFill>
                  <a:srgbClr val="0070C0"/>
                </a:solidFill>
                <a:latin typeface="Times New Roman" panose="02020603050405020304" pitchFamily="18" charset="0"/>
                <a:cs typeface="Times New Roman" panose="02020603050405020304" pitchFamily="18" charset="0"/>
              </a:rPr>
            </a:br>
            <a:r>
              <a:rPr lang="tr-TR" sz="4800" b="1" dirty="0">
                <a:solidFill>
                  <a:srgbClr val="0070C0"/>
                </a:solidFill>
                <a:latin typeface="Times New Roman" panose="02020603050405020304" pitchFamily="18" charset="0"/>
                <a:cs typeface="Times New Roman" panose="02020603050405020304" pitchFamily="18" charset="0"/>
              </a:rPr>
              <a:t>ROKET YARIŞMASI</a:t>
            </a:r>
            <a:br>
              <a:rPr lang="tr-TR" sz="4800" b="1" dirty="0">
                <a:solidFill>
                  <a:srgbClr val="0070C0"/>
                </a:solidFill>
                <a:latin typeface="Times New Roman" panose="02020603050405020304" pitchFamily="18" charset="0"/>
                <a:cs typeface="Times New Roman" panose="02020603050405020304" pitchFamily="18" charset="0"/>
              </a:rPr>
            </a:br>
            <a:r>
              <a:rPr lang="en-US" sz="4800" b="1" dirty="0">
                <a:solidFill>
                  <a:srgbClr val="0070C0"/>
                </a:solidFill>
                <a:latin typeface="Times New Roman" panose="02020603050405020304" pitchFamily="18" charset="0"/>
                <a:cs typeface="Times New Roman" panose="02020603050405020304" pitchFamily="18" charset="0"/>
              </a:rPr>
              <a:t>(YARIŞMA KATEGORİSİ)</a:t>
            </a:r>
            <a:br>
              <a:rPr lang="tr-TR" sz="4800" b="1" dirty="0">
                <a:solidFill>
                  <a:srgbClr val="0070C0"/>
                </a:solidFill>
                <a:latin typeface="Times New Roman" panose="02020603050405020304" pitchFamily="18" charset="0"/>
                <a:cs typeface="Times New Roman" panose="02020603050405020304" pitchFamily="18" charset="0"/>
              </a:rPr>
            </a:br>
            <a:r>
              <a:rPr lang="tr-TR" sz="4800" b="1" dirty="0">
                <a:solidFill>
                  <a:srgbClr val="0070C0"/>
                </a:solidFill>
                <a:latin typeface="Times New Roman" panose="02020603050405020304" pitchFamily="18" charset="0"/>
                <a:cs typeface="Times New Roman" panose="02020603050405020304" pitchFamily="18" charset="0"/>
              </a:rPr>
              <a:t>Atışa Hazırlık Raporu (AHR)</a:t>
            </a:r>
            <a:br>
              <a:rPr lang="tr-TR" sz="4800" b="1" dirty="0">
                <a:solidFill>
                  <a:srgbClr val="0070C0"/>
                </a:solidFill>
                <a:latin typeface="Times New Roman" panose="02020603050405020304" pitchFamily="18" charset="0"/>
                <a:cs typeface="Times New Roman" panose="02020603050405020304" pitchFamily="18" charset="0"/>
              </a:rPr>
            </a:br>
            <a:r>
              <a:rPr lang="tr-TR" sz="4800" b="1" dirty="0">
                <a:solidFill>
                  <a:srgbClr val="0070C0"/>
                </a:solidFill>
                <a:latin typeface="Times New Roman" panose="02020603050405020304" pitchFamily="18" charset="0"/>
                <a:cs typeface="Times New Roman" panose="02020603050405020304" pitchFamily="18" charset="0"/>
              </a:rPr>
              <a:t>Sunuşu</a:t>
            </a:r>
            <a:br>
              <a:rPr lang="tr-TR" sz="4800" b="1" dirty="0">
                <a:solidFill>
                  <a:srgbClr val="0070C0"/>
                </a:solidFill>
                <a:latin typeface="Times New Roman" panose="02020603050405020304" pitchFamily="18" charset="0"/>
                <a:cs typeface="Times New Roman" panose="02020603050405020304" pitchFamily="18" charset="0"/>
              </a:rPr>
            </a:br>
            <a:r>
              <a:rPr lang="en-US" sz="4000" b="1" dirty="0">
                <a:solidFill>
                  <a:srgbClr val="0070C0"/>
                </a:solidFill>
                <a:latin typeface="Times New Roman" panose="02020603050405020304" pitchFamily="18" charset="0"/>
                <a:cs typeface="Times New Roman" panose="02020603050405020304" pitchFamily="18" charset="0"/>
              </a:rPr>
              <a:t>(TAKIM ADI)</a:t>
            </a:r>
            <a:endParaRPr lang="tr-TR" b="1" dirty="0">
              <a:solidFill>
                <a:srgbClr val="0070C0"/>
              </a:solidFill>
              <a:latin typeface="Times New Roman" panose="02020603050405020304" pitchFamily="18" charset="0"/>
              <a:cs typeface="Times New Roman" panose="02020603050405020304" pitchFamily="18" charset="0"/>
            </a:endParaRPr>
          </a:p>
        </p:txBody>
      </p:sp>
      <p:sp>
        <p:nvSpPr>
          <p:cNvPr id="2" name="Footer Placeholder 8">
            <a:extLst>
              <a:ext uri="{FF2B5EF4-FFF2-40B4-BE49-F238E27FC236}">
                <a16:creationId xmlns:a16="http://schemas.microsoft.com/office/drawing/2014/main" id="{7A037C54-B1A5-57FB-A7D5-03B1CA34798C}"/>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545897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4947" y="253731"/>
            <a:ext cx="9642106" cy="750956"/>
          </a:xfrm>
        </p:spPr>
        <p:txBody>
          <a:bodyPr anchor="ctr">
            <a:normAutofit/>
          </a:bodyPr>
          <a:lstStyle/>
          <a:p>
            <a:r>
              <a:rPr lang="tr-TR" sz="3600" b="1" dirty="0" err="1">
                <a:solidFill>
                  <a:srgbClr val="0070C0"/>
                </a:solidFill>
                <a:latin typeface="+mn-lt"/>
                <a:cs typeface="Times New Roman" panose="02020603050405020304" pitchFamily="18" charset="0"/>
              </a:rPr>
              <a:t>OpenRocket</a:t>
            </a:r>
            <a:r>
              <a:rPr lang="en-US" sz="3600" b="1" dirty="0">
                <a:solidFill>
                  <a:srgbClr val="0070C0"/>
                </a:solidFill>
                <a:latin typeface="+mn-lt"/>
                <a:cs typeface="Times New Roman" panose="02020603050405020304" pitchFamily="18" charset="0"/>
              </a:rPr>
              <a:t> </a:t>
            </a:r>
            <a:r>
              <a:rPr lang="tr-TR" sz="3600" b="1" dirty="0">
                <a:solidFill>
                  <a:srgbClr val="0070C0"/>
                </a:solidFill>
                <a:latin typeface="+mn-lt"/>
                <a:cs typeface="Times New Roman" panose="02020603050405020304" pitchFamily="18" charset="0"/>
              </a:rPr>
              <a:t>/</a:t>
            </a:r>
            <a:r>
              <a:rPr lang="en-US" sz="3600" b="1" dirty="0">
                <a:solidFill>
                  <a:srgbClr val="0070C0"/>
                </a:solidFill>
                <a:latin typeface="+mn-lt"/>
                <a:cs typeface="Times New Roman" panose="02020603050405020304" pitchFamily="18" charset="0"/>
              </a:rPr>
              <a:t> </a:t>
            </a:r>
            <a:r>
              <a:rPr lang="tr-TR" sz="3600" b="1" dirty="0">
                <a:solidFill>
                  <a:srgbClr val="0070C0"/>
                </a:solidFill>
                <a:latin typeface="+mn-lt"/>
                <a:cs typeface="Times New Roman" panose="02020603050405020304" pitchFamily="18" charset="0"/>
              </a:rPr>
              <a:t>Roket Tasarımı Genel Görünüm</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4</a:t>
            </a:fld>
            <a:endParaRPr lang="tr-TR"/>
          </a:p>
        </p:txBody>
      </p:sp>
      <p:pic>
        <p:nvPicPr>
          <p:cNvPr id="28" name="Picture 27"/>
          <p:cNvPicPr>
            <a:picLocks noChangeAspect="1"/>
          </p:cNvPicPr>
          <p:nvPr/>
        </p:nvPicPr>
        <p:blipFill rotWithShape="1">
          <a:blip r:embed="rId3"/>
          <a:srcRect l="15894"/>
          <a:stretch/>
        </p:blipFill>
        <p:spPr>
          <a:xfrm>
            <a:off x="10753658" y="57790"/>
            <a:ext cx="1377714" cy="1116000"/>
          </a:xfrm>
          <a:prstGeom prst="rect">
            <a:avLst/>
          </a:prstGeom>
        </p:spPr>
      </p:pic>
      <p:sp>
        <p:nvSpPr>
          <p:cNvPr id="30" name="Date Placeholder 3"/>
          <p:cNvSpPr>
            <a:spLocks noGrp="1"/>
          </p:cNvSpPr>
          <p:nvPr>
            <p:ph type="dt" sz="half" idx="10"/>
          </p:nvPr>
        </p:nvSpPr>
        <p:spPr>
          <a:xfrm>
            <a:off x="838200" y="6356350"/>
            <a:ext cx="2743200" cy="365125"/>
          </a:xfrm>
        </p:spPr>
        <p:txBody>
          <a:bodyPr/>
          <a:lstStyle/>
          <a:p>
            <a:fld id="{EDD7EE19-348B-4A60-8810-E2854B3ED486}" type="datetime2">
              <a:rPr lang="tr-TR" smtClean="0"/>
              <a:t>7 Temmuz 2025 Pazartesi</a:t>
            </a:fld>
            <a:endParaRPr lang="tr-TR"/>
          </a:p>
        </p:txBody>
      </p:sp>
      <p:sp>
        <p:nvSpPr>
          <p:cNvPr id="34" name="TextBox 33"/>
          <p:cNvSpPr txBox="1"/>
          <p:nvPr/>
        </p:nvSpPr>
        <p:spPr>
          <a:xfrm>
            <a:off x="54592" y="57258"/>
            <a:ext cx="1171978" cy="1116000"/>
          </a:xfrm>
          <a:prstGeom prst="rect">
            <a:avLst/>
          </a:prstGeom>
          <a:noFill/>
          <a:ln>
            <a:solidFill>
              <a:schemeClr val="tx1"/>
            </a:solidFill>
          </a:ln>
        </p:spPr>
        <p:txBody>
          <a:bodyPr wrap="square" rtlCol="0" anchor="ctr">
            <a:spAutoFit/>
          </a:bodyPr>
          <a:lstStyle/>
          <a:p>
            <a:pPr algn="ctr"/>
            <a:r>
              <a:rPr lang="tr-TR">
                <a:latin typeface="+mj-lt"/>
                <a:cs typeface="Times New Roman" panose="02020603050405020304" pitchFamily="18" charset="0"/>
              </a:rPr>
              <a:t>Takım Logosu</a:t>
            </a:r>
          </a:p>
        </p:txBody>
      </p:sp>
      <p:sp>
        <p:nvSpPr>
          <p:cNvPr id="4" name="Rectangle 3"/>
          <p:cNvSpPr/>
          <p:nvPr/>
        </p:nvSpPr>
        <p:spPr>
          <a:xfrm>
            <a:off x="-64662" y="5896866"/>
            <a:ext cx="3245055" cy="369332"/>
          </a:xfrm>
          <a:prstGeom prst="rect">
            <a:avLst/>
          </a:prstGeom>
        </p:spPr>
        <p:txBody>
          <a:bodyPr wrap="none">
            <a:spAutoFit/>
          </a:bodyPr>
          <a:lstStyle/>
          <a:p>
            <a:pPr algn="ctr"/>
            <a:r>
              <a:rPr lang="en-US"/>
              <a:t>Bu </a:t>
            </a:r>
            <a:r>
              <a:rPr lang="en-US" err="1"/>
              <a:t>kısım</a:t>
            </a:r>
            <a:r>
              <a:rPr lang="en-US"/>
              <a:t> </a:t>
            </a:r>
            <a:r>
              <a:rPr lang="tr-TR"/>
              <a:t>2 </a:t>
            </a:r>
            <a:r>
              <a:rPr lang="en-US" err="1"/>
              <a:t>yansıyı</a:t>
            </a:r>
            <a:r>
              <a:rPr lang="en-US"/>
              <a:t> </a:t>
            </a:r>
            <a:r>
              <a:rPr lang="tr-TR"/>
              <a:t>geçmemelidir. </a:t>
            </a:r>
          </a:p>
        </p:txBody>
      </p:sp>
      <p:pic>
        <p:nvPicPr>
          <p:cNvPr id="33" name="Picture 32"/>
          <p:cNvPicPr>
            <a:picLocks noChangeAspect="1"/>
          </p:cNvPicPr>
          <p:nvPr/>
        </p:nvPicPr>
        <p:blipFill>
          <a:blip r:embed="rId4"/>
          <a:stretch>
            <a:fillRect/>
          </a:stretch>
        </p:blipFill>
        <p:spPr>
          <a:xfrm>
            <a:off x="0" y="2332088"/>
            <a:ext cx="9391379" cy="2688691"/>
          </a:xfrm>
          <a:prstGeom prst="rect">
            <a:avLst/>
          </a:prstGeom>
        </p:spPr>
      </p:pic>
      <p:sp>
        <p:nvSpPr>
          <p:cNvPr id="8" name="Rectangle 7"/>
          <p:cNvSpPr/>
          <p:nvPr/>
        </p:nvSpPr>
        <p:spPr>
          <a:xfrm>
            <a:off x="2053556" y="2036540"/>
            <a:ext cx="5082458" cy="5237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a:t>Son Değişimler sonrası Open </a:t>
            </a:r>
            <a:r>
              <a:rPr lang="tr-TR" err="1"/>
              <a:t>Rocket</a:t>
            </a:r>
            <a:r>
              <a:rPr lang="tr-TR"/>
              <a:t> </a:t>
            </a:r>
            <a:r>
              <a:rPr lang="en-US"/>
              <a:t>&amp; CAD </a:t>
            </a:r>
            <a:r>
              <a:rPr lang="en-US" err="1"/>
              <a:t>Genel</a:t>
            </a:r>
            <a:r>
              <a:rPr lang="en-US"/>
              <a:t> </a:t>
            </a:r>
            <a:r>
              <a:rPr lang="tr-TR"/>
              <a:t>Görünümü </a:t>
            </a:r>
          </a:p>
        </p:txBody>
      </p:sp>
      <p:sp>
        <p:nvSpPr>
          <p:cNvPr id="11" name="Rectangle 10"/>
          <p:cNvSpPr/>
          <p:nvPr/>
        </p:nvSpPr>
        <p:spPr>
          <a:xfrm>
            <a:off x="0" y="1263410"/>
            <a:ext cx="12131372" cy="584775"/>
          </a:xfrm>
          <a:prstGeom prst="rect">
            <a:avLst/>
          </a:prstGeom>
        </p:spPr>
        <p:txBody>
          <a:bodyPr wrap="square">
            <a:spAutoFit/>
          </a:bodyPr>
          <a:lstStyle/>
          <a:p>
            <a:pPr marL="285750" indent="-285750" algn="just">
              <a:spcAft>
                <a:spcPts val="600"/>
              </a:spcAft>
              <a:buFont typeface="Wingdings" panose="05000000000000000000" pitchFamily="2" charset="2"/>
              <a:buChar char="q"/>
            </a:pPr>
            <a:r>
              <a:rPr lang="en-US" sz="1600" err="1"/>
              <a:t>KTR’den</a:t>
            </a:r>
            <a:r>
              <a:rPr lang="en-US" sz="1600"/>
              <a:t> </a:t>
            </a:r>
            <a:r>
              <a:rPr lang="en-US" sz="1600" err="1"/>
              <a:t>sonraki</a:t>
            </a:r>
            <a:r>
              <a:rPr lang="en-US" sz="1600"/>
              <a:t> </a:t>
            </a:r>
            <a:r>
              <a:rPr lang="en-US" sz="1600" err="1"/>
              <a:t>tüm</a:t>
            </a:r>
            <a:r>
              <a:rPr lang="en-US" sz="1600"/>
              <a:t> </a:t>
            </a:r>
            <a:r>
              <a:rPr lang="en-US" sz="1600" err="1"/>
              <a:t>değişikliklerin</a:t>
            </a:r>
            <a:r>
              <a:rPr lang="en-US" sz="1600"/>
              <a:t> </a:t>
            </a:r>
            <a:r>
              <a:rPr lang="en-US" sz="1600" err="1"/>
              <a:t>tamamlandığı</a:t>
            </a:r>
            <a:r>
              <a:rPr lang="en-US" sz="1600"/>
              <a:t> son Open Rocket ve CAD </a:t>
            </a:r>
            <a:r>
              <a:rPr lang="en-US" sz="1600" err="1"/>
              <a:t>görüntülerini</a:t>
            </a:r>
            <a:r>
              <a:rPr lang="en-US" sz="1600"/>
              <a:t> </a:t>
            </a:r>
            <a:r>
              <a:rPr lang="en-US" sz="1600" err="1"/>
              <a:t>üretilmiş</a:t>
            </a:r>
            <a:r>
              <a:rPr lang="en-US" sz="1600"/>
              <a:t> </a:t>
            </a:r>
            <a:r>
              <a:rPr lang="en-US" sz="1600" err="1"/>
              <a:t>olan</a:t>
            </a:r>
            <a:r>
              <a:rPr lang="en-US" sz="1600"/>
              <a:t> </a:t>
            </a:r>
            <a:r>
              <a:rPr lang="en-US" sz="1600" err="1"/>
              <a:t>roket</a:t>
            </a:r>
            <a:r>
              <a:rPr lang="en-US" sz="1600"/>
              <a:t> </a:t>
            </a:r>
            <a:r>
              <a:rPr lang="tr-TR" sz="1600"/>
              <a:t>ile </a:t>
            </a:r>
            <a:r>
              <a:rPr lang="en-US" sz="1600" err="1"/>
              <a:t>karşılaştıran</a:t>
            </a:r>
            <a:r>
              <a:rPr lang="en-US" sz="1600"/>
              <a:t> </a:t>
            </a:r>
            <a:r>
              <a:rPr lang="en-US" sz="1600" err="1"/>
              <a:t>görüntü</a:t>
            </a:r>
            <a:r>
              <a:rPr lang="en-US" sz="1600"/>
              <a:t> </a:t>
            </a:r>
            <a:r>
              <a:rPr lang="en-US" sz="1600" err="1"/>
              <a:t>verilecektir</a:t>
            </a:r>
            <a:r>
              <a:rPr lang="en-US" sz="1600"/>
              <a:t>. </a:t>
            </a:r>
            <a:r>
              <a:rPr lang="en-US" sz="1600" err="1"/>
              <a:t>Roket’in</a:t>
            </a:r>
            <a:r>
              <a:rPr lang="en-US" sz="1600"/>
              <a:t> son </a:t>
            </a:r>
            <a:r>
              <a:rPr lang="en-US" sz="1600" err="1"/>
              <a:t>entegre</a:t>
            </a:r>
            <a:r>
              <a:rPr lang="en-US" sz="1600"/>
              <a:t> </a:t>
            </a:r>
            <a:r>
              <a:rPr lang="en-US" sz="1600" err="1"/>
              <a:t>edilmiş</a:t>
            </a:r>
            <a:r>
              <a:rPr lang="en-US" sz="1600"/>
              <a:t> </a:t>
            </a:r>
            <a:r>
              <a:rPr lang="en-US" sz="1600" err="1"/>
              <a:t>halinin</a:t>
            </a:r>
            <a:r>
              <a:rPr lang="en-US" sz="1600"/>
              <a:t> </a:t>
            </a:r>
            <a:r>
              <a:rPr lang="en-US" sz="1600" err="1"/>
              <a:t>beyaz</a:t>
            </a:r>
            <a:r>
              <a:rPr lang="en-US" sz="1600"/>
              <a:t> </a:t>
            </a:r>
            <a:r>
              <a:rPr lang="en-US" sz="1600" err="1"/>
              <a:t>arka</a:t>
            </a:r>
            <a:r>
              <a:rPr lang="en-US" sz="1600"/>
              <a:t> </a:t>
            </a:r>
            <a:r>
              <a:rPr lang="en-US" sz="1600" err="1"/>
              <a:t>planlı</a:t>
            </a:r>
            <a:r>
              <a:rPr lang="en-US" sz="1600"/>
              <a:t> </a:t>
            </a:r>
            <a:r>
              <a:rPr lang="en-US" sz="1600" err="1"/>
              <a:t>fotoğrafı</a:t>
            </a:r>
            <a:r>
              <a:rPr lang="en-US" sz="1600"/>
              <a:t> </a:t>
            </a:r>
            <a:r>
              <a:rPr lang="en-US" sz="1600" err="1"/>
              <a:t>çekilmelidir</a:t>
            </a:r>
            <a:r>
              <a:rPr lang="en-US" sz="1600"/>
              <a:t>.   </a:t>
            </a:r>
            <a:endParaRPr lang="tr-TR" sz="1600"/>
          </a:p>
        </p:txBody>
      </p:sp>
      <p:sp>
        <p:nvSpPr>
          <p:cNvPr id="14" name="Rectangle 13"/>
          <p:cNvSpPr/>
          <p:nvPr/>
        </p:nvSpPr>
        <p:spPr>
          <a:xfrm>
            <a:off x="2376828" y="4860086"/>
            <a:ext cx="4439608" cy="946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Üretimi</a:t>
            </a:r>
            <a:r>
              <a:rPr lang="en-US"/>
              <a:t> </a:t>
            </a:r>
            <a:r>
              <a:rPr lang="en-US" err="1"/>
              <a:t>tama</a:t>
            </a:r>
            <a:r>
              <a:rPr lang="tr-TR"/>
              <a:t>m</a:t>
            </a:r>
            <a:r>
              <a:rPr lang="en-US" err="1"/>
              <a:t>lanmış</a:t>
            </a:r>
            <a:r>
              <a:rPr lang="en-US"/>
              <a:t> ve </a:t>
            </a:r>
            <a:r>
              <a:rPr lang="en-US" err="1"/>
              <a:t>entegre</a:t>
            </a:r>
            <a:r>
              <a:rPr lang="en-US"/>
              <a:t> </a:t>
            </a:r>
            <a:r>
              <a:rPr lang="en-US" err="1"/>
              <a:t>edilmiş</a:t>
            </a:r>
            <a:r>
              <a:rPr lang="en-US"/>
              <a:t> </a:t>
            </a:r>
            <a:r>
              <a:rPr lang="en-US" err="1"/>
              <a:t>roket</a:t>
            </a:r>
            <a:r>
              <a:rPr lang="en-US"/>
              <a:t> </a:t>
            </a:r>
            <a:r>
              <a:rPr lang="en-US" err="1"/>
              <a:t>fotoğrafı</a:t>
            </a:r>
            <a:r>
              <a:rPr lang="en-US"/>
              <a:t>.  </a:t>
            </a:r>
            <a:endParaRPr lang="tr-TR"/>
          </a:p>
        </p:txBody>
      </p:sp>
      <p:sp>
        <p:nvSpPr>
          <p:cNvPr id="16" name="Rectangle 10">
            <a:extLst>
              <a:ext uri="{FF2B5EF4-FFF2-40B4-BE49-F238E27FC236}">
                <a16:creationId xmlns:a16="http://schemas.microsoft.com/office/drawing/2014/main" id="{3BD8AA00-7A66-4793-BDF9-A908B4A32425}"/>
              </a:ext>
            </a:extLst>
          </p:cNvPr>
          <p:cNvSpPr/>
          <p:nvPr/>
        </p:nvSpPr>
        <p:spPr>
          <a:xfrm>
            <a:off x="9199029" y="1959836"/>
            <a:ext cx="2640065" cy="4108817"/>
          </a:xfrm>
          <a:prstGeom prst="rect">
            <a:avLst/>
          </a:prstGeom>
        </p:spPr>
        <p:txBody>
          <a:bodyPr wrap="square">
            <a:spAutoFit/>
          </a:bodyPr>
          <a:lstStyle/>
          <a:p>
            <a:pPr marL="285750" indent="-285750">
              <a:spcAft>
                <a:spcPts val="600"/>
              </a:spcAft>
              <a:buFont typeface="Wingdings" panose="05000000000000000000" pitchFamily="2" charset="2"/>
              <a:buChar char="q"/>
            </a:pPr>
            <a:r>
              <a:rPr lang="tr-TR" sz="1600" dirty="0"/>
              <a:t>CAD görseli altına </a:t>
            </a:r>
            <a:r>
              <a:rPr lang="tr-TR" sz="1600" dirty="0" err="1"/>
              <a:t>OpenRocket</a:t>
            </a:r>
            <a:r>
              <a:rPr lang="tr-TR" sz="1600" dirty="0"/>
              <a:t> ekran görüntüsü alınmalı. </a:t>
            </a:r>
            <a:r>
              <a:rPr lang="tr-TR" sz="1600" dirty="0" err="1"/>
              <a:t>OpenRocket</a:t>
            </a:r>
            <a:r>
              <a:rPr lang="tr-TR" sz="1600" dirty="0"/>
              <a:t> görseli altına da roketin üretilmiş ve birleştirilmiş son hali ölçüler eşleştirilerek eklenmelidir.</a:t>
            </a:r>
          </a:p>
          <a:p>
            <a:pPr marL="285750" indent="-285750">
              <a:spcAft>
                <a:spcPts val="600"/>
              </a:spcAft>
              <a:buFont typeface="Wingdings" panose="05000000000000000000" pitchFamily="2" charset="2"/>
              <a:buChar char="q"/>
            </a:pPr>
            <a:r>
              <a:rPr lang="tr-TR" sz="1600" dirty="0"/>
              <a:t>Ölçüler eşleştirilirken roketin üretilmiş halinin üzerine CG ve </a:t>
            </a:r>
            <a:r>
              <a:rPr lang="tr-TR" sz="1600" dirty="0" err="1"/>
              <a:t>CP’yi</a:t>
            </a:r>
            <a:r>
              <a:rPr lang="tr-TR" sz="1600" dirty="0"/>
              <a:t> belirten </a:t>
            </a:r>
            <a:r>
              <a:rPr lang="tr-TR" sz="1600" dirty="0" err="1"/>
              <a:t>stickerlar</a:t>
            </a:r>
            <a:r>
              <a:rPr lang="tr-TR" sz="1600" dirty="0"/>
              <a:t> eklenmelidir. Bu </a:t>
            </a:r>
            <a:r>
              <a:rPr lang="tr-TR" sz="1600" dirty="0" err="1"/>
              <a:t>stickerların</a:t>
            </a:r>
            <a:r>
              <a:rPr lang="tr-TR" sz="1600" dirty="0"/>
              <a:t> burun ucundan uzaklığı mm olarak verilmelidir.</a:t>
            </a:r>
          </a:p>
        </p:txBody>
      </p:sp>
      <p:sp>
        <p:nvSpPr>
          <p:cNvPr id="9" name="Footer Placeholder 8">
            <a:extLst>
              <a:ext uri="{FF2B5EF4-FFF2-40B4-BE49-F238E27FC236}">
                <a16:creationId xmlns:a16="http://schemas.microsoft.com/office/drawing/2014/main" id="{A83BFBCF-735C-A7E9-706A-943744A3915E}"/>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7106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215"/>
            <a:ext cx="9144000" cy="750956"/>
          </a:xfrm>
        </p:spPr>
        <p:txBody>
          <a:bodyPr anchor="ctr">
            <a:normAutofit/>
          </a:bodyPr>
          <a:lstStyle/>
          <a:p>
            <a:r>
              <a:rPr lang="en-US" sz="3500" b="1" dirty="0" err="1">
                <a:solidFill>
                  <a:srgbClr val="0070C0"/>
                </a:solidFill>
                <a:latin typeface="Times New Roman" panose="02020603050405020304" pitchFamily="18" charset="0"/>
                <a:cs typeface="Times New Roman" panose="02020603050405020304" pitchFamily="18" charset="0"/>
              </a:rPr>
              <a:t>Statik</a:t>
            </a:r>
            <a:r>
              <a:rPr lang="en-US" sz="3500" b="1" dirty="0">
                <a:solidFill>
                  <a:srgbClr val="0070C0"/>
                </a:solidFill>
                <a:latin typeface="Times New Roman" panose="02020603050405020304" pitchFamily="18" charset="0"/>
                <a:cs typeface="Times New Roman" panose="02020603050405020304" pitchFamily="18" charset="0"/>
              </a:rPr>
              <a:t> </a:t>
            </a:r>
            <a:r>
              <a:rPr lang="en-US" sz="3500" b="1" dirty="0" err="1">
                <a:solidFill>
                  <a:srgbClr val="0070C0"/>
                </a:solidFill>
                <a:latin typeface="Times New Roman" panose="02020603050405020304" pitchFamily="18" charset="0"/>
                <a:cs typeface="Times New Roman" panose="02020603050405020304" pitchFamily="18" charset="0"/>
              </a:rPr>
              <a:t>Marjin</a:t>
            </a:r>
            <a:r>
              <a:rPr lang="en-US" sz="3500" b="1" dirty="0">
                <a:solidFill>
                  <a:srgbClr val="0070C0"/>
                </a:solidFill>
                <a:latin typeface="Times New Roman" panose="02020603050405020304" pitchFamily="18" charset="0"/>
                <a:cs typeface="Times New Roman" panose="02020603050405020304" pitchFamily="18" charset="0"/>
              </a:rPr>
              <a:t> / Son </a:t>
            </a:r>
            <a:r>
              <a:rPr lang="en-US" sz="3500" b="1" dirty="0" err="1">
                <a:solidFill>
                  <a:srgbClr val="0070C0"/>
                </a:solidFill>
                <a:latin typeface="Times New Roman" panose="02020603050405020304" pitchFamily="18" charset="0"/>
                <a:cs typeface="Times New Roman" panose="02020603050405020304" pitchFamily="18" charset="0"/>
              </a:rPr>
              <a:t>Simulasyon</a:t>
            </a:r>
            <a:r>
              <a:rPr lang="en-US" sz="3500" b="1" dirty="0">
                <a:solidFill>
                  <a:srgbClr val="0070C0"/>
                </a:solidFill>
                <a:latin typeface="Times New Roman" panose="02020603050405020304" pitchFamily="18" charset="0"/>
                <a:cs typeface="Times New Roman" panose="02020603050405020304" pitchFamily="18" charset="0"/>
              </a:rPr>
              <a:t> </a:t>
            </a:r>
            <a:endParaRPr lang="tr-TR" sz="3500" b="1" dirty="0">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5</a:t>
            </a:fld>
            <a:endParaRPr lang="tr-TR"/>
          </a:p>
        </p:txBody>
      </p:sp>
      <p:pic>
        <p:nvPicPr>
          <p:cNvPr id="14" name="Picture 13"/>
          <p:cNvPicPr>
            <a:picLocks noChangeAspect="1"/>
          </p:cNvPicPr>
          <p:nvPr/>
        </p:nvPicPr>
        <p:blipFill rotWithShape="1">
          <a:blip r:embed="rId3"/>
          <a:srcRect l="15894"/>
          <a:stretch/>
        </p:blipFill>
        <p:spPr>
          <a:xfrm>
            <a:off x="10753658" y="57790"/>
            <a:ext cx="1377714" cy="1116000"/>
          </a:xfrm>
          <a:prstGeom prst="rect">
            <a:avLst/>
          </a:prstGeom>
        </p:spPr>
      </p:pic>
      <p:sp>
        <p:nvSpPr>
          <p:cNvPr id="16" name="Date Placeholder 3"/>
          <p:cNvSpPr>
            <a:spLocks noGrp="1"/>
          </p:cNvSpPr>
          <p:nvPr>
            <p:ph type="dt" sz="half" idx="10"/>
          </p:nvPr>
        </p:nvSpPr>
        <p:spPr>
          <a:xfrm>
            <a:off x="838200" y="6356350"/>
            <a:ext cx="2743200" cy="365125"/>
          </a:xfrm>
        </p:spPr>
        <p:txBody>
          <a:bodyPr/>
          <a:lstStyle/>
          <a:p>
            <a:fld id="{EDD7EE19-348B-4A60-8810-E2854B3ED486}" type="datetime2">
              <a:rPr lang="tr-TR" smtClean="0"/>
              <a:t>7 Temmuz 2025 Pazartesi</a:t>
            </a:fld>
            <a:endParaRPr lang="tr-TR"/>
          </a:p>
        </p:txBody>
      </p:sp>
      <p:sp>
        <p:nvSpPr>
          <p:cNvPr id="19" name="TextBox 18"/>
          <p:cNvSpPr txBox="1"/>
          <p:nvPr/>
        </p:nvSpPr>
        <p:spPr>
          <a:xfrm>
            <a:off x="54592" y="57258"/>
            <a:ext cx="1171978" cy="1116000"/>
          </a:xfrm>
          <a:prstGeom prst="rect">
            <a:avLst/>
          </a:prstGeom>
          <a:noFill/>
          <a:ln>
            <a:solidFill>
              <a:schemeClr val="tx1"/>
            </a:solidFill>
          </a:ln>
        </p:spPr>
        <p:txBody>
          <a:bodyPr wrap="square" rtlCol="0" anchor="ctr">
            <a:spAutoFit/>
          </a:bodyPr>
          <a:lstStyle/>
          <a:p>
            <a:pPr algn="ctr"/>
            <a:r>
              <a:rPr lang="tr-TR">
                <a:latin typeface="+mj-lt"/>
                <a:cs typeface="Times New Roman" panose="02020603050405020304" pitchFamily="18" charset="0"/>
              </a:rPr>
              <a:t>Takım Logosu</a:t>
            </a:r>
          </a:p>
        </p:txBody>
      </p:sp>
      <p:sp>
        <p:nvSpPr>
          <p:cNvPr id="11" name="TextBox 9">
            <a:extLst>
              <a:ext uri="{FF2B5EF4-FFF2-40B4-BE49-F238E27FC236}">
                <a16:creationId xmlns:a16="http://schemas.microsoft.com/office/drawing/2014/main" id="{EA34E886-12F2-49E0-9BD3-D71B870D914E}"/>
              </a:ext>
            </a:extLst>
          </p:cNvPr>
          <p:cNvSpPr txBox="1"/>
          <p:nvPr/>
        </p:nvSpPr>
        <p:spPr>
          <a:xfrm>
            <a:off x="264000" y="1332000"/>
            <a:ext cx="11664000" cy="1708160"/>
          </a:xfrm>
          <a:prstGeom prst="rect">
            <a:avLst/>
          </a:prstGeom>
          <a:noFill/>
        </p:spPr>
        <p:txBody>
          <a:bodyPr wrap="square" rtlCol="0">
            <a:spAutoFit/>
          </a:bodyPr>
          <a:lstStyle/>
          <a:p>
            <a:pPr marL="285750" indent="-285750" algn="just">
              <a:spcAft>
                <a:spcPts val="600"/>
              </a:spcAft>
              <a:buFont typeface="Wingdings" panose="05000000000000000000" pitchFamily="2" charset="2"/>
              <a:buChar char="q"/>
            </a:pPr>
            <a:r>
              <a:rPr lang="tr-TR" dirty="0"/>
              <a:t>Roket üretildikten sonra tasarımdan farklılıklar gösterebilir. Roketin üretimlerden sonraki son halinin </a:t>
            </a:r>
            <a:r>
              <a:rPr lang="tr-TR" dirty="0" err="1"/>
              <a:t>OpenRocket</a:t>
            </a:r>
            <a:r>
              <a:rPr lang="tr-TR" dirty="0"/>
              <a:t> üzerinden simülasyona sokulması beklenmektedir.</a:t>
            </a:r>
          </a:p>
          <a:p>
            <a:pPr marL="285750" indent="-285750" algn="just">
              <a:spcAft>
                <a:spcPts val="600"/>
              </a:spcAft>
              <a:buFont typeface="Wingdings" panose="05000000000000000000" pitchFamily="2" charset="2"/>
              <a:buChar char="q"/>
            </a:pPr>
            <a:r>
              <a:rPr lang="tr-TR" dirty="0"/>
              <a:t>Roketin son halinin simülasyon sonuçları, CG/CP ölçüleri gibi değerleri </a:t>
            </a:r>
            <a:r>
              <a:rPr lang="tr-TR" dirty="0" err="1"/>
              <a:t>AHR’de</a:t>
            </a:r>
            <a:r>
              <a:rPr lang="tr-TR" dirty="0"/>
              <a:t> sunulan değerler ile karşılaştırılmalıdır.</a:t>
            </a:r>
          </a:p>
          <a:p>
            <a:pPr marL="285750" indent="-285750" algn="just">
              <a:spcAft>
                <a:spcPts val="600"/>
              </a:spcAft>
              <a:buFont typeface="Wingdings" panose="05000000000000000000" pitchFamily="2" charset="2"/>
              <a:buChar char="q"/>
            </a:pPr>
            <a:r>
              <a:rPr lang="tr-TR" dirty="0"/>
              <a:t>Fark (%) hesabı yapılırken </a:t>
            </a:r>
            <a:r>
              <a:rPr lang="tr-TR" dirty="0" err="1"/>
              <a:t>MutlakDeğer</a:t>
            </a:r>
            <a:r>
              <a:rPr lang="tr-TR" dirty="0"/>
              <a:t>(Tasarım-Üretim)*100/Tasarım formülü kullanılmalıdır.</a:t>
            </a:r>
          </a:p>
          <a:p>
            <a:pPr algn="just">
              <a:spcAft>
                <a:spcPts val="600"/>
              </a:spcAft>
            </a:pPr>
            <a:endParaRPr lang="tr-TR" dirty="0"/>
          </a:p>
        </p:txBody>
      </p:sp>
      <p:sp>
        <p:nvSpPr>
          <p:cNvPr id="12" name="Rectangle 3">
            <a:extLst>
              <a:ext uri="{FF2B5EF4-FFF2-40B4-BE49-F238E27FC236}">
                <a16:creationId xmlns:a16="http://schemas.microsoft.com/office/drawing/2014/main" id="{0EADFC7C-AF83-4572-9FBB-84CBA7658D2E}"/>
              </a:ext>
            </a:extLst>
          </p:cNvPr>
          <p:cNvSpPr/>
          <p:nvPr/>
        </p:nvSpPr>
        <p:spPr>
          <a:xfrm>
            <a:off x="-64662" y="5896866"/>
            <a:ext cx="3245055" cy="369332"/>
          </a:xfrm>
          <a:prstGeom prst="rect">
            <a:avLst/>
          </a:prstGeom>
        </p:spPr>
        <p:txBody>
          <a:bodyPr wrap="none">
            <a:spAutoFit/>
          </a:bodyPr>
          <a:lstStyle/>
          <a:p>
            <a:pPr algn="ctr"/>
            <a:r>
              <a:rPr lang="en-US"/>
              <a:t>Bu </a:t>
            </a:r>
            <a:r>
              <a:rPr lang="en-US" err="1"/>
              <a:t>kısım</a:t>
            </a:r>
            <a:r>
              <a:rPr lang="en-US"/>
              <a:t> </a:t>
            </a:r>
            <a:r>
              <a:rPr lang="tr-TR"/>
              <a:t>2 </a:t>
            </a:r>
            <a:r>
              <a:rPr lang="en-US" err="1"/>
              <a:t>yansıyı</a:t>
            </a:r>
            <a:r>
              <a:rPr lang="en-US"/>
              <a:t> </a:t>
            </a:r>
            <a:r>
              <a:rPr lang="tr-TR"/>
              <a:t>geçmemelidir. </a:t>
            </a:r>
          </a:p>
        </p:txBody>
      </p:sp>
      <p:graphicFrame>
        <p:nvGraphicFramePr>
          <p:cNvPr id="13" name="Tablo 6">
            <a:extLst>
              <a:ext uri="{FF2B5EF4-FFF2-40B4-BE49-F238E27FC236}">
                <a16:creationId xmlns:a16="http://schemas.microsoft.com/office/drawing/2014/main" id="{F9E6308C-5E74-4270-BA3A-B668A44C9C15}"/>
              </a:ext>
            </a:extLst>
          </p:cNvPr>
          <p:cNvGraphicFramePr>
            <a:graphicFrameLocks noGrp="1"/>
          </p:cNvGraphicFramePr>
          <p:nvPr>
            <p:extLst>
              <p:ext uri="{D42A27DB-BD31-4B8C-83A1-F6EECF244321}">
                <p14:modId xmlns:p14="http://schemas.microsoft.com/office/powerpoint/2010/main" val="202014174"/>
              </p:ext>
            </p:extLst>
          </p:nvPr>
        </p:nvGraphicFramePr>
        <p:xfrm>
          <a:off x="3017258" y="2702206"/>
          <a:ext cx="6157483" cy="3590495"/>
        </p:xfrm>
        <a:graphic>
          <a:graphicData uri="http://schemas.openxmlformats.org/drawingml/2006/table">
            <a:tbl>
              <a:tblPr firstRow="1" bandRow="1">
                <a:tableStyleId>{5C22544A-7EE6-4342-B048-85BDC9FD1C3A}</a:tableStyleId>
              </a:tblPr>
              <a:tblGrid>
                <a:gridCol w="1539371">
                  <a:extLst>
                    <a:ext uri="{9D8B030D-6E8A-4147-A177-3AD203B41FA5}">
                      <a16:colId xmlns:a16="http://schemas.microsoft.com/office/drawing/2014/main" val="3063261857"/>
                    </a:ext>
                  </a:extLst>
                </a:gridCol>
                <a:gridCol w="1539371">
                  <a:extLst>
                    <a:ext uri="{9D8B030D-6E8A-4147-A177-3AD203B41FA5}">
                      <a16:colId xmlns:a16="http://schemas.microsoft.com/office/drawing/2014/main" val="3553572562"/>
                    </a:ext>
                  </a:extLst>
                </a:gridCol>
                <a:gridCol w="1765028">
                  <a:extLst>
                    <a:ext uri="{9D8B030D-6E8A-4147-A177-3AD203B41FA5}">
                      <a16:colId xmlns:a16="http://schemas.microsoft.com/office/drawing/2014/main" val="1544958665"/>
                    </a:ext>
                  </a:extLst>
                </a:gridCol>
                <a:gridCol w="1313713">
                  <a:extLst>
                    <a:ext uri="{9D8B030D-6E8A-4147-A177-3AD203B41FA5}">
                      <a16:colId xmlns:a16="http://schemas.microsoft.com/office/drawing/2014/main" val="2366627080"/>
                    </a:ext>
                  </a:extLst>
                </a:gridCol>
              </a:tblGrid>
              <a:tr h="416032">
                <a:tc>
                  <a:txBody>
                    <a:bodyPr/>
                    <a:lstStyle/>
                    <a:p>
                      <a:r>
                        <a:rPr lang="tr-TR" sz="1200"/>
                        <a:t>Veri</a:t>
                      </a:r>
                    </a:p>
                  </a:txBody>
                  <a:tcPr/>
                </a:tc>
                <a:tc>
                  <a:txBody>
                    <a:bodyPr/>
                    <a:lstStyle/>
                    <a:p>
                      <a:r>
                        <a:rPr lang="tr-TR" sz="1200"/>
                        <a:t>Tasarımdaki Değer</a:t>
                      </a:r>
                    </a:p>
                  </a:txBody>
                  <a:tcPr/>
                </a:tc>
                <a:tc>
                  <a:txBody>
                    <a:bodyPr/>
                    <a:lstStyle/>
                    <a:p>
                      <a:r>
                        <a:rPr lang="tr-TR" sz="1200"/>
                        <a:t>Üretim Sonrası Değer</a:t>
                      </a:r>
                    </a:p>
                  </a:txBody>
                  <a:tcPr/>
                </a:tc>
                <a:tc>
                  <a:txBody>
                    <a:bodyPr/>
                    <a:lstStyle/>
                    <a:p>
                      <a:r>
                        <a:rPr lang="tr-TR" sz="1200"/>
                        <a:t>Fark (%)</a:t>
                      </a:r>
                    </a:p>
                  </a:txBody>
                  <a:tcPr/>
                </a:tc>
                <a:extLst>
                  <a:ext uri="{0D108BD9-81ED-4DB2-BD59-A6C34878D82A}">
                    <a16:rowId xmlns:a16="http://schemas.microsoft.com/office/drawing/2014/main" val="204161749"/>
                  </a:ext>
                </a:extLst>
              </a:tr>
              <a:tr h="614143">
                <a:tc>
                  <a:txBody>
                    <a:bodyPr/>
                    <a:lstStyle/>
                    <a:p>
                      <a:r>
                        <a:rPr lang="tr-TR" sz="1200" dirty="0"/>
                        <a:t>Maksimum İrtifa (m)</a:t>
                      </a:r>
                    </a:p>
                  </a:txBody>
                  <a:tcPr/>
                </a:tc>
                <a:tc>
                  <a:txBody>
                    <a:bodyPr/>
                    <a:lstStyle/>
                    <a:p>
                      <a:r>
                        <a:rPr lang="tr-TR" sz="1200"/>
                        <a:t>3000 m</a:t>
                      </a:r>
                    </a:p>
                  </a:txBody>
                  <a:tcPr/>
                </a:tc>
                <a:tc>
                  <a:txBody>
                    <a:bodyPr/>
                    <a:lstStyle/>
                    <a:p>
                      <a:r>
                        <a:rPr lang="tr-TR" sz="1200"/>
                        <a:t>2900 m</a:t>
                      </a:r>
                    </a:p>
                  </a:txBody>
                  <a:tcPr/>
                </a:tc>
                <a:tc>
                  <a:txBody>
                    <a:bodyPr/>
                    <a:lstStyle/>
                    <a:p>
                      <a:r>
                        <a:rPr lang="tr-TR" sz="1200"/>
                        <a:t>3.333</a:t>
                      </a:r>
                    </a:p>
                  </a:txBody>
                  <a:tcPr/>
                </a:tc>
                <a:extLst>
                  <a:ext uri="{0D108BD9-81ED-4DB2-BD59-A6C34878D82A}">
                    <a16:rowId xmlns:a16="http://schemas.microsoft.com/office/drawing/2014/main" val="712624947"/>
                  </a:ext>
                </a:extLst>
              </a:tr>
              <a:tr h="263459">
                <a:tc>
                  <a:txBody>
                    <a:bodyPr/>
                    <a:lstStyle/>
                    <a:p>
                      <a:r>
                        <a:rPr lang="tr-TR" sz="1200" dirty="0"/>
                        <a:t>Maksimum Hız (m/s)</a:t>
                      </a:r>
                    </a:p>
                  </a:txBody>
                  <a:tcPr/>
                </a:tc>
                <a:tc>
                  <a:txBody>
                    <a:bodyPr/>
                    <a:lstStyle/>
                    <a:p>
                      <a:r>
                        <a:rPr lang="tr-TR" sz="1200"/>
                        <a:t>xx</a:t>
                      </a:r>
                    </a:p>
                  </a:txBody>
                  <a:tcPr/>
                </a:tc>
                <a:tc>
                  <a:txBody>
                    <a:bodyPr/>
                    <a:lstStyle/>
                    <a:p>
                      <a:r>
                        <a:rPr lang="tr-TR" sz="1200"/>
                        <a:t>xx</a:t>
                      </a:r>
                    </a:p>
                  </a:txBody>
                  <a:tcPr/>
                </a:tc>
                <a:tc>
                  <a:txBody>
                    <a:bodyPr/>
                    <a:lstStyle/>
                    <a:p>
                      <a:r>
                        <a:rPr lang="tr-TR" sz="1200"/>
                        <a:t>xx</a:t>
                      </a:r>
                    </a:p>
                  </a:txBody>
                  <a:tcPr/>
                </a:tc>
                <a:extLst>
                  <a:ext uri="{0D108BD9-81ED-4DB2-BD59-A6C34878D82A}">
                    <a16:rowId xmlns:a16="http://schemas.microsoft.com/office/drawing/2014/main" val="1196279941"/>
                  </a:ext>
                </a:extLst>
              </a:tr>
              <a:tr h="263459">
                <a:tc>
                  <a:txBody>
                    <a:bodyPr/>
                    <a:lstStyle/>
                    <a:p>
                      <a:r>
                        <a:rPr lang="tr-TR" sz="1200" dirty="0"/>
                        <a:t>Maksimum İvme (m/s2)</a:t>
                      </a:r>
                    </a:p>
                  </a:txBody>
                  <a:tcPr/>
                </a:tc>
                <a:tc>
                  <a:txBody>
                    <a:bodyPr/>
                    <a:lstStyle/>
                    <a:p>
                      <a:r>
                        <a:rPr lang="tr-TR" sz="1200"/>
                        <a:t>xx</a:t>
                      </a:r>
                    </a:p>
                  </a:txBody>
                  <a:tcPr/>
                </a:tc>
                <a:tc>
                  <a:txBody>
                    <a:bodyPr/>
                    <a:lstStyle/>
                    <a:p>
                      <a:r>
                        <a:rPr lang="tr-TR" sz="1200"/>
                        <a:t>xx</a:t>
                      </a:r>
                    </a:p>
                  </a:txBody>
                  <a:tcPr/>
                </a:tc>
                <a:tc>
                  <a:txBody>
                    <a:bodyPr/>
                    <a:lstStyle/>
                    <a:p>
                      <a:r>
                        <a:rPr lang="tr-TR" sz="1200"/>
                        <a:t>xx</a:t>
                      </a:r>
                    </a:p>
                  </a:txBody>
                  <a:tcPr/>
                </a:tc>
                <a:extLst>
                  <a:ext uri="{0D108BD9-81ED-4DB2-BD59-A6C34878D82A}">
                    <a16:rowId xmlns:a16="http://schemas.microsoft.com/office/drawing/2014/main" val="1136336347"/>
                  </a:ext>
                </a:extLst>
              </a:tr>
              <a:tr h="416032">
                <a:tc>
                  <a:txBody>
                    <a:bodyPr/>
                    <a:lstStyle/>
                    <a:p>
                      <a:r>
                        <a:rPr lang="tr-TR" sz="1200" dirty="0"/>
                        <a:t>Rampa Çıkış Hızı (m/s)</a:t>
                      </a:r>
                    </a:p>
                  </a:txBody>
                  <a:tcPr/>
                </a:tc>
                <a:tc>
                  <a:txBody>
                    <a:bodyPr/>
                    <a:lstStyle/>
                    <a:p>
                      <a:r>
                        <a:rPr lang="tr-TR" sz="1200"/>
                        <a:t>xx</a:t>
                      </a:r>
                    </a:p>
                  </a:txBody>
                  <a:tcPr/>
                </a:tc>
                <a:tc>
                  <a:txBody>
                    <a:bodyPr/>
                    <a:lstStyle/>
                    <a:p>
                      <a:r>
                        <a:rPr lang="tr-TR" sz="1200"/>
                        <a:t>xx</a:t>
                      </a:r>
                    </a:p>
                  </a:txBody>
                  <a:tcPr/>
                </a:tc>
                <a:tc>
                  <a:txBody>
                    <a:bodyPr/>
                    <a:lstStyle/>
                    <a:p>
                      <a:r>
                        <a:rPr lang="tr-TR" sz="1200"/>
                        <a:t>xx</a:t>
                      </a:r>
                    </a:p>
                  </a:txBody>
                  <a:tcPr/>
                </a:tc>
                <a:extLst>
                  <a:ext uri="{0D108BD9-81ED-4DB2-BD59-A6C34878D82A}">
                    <a16:rowId xmlns:a16="http://schemas.microsoft.com/office/drawing/2014/main" val="2950926112"/>
                  </a:ext>
                </a:extLst>
              </a:tr>
              <a:tr h="416032">
                <a:tc>
                  <a:txBody>
                    <a:bodyPr/>
                    <a:lstStyle/>
                    <a:p>
                      <a:r>
                        <a:rPr lang="tr-TR" sz="1200" dirty="0"/>
                        <a:t>CP </a:t>
                      </a:r>
                      <a:r>
                        <a:rPr lang="tr-TR" sz="1200" dirty="0" err="1"/>
                        <a:t>Lokasyonu</a:t>
                      </a:r>
                      <a:r>
                        <a:rPr lang="tr-TR" sz="1200" dirty="0"/>
                        <a:t> (burundan) (mm)</a:t>
                      </a:r>
                    </a:p>
                  </a:txBody>
                  <a:tcPr/>
                </a:tc>
                <a:tc>
                  <a:txBody>
                    <a:bodyPr/>
                    <a:lstStyle/>
                    <a:p>
                      <a:r>
                        <a:rPr lang="tr-TR" sz="1200"/>
                        <a:t>xx</a:t>
                      </a:r>
                    </a:p>
                  </a:txBody>
                  <a:tcPr/>
                </a:tc>
                <a:tc>
                  <a:txBody>
                    <a:bodyPr/>
                    <a:lstStyle/>
                    <a:p>
                      <a:r>
                        <a:rPr lang="tr-TR" sz="1200"/>
                        <a:t>xx</a:t>
                      </a:r>
                    </a:p>
                  </a:txBody>
                  <a:tcPr/>
                </a:tc>
                <a:tc>
                  <a:txBody>
                    <a:bodyPr/>
                    <a:lstStyle/>
                    <a:p>
                      <a:r>
                        <a:rPr lang="tr-TR" sz="1200"/>
                        <a:t>xx</a:t>
                      </a:r>
                    </a:p>
                  </a:txBody>
                  <a:tcPr/>
                </a:tc>
                <a:extLst>
                  <a:ext uri="{0D108BD9-81ED-4DB2-BD59-A6C34878D82A}">
                    <a16:rowId xmlns:a16="http://schemas.microsoft.com/office/drawing/2014/main" val="2504110176"/>
                  </a:ext>
                </a:extLst>
              </a:tr>
              <a:tr h="4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200" dirty="0"/>
                        <a:t>CG </a:t>
                      </a:r>
                      <a:r>
                        <a:rPr lang="tr-TR" sz="1200" dirty="0" err="1"/>
                        <a:t>Lokasyonu</a:t>
                      </a:r>
                      <a:r>
                        <a:rPr lang="tr-TR" sz="1200" dirty="0"/>
                        <a:t> (burundan) (mm)</a:t>
                      </a:r>
                    </a:p>
                  </a:txBody>
                  <a:tcPr/>
                </a:tc>
                <a:tc>
                  <a:txBody>
                    <a:bodyPr/>
                    <a:lstStyle/>
                    <a:p>
                      <a:r>
                        <a:rPr lang="tr-TR" sz="1200"/>
                        <a:t>xx</a:t>
                      </a:r>
                    </a:p>
                  </a:txBody>
                  <a:tcPr/>
                </a:tc>
                <a:tc>
                  <a:txBody>
                    <a:bodyPr/>
                    <a:lstStyle/>
                    <a:p>
                      <a:r>
                        <a:rPr lang="tr-TR" sz="1200"/>
                        <a:t>xx</a:t>
                      </a:r>
                    </a:p>
                  </a:txBody>
                  <a:tcPr/>
                </a:tc>
                <a:tc>
                  <a:txBody>
                    <a:bodyPr/>
                    <a:lstStyle/>
                    <a:p>
                      <a:r>
                        <a:rPr lang="tr-TR" sz="1200"/>
                        <a:t>xx</a:t>
                      </a:r>
                    </a:p>
                  </a:txBody>
                  <a:tcPr/>
                </a:tc>
                <a:extLst>
                  <a:ext uri="{0D108BD9-81ED-4DB2-BD59-A6C34878D82A}">
                    <a16:rowId xmlns:a16="http://schemas.microsoft.com/office/drawing/2014/main" val="1633439325"/>
                  </a:ext>
                </a:extLst>
              </a:tr>
              <a:tr h="4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200"/>
                        <a:t>Statik </a:t>
                      </a:r>
                      <a:r>
                        <a:rPr lang="tr-TR" sz="1200" err="1"/>
                        <a:t>Marjin</a:t>
                      </a:r>
                      <a:r>
                        <a:rPr lang="tr-TR" sz="1200"/>
                        <a:t> (0.3 </a:t>
                      </a:r>
                      <a:r>
                        <a:rPr lang="tr-TR" sz="1200" err="1"/>
                        <a:t>Mach’taki</a:t>
                      </a:r>
                      <a:r>
                        <a:rPr lang="tr-TR" sz="1200"/>
                        <a:t> değeri)</a:t>
                      </a:r>
                    </a:p>
                  </a:txBody>
                  <a:tcPr/>
                </a:tc>
                <a:tc>
                  <a:txBody>
                    <a:bodyPr/>
                    <a:lstStyle/>
                    <a:p>
                      <a:r>
                        <a:rPr lang="tr-TR" sz="1200"/>
                        <a:t>xx</a:t>
                      </a:r>
                    </a:p>
                  </a:txBody>
                  <a:tcPr/>
                </a:tc>
                <a:tc>
                  <a:txBody>
                    <a:bodyPr/>
                    <a:lstStyle/>
                    <a:p>
                      <a:r>
                        <a:rPr lang="tr-TR" sz="1200"/>
                        <a:t>xx</a:t>
                      </a:r>
                    </a:p>
                  </a:txBody>
                  <a:tcPr/>
                </a:tc>
                <a:tc>
                  <a:txBody>
                    <a:bodyPr/>
                    <a:lstStyle/>
                    <a:p>
                      <a:r>
                        <a:rPr lang="tr-TR" sz="1200" dirty="0"/>
                        <a:t>xx</a:t>
                      </a:r>
                    </a:p>
                  </a:txBody>
                  <a:tcPr/>
                </a:tc>
                <a:extLst>
                  <a:ext uri="{0D108BD9-81ED-4DB2-BD59-A6C34878D82A}">
                    <a16:rowId xmlns:a16="http://schemas.microsoft.com/office/drawing/2014/main" val="4179276257"/>
                  </a:ext>
                </a:extLst>
              </a:tr>
            </a:tbl>
          </a:graphicData>
        </a:graphic>
      </p:graphicFrame>
      <p:sp>
        <p:nvSpPr>
          <p:cNvPr id="4" name="Footer Placeholder 8">
            <a:extLst>
              <a:ext uri="{FF2B5EF4-FFF2-40B4-BE49-F238E27FC236}">
                <a16:creationId xmlns:a16="http://schemas.microsoft.com/office/drawing/2014/main" id="{25117F46-E54C-B14C-B93F-5BF4427C9E75}"/>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0649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27911" y="2131052"/>
            <a:ext cx="9525747" cy="2950744"/>
          </a:xfrm>
        </p:spPr>
        <p:txBody>
          <a:bodyPr anchor="ctr">
            <a:normAutofit/>
          </a:bodyPr>
          <a:lstStyle/>
          <a:p>
            <a:pPr>
              <a:lnSpc>
                <a:spcPct val="150000"/>
              </a:lnSpc>
              <a:spcAft>
                <a:spcPts val="1200"/>
              </a:spcAft>
            </a:pPr>
            <a:r>
              <a:rPr lang="tr-TR" sz="4800" b="1">
                <a:solidFill>
                  <a:srgbClr val="0070C0"/>
                </a:solidFill>
                <a:latin typeface="+mn-lt"/>
                <a:cs typeface="Times New Roman" panose="02020603050405020304" pitchFamily="18" charset="0"/>
              </a:rPr>
              <a:t>Roket Alt Sistemleri</a:t>
            </a:r>
            <a:br>
              <a:rPr lang="tr-TR" sz="4800" b="1">
                <a:solidFill>
                  <a:srgbClr val="0070C0"/>
                </a:solidFill>
                <a:latin typeface="+mn-lt"/>
                <a:cs typeface="Times New Roman" panose="02020603050405020304" pitchFamily="18" charset="0"/>
              </a:rPr>
            </a:br>
            <a:r>
              <a:rPr lang="tr-TR" sz="4800" b="1">
                <a:solidFill>
                  <a:srgbClr val="0070C0"/>
                </a:solidFill>
                <a:latin typeface="+mn-lt"/>
                <a:cs typeface="Times New Roman" panose="02020603050405020304" pitchFamily="18" charset="0"/>
              </a:rPr>
              <a:t>Mekanik Görünümleri </a:t>
            </a:r>
            <a:r>
              <a:rPr lang="en-US" sz="4800" b="1" err="1">
                <a:solidFill>
                  <a:srgbClr val="0070C0"/>
                </a:solidFill>
                <a:latin typeface="+mn-lt"/>
                <a:cs typeface="Times New Roman" panose="02020603050405020304" pitchFamily="18" charset="0"/>
              </a:rPr>
              <a:t>ve</a:t>
            </a:r>
            <a:r>
              <a:rPr lang="tr-TR" sz="4800" b="1">
                <a:solidFill>
                  <a:srgbClr val="0070C0"/>
                </a:solidFill>
                <a:latin typeface="+mn-lt"/>
                <a:cs typeface="Times New Roman" panose="02020603050405020304" pitchFamily="18" charset="0"/>
              </a:rPr>
              <a:t> Detayları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6</a:t>
            </a:fld>
            <a:endParaRPr lang="tr-TR"/>
          </a:p>
        </p:txBody>
      </p:sp>
      <p:pic>
        <p:nvPicPr>
          <p:cNvPr id="13" name="Picture 12"/>
          <p:cNvPicPr>
            <a:picLocks noChangeAspect="1"/>
          </p:cNvPicPr>
          <p:nvPr/>
        </p:nvPicPr>
        <p:blipFill rotWithShape="1">
          <a:blip r:embed="rId3"/>
          <a:srcRect l="15894"/>
          <a:stretch/>
        </p:blipFill>
        <p:spPr>
          <a:xfrm>
            <a:off x="10765518" y="0"/>
            <a:ext cx="1377714" cy="1116000"/>
          </a:xfrm>
          <a:prstGeom prst="rect">
            <a:avLst/>
          </a:prstGeom>
        </p:spPr>
      </p:pic>
      <p:sp>
        <p:nvSpPr>
          <p:cNvPr id="15" name="Date Placeholder 3"/>
          <p:cNvSpPr>
            <a:spLocks noGrp="1"/>
          </p:cNvSpPr>
          <p:nvPr>
            <p:ph type="dt" sz="half" idx="10"/>
          </p:nvPr>
        </p:nvSpPr>
        <p:spPr>
          <a:xfrm>
            <a:off x="838200" y="6356350"/>
            <a:ext cx="2743200" cy="365125"/>
          </a:xfrm>
        </p:spPr>
        <p:txBody>
          <a:bodyPr/>
          <a:lstStyle/>
          <a:p>
            <a:fld id="{EDD7EE19-348B-4A60-8810-E2854B3ED486}" type="datetime2">
              <a:rPr lang="tr-TR" smtClean="0"/>
              <a:t>7 Temmuz 2025 Pazartesi</a:t>
            </a:fld>
            <a:endParaRPr lang="tr-TR"/>
          </a:p>
        </p:txBody>
      </p:sp>
      <p:sp>
        <p:nvSpPr>
          <p:cNvPr id="18" name="TextBox 17"/>
          <p:cNvSpPr txBox="1"/>
          <p:nvPr/>
        </p:nvSpPr>
        <p:spPr>
          <a:xfrm>
            <a:off x="54592" y="57258"/>
            <a:ext cx="1171978" cy="1116000"/>
          </a:xfrm>
          <a:prstGeom prst="rect">
            <a:avLst/>
          </a:prstGeom>
          <a:noFill/>
          <a:ln>
            <a:solidFill>
              <a:schemeClr val="tx1"/>
            </a:solidFill>
          </a:ln>
        </p:spPr>
        <p:txBody>
          <a:bodyPr wrap="square" rtlCol="0" anchor="ctr">
            <a:spAutoFit/>
          </a:bodyPr>
          <a:lstStyle/>
          <a:p>
            <a:pPr algn="ctr"/>
            <a:r>
              <a:rPr lang="tr-TR">
                <a:latin typeface="+mj-lt"/>
                <a:cs typeface="Times New Roman" panose="02020603050405020304" pitchFamily="18" charset="0"/>
              </a:rPr>
              <a:t>Takım Logosu</a:t>
            </a:r>
          </a:p>
        </p:txBody>
      </p:sp>
      <p:sp>
        <p:nvSpPr>
          <p:cNvPr id="4" name="Footer Placeholder 8">
            <a:extLst>
              <a:ext uri="{FF2B5EF4-FFF2-40B4-BE49-F238E27FC236}">
                <a16:creationId xmlns:a16="http://schemas.microsoft.com/office/drawing/2014/main" id="{4409A90B-EF41-0D34-1BF1-2CD4955BAF94}"/>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913653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500" b="1">
                <a:solidFill>
                  <a:srgbClr val="0070C0"/>
                </a:solidFill>
                <a:latin typeface="Times New Roman" panose="02020603050405020304" pitchFamily="18" charset="0"/>
                <a:cs typeface="Times New Roman" panose="02020603050405020304" pitchFamily="18" charset="0"/>
              </a:rPr>
              <a:t>Kurtarma Sistemi</a:t>
            </a:r>
            <a:r>
              <a:rPr lang="en-US" sz="3500" b="1">
                <a:solidFill>
                  <a:srgbClr val="0070C0"/>
                </a:solidFill>
                <a:latin typeface="Times New Roman" panose="02020603050405020304" pitchFamily="18" charset="0"/>
                <a:cs typeface="Times New Roman" panose="02020603050405020304" pitchFamily="18" charset="0"/>
              </a:rPr>
              <a:t> </a:t>
            </a:r>
            <a:r>
              <a:rPr lang="tr-TR" sz="3500" b="1">
                <a:solidFill>
                  <a:srgbClr val="0070C0"/>
                </a:solidFill>
                <a:latin typeface="Times New Roman" panose="02020603050405020304" pitchFamily="18" charset="0"/>
                <a:cs typeface="Times New Roman" panose="02020603050405020304" pitchFamily="18" charset="0"/>
              </a:rPr>
              <a:t>Mekanik Görünüm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7</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875878" y="2261584"/>
            <a:ext cx="2988163" cy="1835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800" b="1"/>
              <a:t>Paraşüt Açma Sistemi </a:t>
            </a:r>
          </a:p>
          <a:p>
            <a:pPr algn="ctr"/>
            <a:r>
              <a:rPr lang="tr-TR" sz="2800" b="1"/>
              <a:t> 3 Boyutlu Görünüm (CAD) </a:t>
            </a:r>
          </a:p>
        </p:txBody>
      </p:sp>
      <p:sp>
        <p:nvSpPr>
          <p:cNvPr id="18" name="Dikdörtgen 10"/>
          <p:cNvSpPr/>
          <p:nvPr/>
        </p:nvSpPr>
        <p:spPr>
          <a:xfrm>
            <a:off x="4312930" y="2261901"/>
            <a:ext cx="3301538" cy="183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err="1"/>
              <a:t>Entegre</a:t>
            </a:r>
            <a:r>
              <a:rPr lang="en-US" sz="2400" b="1"/>
              <a:t> </a:t>
            </a:r>
            <a:r>
              <a:rPr lang="en-US" sz="2400" b="1" err="1"/>
              <a:t>Edilmemiş</a:t>
            </a:r>
            <a:r>
              <a:rPr lang="en-US" sz="2400" b="1"/>
              <a:t> </a:t>
            </a:r>
            <a:r>
              <a:rPr lang="tr-TR" sz="2400" b="1"/>
              <a:t>Paraşüt Açma Sistemi </a:t>
            </a:r>
          </a:p>
          <a:p>
            <a:pPr algn="ctr"/>
            <a:r>
              <a:rPr lang="en-US" sz="2400" b="1" err="1"/>
              <a:t>Üretilmiş</a:t>
            </a:r>
            <a:r>
              <a:rPr lang="en-US" sz="2400" b="1"/>
              <a:t> </a:t>
            </a:r>
            <a:r>
              <a:rPr lang="en-US" sz="2400" b="1" err="1"/>
              <a:t>Görüntü</a:t>
            </a:r>
            <a:r>
              <a:rPr lang="en-US" sz="2400" b="1"/>
              <a:t> </a:t>
            </a:r>
            <a:endParaRPr lang="tr-TR" sz="2400" b="1"/>
          </a:p>
        </p:txBody>
      </p:sp>
      <p:sp>
        <p:nvSpPr>
          <p:cNvPr id="20" name="Dikdörtgen 10"/>
          <p:cNvSpPr/>
          <p:nvPr/>
        </p:nvSpPr>
        <p:spPr>
          <a:xfrm>
            <a:off x="8063357" y="2261584"/>
            <a:ext cx="2926077" cy="1835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err="1"/>
              <a:t>Entegre</a:t>
            </a:r>
            <a:r>
              <a:rPr lang="en-US" sz="2400" b="1"/>
              <a:t> </a:t>
            </a:r>
            <a:r>
              <a:rPr lang="en-US" sz="2400" b="1" err="1"/>
              <a:t>Edilmiş</a:t>
            </a:r>
            <a:r>
              <a:rPr lang="en-US" sz="2400" b="1"/>
              <a:t> </a:t>
            </a:r>
            <a:r>
              <a:rPr lang="tr-TR" sz="2400" b="1"/>
              <a:t>Paraşüt Açma Sistemi </a:t>
            </a:r>
          </a:p>
          <a:p>
            <a:pPr algn="ctr"/>
            <a:r>
              <a:rPr lang="en-US" sz="2400" b="1" err="1"/>
              <a:t>Üretilmiş</a:t>
            </a:r>
            <a:r>
              <a:rPr lang="en-US" sz="2400" b="1"/>
              <a:t> </a:t>
            </a:r>
            <a:r>
              <a:rPr lang="en-US" sz="2400" b="1" err="1"/>
              <a:t>Görüntü</a:t>
            </a:r>
            <a:r>
              <a:rPr lang="en-US" sz="2400" b="1"/>
              <a:t> </a:t>
            </a:r>
            <a:endParaRPr lang="tr-TR" sz="2400" b="1"/>
          </a:p>
        </p:txBody>
      </p:sp>
      <p:sp>
        <p:nvSpPr>
          <p:cNvPr id="7" name="Footer Placeholder 8">
            <a:extLst>
              <a:ext uri="{FF2B5EF4-FFF2-40B4-BE49-F238E27FC236}">
                <a16:creationId xmlns:a16="http://schemas.microsoft.com/office/drawing/2014/main" id="{4C7509C5-05F9-264B-E1A5-6A1227740B9D}"/>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253770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500" b="1">
                <a:solidFill>
                  <a:srgbClr val="0070C0"/>
                </a:solidFill>
                <a:latin typeface="Times New Roman" panose="02020603050405020304" pitchFamily="18" charset="0"/>
                <a:cs typeface="Times New Roman" panose="02020603050405020304" pitchFamily="18" charset="0"/>
              </a:rPr>
              <a:t>Kurtarma Sistemi</a:t>
            </a:r>
            <a:r>
              <a:rPr lang="en-US" sz="3500" b="1">
                <a:solidFill>
                  <a:srgbClr val="0070C0"/>
                </a:solidFill>
                <a:latin typeface="Times New Roman" panose="02020603050405020304" pitchFamily="18" charset="0"/>
                <a:cs typeface="Times New Roman" panose="02020603050405020304" pitchFamily="18" charset="0"/>
              </a:rPr>
              <a:t> </a:t>
            </a:r>
            <a:r>
              <a:rPr lang="tr-TR" sz="3500" b="1">
                <a:solidFill>
                  <a:srgbClr val="0070C0"/>
                </a:solidFill>
                <a:latin typeface="Times New Roman" panose="02020603050405020304" pitchFamily="18" charset="0"/>
                <a:cs typeface="Times New Roman" panose="02020603050405020304" pitchFamily="18" charset="0"/>
              </a:rPr>
              <a:t>Mekanik Görünüm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8</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7" name="Dikdörtgen 16"/>
          <p:cNvSpPr/>
          <p:nvPr/>
        </p:nvSpPr>
        <p:spPr>
          <a:xfrm>
            <a:off x="702824" y="2581862"/>
            <a:ext cx="3013951"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800" b="1" dirty="0"/>
              <a:t>Paraşüt Bölümleri 3 Boyutlu Görünüm (CAD)</a:t>
            </a:r>
          </a:p>
        </p:txBody>
      </p:sp>
      <p:sp>
        <p:nvSpPr>
          <p:cNvPr id="21" name="Dikdörtgen 16"/>
          <p:cNvSpPr/>
          <p:nvPr/>
        </p:nvSpPr>
        <p:spPr>
          <a:xfrm>
            <a:off x="4180315" y="2581862"/>
            <a:ext cx="3013951"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800" b="1" dirty="0"/>
              <a:t>Paraşüt</a:t>
            </a:r>
            <a:r>
              <a:rPr lang="en-US" sz="2800" b="1" dirty="0" err="1"/>
              <a:t>ler</a:t>
            </a:r>
            <a:r>
              <a:rPr lang="en-US" sz="2800" b="1" dirty="0"/>
              <a:t> </a:t>
            </a:r>
            <a:r>
              <a:rPr lang="en-US" sz="2800" b="1" dirty="0" err="1"/>
              <a:t>Ayrı</a:t>
            </a:r>
            <a:r>
              <a:rPr lang="en-US" sz="2800" b="1" dirty="0"/>
              <a:t> </a:t>
            </a:r>
            <a:r>
              <a:rPr lang="en-US" sz="2800" b="1" dirty="0" err="1"/>
              <a:t>Görüntü</a:t>
            </a:r>
            <a:r>
              <a:rPr lang="en-US" sz="2800" b="1" dirty="0"/>
              <a:t> </a:t>
            </a:r>
            <a:endParaRPr lang="tr-TR" sz="2800" b="1" dirty="0"/>
          </a:p>
        </p:txBody>
      </p:sp>
      <p:sp>
        <p:nvSpPr>
          <p:cNvPr id="23" name="Dikdörtgen 16"/>
          <p:cNvSpPr/>
          <p:nvPr/>
        </p:nvSpPr>
        <p:spPr>
          <a:xfrm>
            <a:off x="7657806" y="2620217"/>
            <a:ext cx="3013951"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800" b="1" dirty="0"/>
              <a:t>Paraşüt Bölümleri</a:t>
            </a:r>
            <a:r>
              <a:rPr lang="en-US" sz="2800" b="1" dirty="0"/>
              <a:t> </a:t>
            </a:r>
            <a:r>
              <a:rPr lang="en-US" sz="2800" b="1" dirty="0" err="1"/>
              <a:t>Entegre</a:t>
            </a:r>
            <a:r>
              <a:rPr lang="en-US" sz="2800" b="1" dirty="0"/>
              <a:t> </a:t>
            </a:r>
            <a:r>
              <a:rPr lang="en-US" sz="2800" b="1" dirty="0" err="1"/>
              <a:t>Üretim</a:t>
            </a:r>
            <a:r>
              <a:rPr lang="en-US" sz="2800" b="1" dirty="0"/>
              <a:t> </a:t>
            </a:r>
            <a:r>
              <a:rPr lang="en-US" sz="2800" b="1" dirty="0" err="1"/>
              <a:t>Sonrası</a:t>
            </a:r>
            <a:r>
              <a:rPr lang="en-US" sz="2800" b="1" dirty="0"/>
              <a:t> </a:t>
            </a:r>
            <a:r>
              <a:rPr lang="en-US" sz="2800" b="1" dirty="0" err="1"/>
              <a:t>Görüntü</a:t>
            </a:r>
            <a:r>
              <a:rPr lang="en-US" sz="2800" b="1" dirty="0"/>
              <a:t> </a:t>
            </a:r>
            <a:endParaRPr lang="tr-TR" sz="2800" b="1" dirty="0"/>
          </a:p>
        </p:txBody>
      </p:sp>
      <p:sp>
        <p:nvSpPr>
          <p:cNvPr id="7" name="Footer Placeholder 8">
            <a:extLst>
              <a:ext uri="{FF2B5EF4-FFF2-40B4-BE49-F238E27FC236}">
                <a16:creationId xmlns:a16="http://schemas.microsoft.com/office/drawing/2014/main" id="{274599DD-C3E8-3CBE-A15C-DF6E996DCF44}"/>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125284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500" b="1">
                <a:solidFill>
                  <a:srgbClr val="0070C0"/>
                </a:solidFill>
                <a:latin typeface="Times New Roman" panose="02020603050405020304" pitchFamily="18" charset="0"/>
                <a:cs typeface="Times New Roman" panose="02020603050405020304" pitchFamily="18" charset="0"/>
              </a:rPr>
              <a:t>Görev Yükü Mekanik Görünüm</a:t>
            </a: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3" name="Slide Number Placeholder 2"/>
          <p:cNvSpPr>
            <a:spLocks noGrp="1"/>
          </p:cNvSpPr>
          <p:nvPr>
            <p:ph type="sldNum" sz="quarter" idx="12"/>
          </p:nvPr>
        </p:nvSpPr>
        <p:spPr/>
        <p:txBody>
          <a:bodyPr/>
          <a:lstStyle/>
          <a:p>
            <a:fld id="{87BEDC82-49FF-42E3-B7EA-26FF728940D5}" type="slidenum">
              <a:rPr lang="tr-TR" smtClean="0"/>
              <a:t>9</a:t>
            </a:fld>
            <a:endParaRPr lang="tr-T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4"/>
          <a:stretch>
            <a:fillRect/>
          </a:stretch>
        </p:blipFill>
        <p:spPr>
          <a:xfrm>
            <a:off x="10979840" y="0"/>
            <a:ext cx="1212160" cy="1212160"/>
          </a:xfrm>
          <a:prstGeom prst="rect">
            <a:avLst/>
          </a:prstGeom>
        </p:spPr>
      </p:pic>
      <p:sp>
        <p:nvSpPr>
          <p:cNvPr id="16" name="Dikdörtgen 15">
            <a:extLst>
              <a:ext uri="{FF2B5EF4-FFF2-40B4-BE49-F238E27FC236}">
                <a16:creationId xmlns:a16="http://schemas.microsoft.com/office/drawing/2014/main" id="{9BD3AC94-A04D-4751-A230-7FEBCA6DBA93}"/>
              </a:ext>
            </a:extLst>
          </p:cNvPr>
          <p:cNvSpPr/>
          <p:nvPr/>
        </p:nvSpPr>
        <p:spPr>
          <a:xfrm>
            <a:off x="593237" y="2366060"/>
            <a:ext cx="4999797"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Görev Yükü 3 Boyutlu Görünüm </a:t>
            </a:r>
            <a:endParaRPr lang="en-US" sz="3200" b="1"/>
          </a:p>
          <a:p>
            <a:pPr algn="ctr"/>
            <a:r>
              <a:rPr lang="tr-TR" sz="3200" b="1"/>
              <a:t>(CAD)</a:t>
            </a:r>
          </a:p>
        </p:txBody>
      </p:sp>
      <p:sp>
        <p:nvSpPr>
          <p:cNvPr id="19" name="Dikdörtgen 15">
            <a:extLst>
              <a:ext uri="{FF2B5EF4-FFF2-40B4-BE49-F238E27FC236}">
                <a16:creationId xmlns:a16="http://schemas.microsoft.com/office/drawing/2014/main" id="{9BD3AC94-A04D-4751-A230-7FEBCA6DBA93}"/>
              </a:ext>
            </a:extLst>
          </p:cNvPr>
          <p:cNvSpPr/>
          <p:nvPr/>
        </p:nvSpPr>
        <p:spPr>
          <a:xfrm>
            <a:off x="6110701" y="2366060"/>
            <a:ext cx="4999797"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Görev Yükü </a:t>
            </a:r>
            <a:r>
              <a:rPr lang="en-US" sz="3200" b="1"/>
              <a:t>Üretim </a:t>
            </a:r>
            <a:r>
              <a:rPr lang="en-US" sz="3200" b="1" err="1"/>
              <a:t>Sonrası</a:t>
            </a:r>
            <a:r>
              <a:rPr lang="en-US" sz="3200" b="1"/>
              <a:t> </a:t>
            </a:r>
            <a:r>
              <a:rPr lang="en-US" sz="3200" b="1" err="1"/>
              <a:t>Görüntü</a:t>
            </a:r>
            <a:r>
              <a:rPr lang="en-US" sz="3200" b="1"/>
              <a:t> </a:t>
            </a:r>
            <a:endParaRPr lang="tr-TR" sz="3200" b="1"/>
          </a:p>
        </p:txBody>
      </p:sp>
      <p:sp>
        <p:nvSpPr>
          <p:cNvPr id="9" name="Rectangle 8"/>
          <p:cNvSpPr/>
          <p:nvPr/>
        </p:nvSpPr>
        <p:spPr>
          <a:xfrm>
            <a:off x="-67466" y="5205459"/>
            <a:ext cx="11421265" cy="369332"/>
          </a:xfrm>
          <a:prstGeom prst="rect">
            <a:avLst/>
          </a:prstGeom>
        </p:spPr>
        <p:txBody>
          <a:bodyPr wrap="square">
            <a:spAutoFit/>
          </a:bodyPr>
          <a:lstStyle/>
          <a:p>
            <a:pPr marL="285750" indent="-285750" algn="just">
              <a:buFont typeface="Wingdings" panose="05000000000000000000" pitchFamily="2" charset="2"/>
              <a:buChar char="q"/>
            </a:pPr>
            <a:r>
              <a:rPr lang="tr-TR" dirty="0">
                <a:cs typeface="Times New Roman" panose="02020603050405020304" pitchFamily="18" charset="0"/>
              </a:rPr>
              <a:t>Görev Yükü üzerinde takım ismi yazmalı, takım üyesi ile fotosu olmalı ya da </a:t>
            </a:r>
            <a:r>
              <a:rPr lang="en-US" dirty="0">
                <a:cs typeface="Times New Roman" panose="02020603050405020304" pitchFamily="18" charset="0"/>
              </a:rPr>
              <a:t>sticker vb. </a:t>
            </a:r>
            <a:r>
              <a:rPr lang="en-US" dirty="0" err="1">
                <a:cs typeface="Times New Roman" panose="02020603050405020304" pitchFamily="18" charset="0"/>
              </a:rPr>
              <a:t>bir</a:t>
            </a:r>
            <a:r>
              <a:rPr lang="en-US" dirty="0">
                <a:cs typeface="Times New Roman" panose="02020603050405020304" pitchFamily="18" charset="0"/>
              </a:rPr>
              <a:t> </a:t>
            </a:r>
            <a:r>
              <a:rPr lang="tr-TR" dirty="0">
                <a:cs typeface="Times New Roman" panose="02020603050405020304" pitchFamily="18" charset="0"/>
              </a:rPr>
              <a:t>logo olmalı. </a:t>
            </a:r>
          </a:p>
        </p:txBody>
      </p:sp>
      <p:sp>
        <p:nvSpPr>
          <p:cNvPr id="7" name="Footer Placeholder 8">
            <a:extLst>
              <a:ext uri="{FF2B5EF4-FFF2-40B4-BE49-F238E27FC236}">
                <a16:creationId xmlns:a16="http://schemas.microsoft.com/office/drawing/2014/main" id="{1418F13E-EB45-8876-8D98-1573285321B2}"/>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3003721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400" b="1">
                <a:solidFill>
                  <a:srgbClr val="0070C0"/>
                </a:solidFill>
                <a:latin typeface="Times New Roman" panose="02020603050405020304" pitchFamily="18" charset="0"/>
                <a:cs typeface="Times New Roman" panose="02020603050405020304" pitchFamily="18" charset="0"/>
              </a:rPr>
              <a:t>Kademe Ayırma Sistemi</a:t>
            </a:r>
            <a:r>
              <a:rPr lang="en-US" sz="3400" b="1">
                <a:solidFill>
                  <a:srgbClr val="0070C0"/>
                </a:solidFill>
                <a:latin typeface="Times New Roman" panose="02020603050405020304" pitchFamily="18" charset="0"/>
                <a:cs typeface="Times New Roman" panose="02020603050405020304" pitchFamily="18" charset="0"/>
              </a:rPr>
              <a:t> </a:t>
            </a:r>
            <a:r>
              <a:rPr lang="tr-TR" sz="3400" b="1">
                <a:solidFill>
                  <a:srgbClr val="0070C0"/>
                </a:solidFill>
                <a:latin typeface="Times New Roman" panose="02020603050405020304" pitchFamily="18" charset="0"/>
                <a:cs typeface="Times New Roman" panose="02020603050405020304" pitchFamily="18" charset="0"/>
              </a:rPr>
              <a:t>Mekanik Görünüm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10</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875878" y="2261584"/>
            <a:ext cx="2988163" cy="1835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800" b="1" dirty="0"/>
              <a:t>Kademe Ayırma Sistemi </a:t>
            </a:r>
          </a:p>
          <a:p>
            <a:pPr algn="ctr"/>
            <a:r>
              <a:rPr lang="tr-TR" sz="2800" b="1" dirty="0"/>
              <a:t> 3 Boyutlu Görünüm (CAD) </a:t>
            </a:r>
          </a:p>
        </p:txBody>
      </p:sp>
      <p:sp>
        <p:nvSpPr>
          <p:cNvPr id="18" name="Dikdörtgen 10"/>
          <p:cNvSpPr/>
          <p:nvPr/>
        </p:nvSpPr>
        <p:spPr>
          <a:xfrm>
            <a:off x="4312930" y="2261901"/>
            <a:ext cx="3301538" cy="183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Entegre</a:t>
            </a:r>
            <a:r>
              <a:rPr lang="en-US" sz="2400" b="1" dirty="0"/>
              <a:t> </a:t>
            </a:r>
            <a:r>
              <a:rPr lang="en-US" sz="2400" b="1" dirty="0" err="1"/>
              <a:t>Edilmemiş</a:t>
            </a:r>
            <a:r>
              <a:rPr lang="en-US" sz="2400" b="1" dirty="0"/>
              <a:t> </a:t>
            </a:r>
            <a:r>
              <a:rPr lang="tr-TR" sz="2400" b="1" dirty="0"/>
              <a:t>Kademe Ayırma Sistemi </a:t>
            </a:r>
          </a:p>
          <a:p>
            <a:pPr algn="ctr"/>
            <a:r>
              <a:rPr lang="en-US" sz="2400" b="1" dirty="0" err="1"/>
              <a:t>Üretilmiş</a:t>
            </a:r>
            <a:r>
              <a:rPr lang="en-US" sz="2400" b="1" dirty="0"/>
              <a:t> </a:t>
            </a:r>
            <a:r>
              <a:rPr lang="en-US" sz="2400" b="1" dirty="0" err="1"/>
              <a:t>Görüntü</a:t>
            </a:r>
            <a:r>
              <a:rPr lang="en-US" sz="2400" b="1" dirty="0"/>
              <a:t> </a:t>
            </a:r>
            <a:endParaRPr lang="tr-TR" sz="2400" b="1" dirty="0"/>
          </a:p>
        </p:txBody>
      </p:sp>
      <p:sp>
        <p:nvSpPr>
          <p:cNvPr id="20" name="Dikdörtgen 10"/>
          <p:cNvSpPr/>
          <p:nvPr/>
        </p:nvSpPr>
        <p:spPr>
          <a:xfrm>
            <a:off x="8063357" y="2261584"/>
            <a:ext cx="2926077" cy="1835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Entegre</a:t>
            </a:r>
            <a:r>
              <a:rPr lang="en-US" sz="2400" b="1" dirty="0"/>
              <a:t> </a:t>
            </a:r>
            <a:r>
              <a:rPr lang="en-US" sz="2400" b="1" dirty="0" err="1"/>
              <a:t>Edilmiş</a:t>
            </a:r>
            <a:r>
              <a:rPr lang="en-US" sz="2400" b="1" dirty="0"/>
              <a:t> </a:t>
            </a:r>
            <a:r>
              <a:rPr lang="tr-TR" sz="2400" b="1" dirty="0"/>
              <a:t>Kademe Ayırma Sistemi </a:t>
            </a:r>
          </a:p>
          <a:p>
            <a:pPr algn="ctr"/>
            <a:r>
              <a:rPr lang="en-US" sz="2400" b="1" dirty="0" err="1"/>
              <a:t>Üretilmiş</a:t>
            </a:r>
            <a:r>
              <a:rPr lang="en-US" sz="2400" b="1" dirty="0"/>
              <a:t> </a:t>
            </a:r>
            <a:r>
              <a:rPr lang="en-US" sz="2400" b="1" dirty="0" err="1"/>
              <a:t>Görüntü</a:t>
            </a:r>
            <a:r>
              <a:rPr lang="en-US" sz="2400" b="1" dirty="0"/>
              <a:t> </a:t>
            </a:r>
            <a:endParaRPr lang="tr-TR" sz="2400" b="1" dirty="0"/>
          </a:p>
        </p:txBody>
      </p:sp>
      <p:sp>
        <p:nvSpPr>
          <p:cNvPr id="7" name="Rectangle 3">
            <a:extLst>
              <a:ext uri="{FF2B5EF4-FFF2-40B4-BE49-F238E27FC236}">
                <a16:creationId xmlns:a16="http://schemas.microsoft.com/office/drawing/2014/main" id="{F56E2511-AC27-F6C3-698D-7576B9D4ADD3}"/>
              </a:ext>
            </a:extLst>
          </p:cNvPr>
          <p:cNvSpPr/>
          <p:nvPr/>
        </p:nvSpPr>
        <p:spPr>
          <a:xfrm>
            <a:off x="1154436" y="5816050"/>
            <a:ext cx="9883155" cy="369332"/>
          </a:xfrm>
          <a:prstGeom prst="rect">
            <a:avLst/>
          </a:prstGeom>
        </p:spPr>
        <p:txBody>
          <a:bodyPr wrap="none">
            <a:spAutoFit/>
          </a:bodyPr>
          <a:lstStyle/>
          <a:p>
            <a:pPr algn="ctr"/>
            <a:r>
              <a:rPr lang="en-US" dirty="0">
                <a:solidFill>
                  <a:srgbClr val="FF0000"/>
                </a:solidFill>
              </a:rPr>
              <a:t>Bu </a:t>
            </a:r>
            <a:r>
              <a:rPr lang="en-US" dirty="0" err="1">
                <a:solidFill>
                  <a:srgbClr val="FF0000"/>
                </a:solidFill>
              </a:rPr>
              <a:t>sayfa</a:t>
            </a:r>
            <a:r>
              <a:rPr lang="en-US" dirty="0">
                <a:solidFill>
                  <a:srgbClr val="FF0000"/>
                </a:solidFill>
              </a:rPr>
              <a:t> </a:t>
            </a:r>
            <a:r>
              <a:rPr lang="en-US" dirty="0" err="1">
                <a:solidFill>
                  <a:srgbClr val="FF0000"/>
                </a:solidFill>
              </a:rPr>
              <a:t>sadece</a:t>
            </a:r>
            <a:r>
              <a:rPr lang="en-US" dirty="0">
                <a:solidFill>
                  <a:srgbClr val="FF0000"/>
                </a:solidFill>
              </a:rPr>
              <a:t> A5 </a:t>
            </a:r>
            <a:r>
              <a:rPr lang="en-US" dirty="0" err="1">
                <a:solidFill>
                  <a:srgbClr val="FF0000"/>
                </a:solidFill>
              </a:rPr>
              <a:t>kategorisi</a:t>
            </a:r>
            <a:r>
              <a:rPr lang="en-US" dirty="0">
                <a:solidFill>
                  <a:srgbClr val="FF0000"/>
                </a:solidFill>
              </a:rPr>
              <a:t> </a:t>
            </a:r>
            <a:r>
              <a:rPr lang="en-US" dirty="0" err="1">
                <a:solidFill>
                  <a:srgbClr val="FF0000"/>
                </a:solidFill>
              </a:rPr>
              <a:t>yarışmacıları</a:t>
            </a:r>
            <a:r>
              <a:rPr lang="en-US" dirty="0">
                <a:solidFill>
                  <a:srgbClr val="FF0000"/>
                </a:solidFill>
              </a:rPr>
              <a:t> </a:t>
            </a:r>
            <a:r>
              <a:rPr lang="en-US" dirty="0" err="1">
                <a:solidFill>
                  <a:srgbClr val="FF0000"/>
                </a:solidFill>
              </a:rPr>
              <a:t>tarafından</a:t>
            </a:r>
            <a:r>
              <a:rPr lang="en-US" dirty="0">
                <a:solidFill>
                  <a:srgbClr val="FF0000"/>
                </a:solidFill>
              </a:rPr>
              <a:t> </a:t>
            </a:r>
            <a:r>
              <a:rPr lang="en-US" dirty="0" err="1">
                <a:solidFill>
                  <a:srgbClr val="FF0000"/>
                </a:solidFill>
              </a:rPr>
              <a:t>paylaşılacaktır</a:t>
            </a:r>
            <a:r>
              <a:rPr lang="en-US" dirty="0">
                <a:solidFill>
                  <a:srgbClr val="FF0000"/>
                </a:solidFill>
              </a:rPr>
              <a:t>. </a:t>
            </a:r>
            <a:r>
              <a:rPr lang="en-US" dirty="0" err="1">
                <a:solidFill>
                  <a:srgbClr val="FF0000"/>
                </a:solidFill>
              </a:rPr>
              <a:t>Diğer</a:t>
            </a:r>
            <a:r>
              <a:rPr lang="en-US" dirty="0">
                <a:solidFill>
                  <a:srgbClr val="FF0000"/>
                </a:solidFill>
              </a:rPr>
              <a:t> </a:t>
            </a:r>
            <a:r>
              <a:rPr lang="en-US" dirty="0" err="1">
                <a:solidFill>
                  <a:srgbClr val="FF0000"/>
                </a:solidFill>
              </a:rPr>
              <a:t>takımlar</a:t>
            </a:r>
            <a:r>
              <a:rPr lang="en-US" dirty="0">
                <a:solidFill>
                  <a:srgbClr val="FF0000"/>
                </a:solidFill>
              </a:rPr>
              <a:t> </a:t>
            </a:r>
            <a:r>
              <a:rPr lang="en-US" dirty="0" err="1">
                <a:solidFill>
                  <a:srgbClr val="FF0000"/>
                </a:solidFill>
              </a:rPr>
              <a:t>bu</a:t>
            </a:r>
            <a:r>
              <a:rPr lang="en-US" dirty="0">
                <a:solidFill>
                  <a:srgbClr val="FF0000"/>
                </a:solidFill>
              </a:rPr>
              <a:t> </a:t>
            </a:r>
            <a:r>
              <a:rPr lang="en-US" dirty="0" err="1">
                <a:solidFill>
                  <a:srgbClr val="FF0000"/>
                </a:solidFill>
              </a:rPr>
              <a:t>sayfayı</a:t>
            </a:r>
            <a:r>
              <a:rPr lang="en-US" dirty="0">
                <a:solidFill>
                  <a:srgbClr val="FF0000"/>
                </a:solidFill>
              </a:rPr>
              <a:t> </a:t>
            </a:r>
            <a:r>
              <a:rPr lang="en-US" dirty="0" err="1">
                <a:solidFill>
                  <a:srgbClr val="FF0000"/>
                </a:solidFill>
              </a:rPr>
              <a:t>silmelidir</a:t>
            </a:r>
            <a:r>
              <a:rPr lang="en-US" dirty="0">
                <a:solidFill>
                  <a:srgbClr val="FF0000"/>
                </a:solidFill>
              </a:rPr>
              <a:t>.</a:t>
            </a:r>
            <a:endParaRPr lang="tr-TR" dirty="0">
              <a:solidFill>
                <a:srgbClr val="FF0000"/>
              </a:solidFill>
            </a:endParaRPr>
          </a:p>
        </p:txBody>
      </p:sp>
      <p:sp>
        <p:nvSpPr>
          <p:cNvPr id="9" name="Footer Placeholder 8">
            <a:extLst>
              <a:ext uri="{FF2B5EF4-FFF2-40B4-BE49-F238E27FC236}">
                <a16:creationId xmlns:a16="http://schemas.microsoft.com/office/drawing/2014/main" id="{7A33E808-FB03-45C8-FDE2-15B9C20A9A81}"/>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39075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400" b="1" dirty="0">
                <a:solidFill>
                  <a:srgbClr val="0070C0"/>
                </a:solidFill>
                <a:latin typeface="Times New Roman" panose="02020603050405020304" pitchFamily="18" charset="0"/>
                <a:cs typeface="Times New Roman" panose="02020603050405020304" pitchFamily="18" charset="0"/>
              </a:rPr>
              <a:t>Özgün </a:t>
            </a:r>
            <a:r>
              <a:rPr lang="tr-TR" sz="3400" b="1" dirty="0" err="1">
                <a:solidFill>
                  <a:srgbClr val="0070C0"/>
                </a:solidFill>
                <a:latin typeface="Times New Roman" panose="02020603050405020304" pitchFamily="18" charset="0"/>
                <a:cs typeface="Times New Roman" panose="02020603050405020304" pitchFamily="18" charset="0"/>
              </a:rPr>
              <a:t>Hibrit</a:t>
            </a:r>
            <a:r>
              <a:rPr lang="tr-TR" sz="3400" b="1" dirty="0">
                <a:solidFill>
                  <a:srgbClr val="0070C0"/>
                </a:solidFill>
                <a:latin typeface="Times New Roman" panose="02020603050405020304" pitchFamily="18" charset="0"/>
                <a:cs typeface="Times New Roman" panose="02020603050405020304" pitchFamily="18" charset="0"/>
              </a:rPr>
              <a:t> İtki Sistemi</a:t>
            </a:r>
            <a:r>
              <a:rPr lang="en-US" sz="3400" b="1" dirty="0">
                <a:solidFill>
                  <a:srgbClr val="0070C0"/>
                </a:solidFill>
                <a:latin typeface="Times New Roman" panose="02020603050405020304" pitchFamily="18" charset="0"/>
                <a:cs typeface="Times New Roman" panose="02020603050405020304" pitchFamily="18" charset="0"/>
              </a:rPr>
              <a:t> </a:t>
            </a:r>
            <a:r>
              <a:rPr lang="tr-TR" sz="3400" b="1" dirty="0">
                <a:solidFill>
                  <a:srgbClr val="0070C0"/>
                </a:solidFill>
                <a:latin typeface="Times New Roman" panose="02020603050405020304" pitchFamily="18" charset="0"/>
                <a:cs typeface="Times New Roman" panose="02020603050405020304" pitchFamily="18" charset="0"/>
              </a:rPr>
              <a:t>Mekanik Görünüm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11</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875878" y="2261584"/>
            <a:ext cx="2988163" cy="1835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800" b="1" dirty="0"/>
              <a:t>İtki Sistemi </a:t>
            </a:r>
          </a:p>
          <a:p>
            <a:pPr algn="ctr"/>
            <a:r>
              <a:rPr lang="tr-TR" sz="2800" b="1" dirty="0"/>
              <a:t>3 Boyutlu Görünüm (CAD) </a:t>
            </a:r>
          </a:p>
        </p:txBody>
      </p:sp>
      <p:sp>
        <p:nvSpPr>
          <p:cNvPr id="18" name="Dikdörtgen 10"/>
          <p:cNvSpPr/>
          <p:nvPr/>
        </p:nvSpPr>
        <p:spPr>
          <a:xfrm>
            <a:off x="4312930" y="2261901"/>
            <a:ext cx="3301538" cy="183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Entegre</a:t>
            </a:r>
            <a:r>
              <a:rPr lang="en-US" sz="2400" b="1" dirty="0"/>
              <a:t> </a:t>
            </a:r>
            <a:r>
              <a:rPr lang="en-US" sz="2400" b="1" dirty="0" err="1"/>
              <a:t>Edilmemiş</a:t>
            </a:r>
            <a:r>
              <a:rPr lang="en-US" sz="2400" b="1" dirty="0"/>
              <a:t> </a:t>
            </a:r>
            <a:r>
              <a:rPr lang="en-US" sz="2400" b="1" dirty="0" err="1"/>
              <a:t>İtki</a:t>
            </a:r>
            <a:r>
              <a:rPr lang="en-US" sz="2400" b="1" dirty="0"/>
              <a:t> </a:t>
            </a:r>
            <a:r>
              <a:rPr lang="tr-TR" sz="2400" b="1" dirty="0"/>
              <a:t>Sistemi </a:t>
            </a:r>
          </a:p>
          <a:p>
            <a:pPr algn="ctr"/>
            <a:r>
              <a:rPr lang="en-US" sz="2400" b="1" dirty="0" err="1"/>
              <a:t>Üretilmiş</a:t>
            </a:r>
            <a:r>
              <a:rPr lang="en-US" sz="2400" b="1" dirty="0"/>
              <a:t> </a:t>
            </a:r>
            <a:r>
              <a:rPr lang="en-US" sz="2400" b="1" dirty="0" err="1"/>
              <a:t>Görüntü</a:t>
            </a:r>
            <a:r>
              <a:rPr lang="en-US" sz="2400" b="1" dirty="0"/>
              <a:t> </a:t>
            </a:r>
            <a:endParaRPr lang="tr-TR" sz="2400" b="1" dirty="0"/>
          </a:p>
        </p:txBody>
      </p:sp>
      <p:sp>
        <p:nvSpPr>
          <p:cNvPr id="20" name="Dikdörtgen 10"/>
          <p:cNvSpPr/>
          <p:nvPr/>
        </p:nvSpPr>
        <p:spPr>
          <a:xfrm>
            <a:off x="8063357" y="2261584"/>
            <a:ext cx="2926077" cy="1835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Entegre</a:t>
            </a:r>
            <a:r>
              <a:rPr lang="en-US" sz="2400" b="1" dirty="0"/>
              <a:t> </a:t>
            </a:r>
            <a:r>
              <a:rPr lang="en-US" sz="2400" b="1" dirty="0" err="1"/>
              <a:t>Edilmiş</a:t>
            </a:r>
            <a:r>
              <a:rPr lang="en-US" sz="2400" b="1" dirty="0"/>
              <a:t> </a:t>
            </a:r>
            <a:r>
              <a:rPr lang="en-US" sz="2400" b="1" dirty="0" err="1"/>
              <a:t>İtki</a:t>
            </a:r>
            <a:r>
              <a:rPr lang="en-US" sz="2400" b="1" dirty="0"/>
              <a:t> </a:t>
            </a:r>
            <a:r>
              <a:rPr lang="tr-TR" sz="2400" b="1" dirty="0"/>
              <a:t>Sistemi </a:t>
            </a:r>
          </a:p>
          <a:p>
            <a:pPr algn="ctr"/>
            <a:r>
              <a:rPr lang="en-US" sz="2400" b="1" dirty="0" err="1"/>
              <a:t>Üretilmiş</a:t>
            </a:r>
            <a:r>
              <a:rPr lang="en-US" sz="2400" b="1" dirty="0"/>
              <a:t> </a:t>
            </a:r>
            <a:r>
              <a:rPr lang="en-US" sz="2400" b="1" dirty="0" err="1"/>
              <a:t>Görüntü</a:t>
            </a:r>
            <a:r>
              <a:rPr lang="en-US" sz="2400" b="1" dirty="0"/>
              <a:t> </a:t>
            </a:r>
            <a:endParaRPr lang="tr-TR" sz="2400" b="1" dirty="0"/>
          </a:p>
        </p:txBody>
      </p:sp>
      <p:sp>
        <p:nvSpPr>
          <p:cNvPr id="7" name="Rectangle 3">
            <a:extLst>
              <a:ext uri="{FF2B5EF4-FFF2-40B4-BE49-F238E27FC236}">
                <a16:creationId xmlns:a16="http://schemas.microsoft.com/office/drawing/2014/main" id="{F56E2511-AC27-F6C3-698D-7576B9D4ADD3}"/>
              </a:ext>
            </a:extLst>
          </p:cNvPr>
          <p:cNvSpPr/>
          <p:nvPr/>
        </p:nvSpPr>
        <p:spPr>
          <a:xfrm>
            <a:off x="1154436" y="5816050"/>
            <a:ext cx="9883155" cy="369332"/>
          </a:xfrm>
          <a:prstGeom prst="rect">
            <a:avLst/>
          </a:prstGeom>
        </p:spPr>
        <p:txBody>
          <a:bodyPr wrap="none">
            <a:spAutoFit/>
          </a:bodyPr>
          <a:lstStyle/>
          <a:p>
            <a:pPr algn="ctr"/>
            <a:r>
              <a:rPr lang="en-US" dirty="0">
                <a:solidFill>
                  <a:srgbClr val="FF0000"/>
                </a:solidFill>
              </a:rPr>
              <a:t>Bu </a:t>
            </a:r>
            <a:r>
              <a:rPr lang="en-US" dirty="0" err="1">
                <a:solidFill>
                  <a:srgbClr val="FF0000"/>
                </a:solidFill>
              </a:rPr>
              <a:t>sayfa</a:t>
            </a:r>
            <a:r>
              <a:rPr lang="en-US" dirty="0">
                <a:solidFill>
                  <a:srgbClr val="FF0000"/>
                </a:solidFill>
              </a:rPr>
              <a:t> </a:t>
            </a:r>
            <a:r>
              <a:rPr lang="en-US" dirty="0" err="1">
                <a:solidFill>
                  <a:srgbClr val="FF0000"/>
                </a:solidFill>
              </a:rPr>
              <a:t>sadece</a:t>
            </a:r>
            <a:r>
              <a:rPr lang="en-US" dirty="0">
                <a:solidFill>
                  <a:srgbClr val="FF0000"/>
                </a:solidFill>
              </a:rPr>
              <a:t> A6 </a:t>
            </a:r>
            <a:r>
              <a:rPr lang="en-US" dirty="0" err="1">
                <a:solidFill>
                  <a:srgbClr val="FF0000"/>
                </a:solidFill>
              </a:rPr>
              <a:t>kategorisi</a:t>
            </a:r>
            <a:r>
              <a:rPr lang="en-US" dirty="0">
                <a:solidFill>
                  <a:srgbClr val="FF0000"/>
                </a:solidFill>
              </a:rPr>
              <a:t> </a:t>
            </a:r>
            <a:r>
              <a:rPr lang="en-US" dirty="0" err="1">
                <a:solidFill>
                  <a:srgbClr val="FF0000"/>
                </a:solidFill>
              </a:rPr>
              <a:t>yarışmacıları</a:t>
            </a:r>
            <a:r>
              <a:rPr lang="en-US" dirty="0">
                <a:solidFill>
                  <a:srgbClr val="FF0000"/>
                </a:solidFill>
              </a:rPr>
              <a:t> </a:t>
            </a:r>
            <a:r>
              <a:rPr lang="en-US" dirty="0" err="1">
                <a:solidFill>
                  <a:srgbClr val="FF0000"/>
                </a:solidFill>
              </a:rPr>
              <a:t>tarafından</a:t>
            </a:r>
            <a:r>
              <a:rPr lang="en-US" dirty="0">
                <a:solidFill>
                  <a:srgbClr val="FF0000"/>
                </a:solidFill>
              </a:rPr>
              <a:t> </a:t>
            </a:r>
            <a:r>
              <a:rPr lang="en-US" dirty="0" err="1">
                <a:solidFill>
                  <a:srgbClr val="FF0000"/>
                </a:solidFill>
              </a:rPr>
              <a:t>paylaşılacaktır</a:t>
            </a:r>
            <a:r>
              <a:rPr lang="en-US" dirty="0">
                <a:solidFill>
                  <a:srgbClr val="FF0000"/>
                </a:solidFill>
              </a:rPr>
              <a:t>. </a:t>
            </a:r>
            <a:r>
              <a:rPr lang="en-US" dirty="0" err="1">
                <a:solidFill>
                  <a:srgbClr val="FF0000"/>
                </a:solidFill>
              </a:rPr>
              <a:t>Diğer</a:t>
            </a:r>
            <a:r>
              <a:rPr lang="en-US" dirty="0">
                <a:solidFill>
                  <a:srgbClr val="FF0000"/>
                </a:solidFill>
              </a:rPr>
              <a:t> </a:t>
            </a:r>
            <a:r>
              <a:rPr lang="en-US" dirty="0" err="1">
                <a:solidFill>
                  <a:srgbClr val="FF0000"/>
                </a:solidFill>
              </a:rPr>
              <a:t>takımlar</a:t>
            </a:r>
            <a:r>
              <a:rPr lang="en-US" dirty="0">
                <a:solidFill>
                  <a:srgbClr val="FF0000"/>
                </a:solidFill>
              </a:rPr>
              <a:t> </a:t>
            </a:r>
            <a:r>
              <a:rPr lang="en-US" dirty="0" err="1">
                <a:solidFill>
                  <a:srgbClr val="FF0000"/>
                </a:solidFill>
              </a:rPr>
              <a:t>bu</a:t>
            </a:r>
            <a:r>
              <a:rPr lang="en-US" dirty="0">
                <a:solidFill>
                  <a:srgbClr val="FF0000"/>
                </a:solidFill>
              </a:rPr>
              <a:t> </a:t>
            </a:r>
            <a:r>
              <a:rPr lang="en-US" dirty="0" err="1">
                <a:solidFill>
                  <a:srgbClr val="FF0000"/>
                </a:solidFill>
              </a:rPr>
              <a:t>sayfayı</a:t>
            </a:r>
            <a:r>
              <a:rPr lang="en-US" dirty="0">
                <a:solidFill>
                  <a:srgbClr val="FF0000"/>
                </a:solidFill>
              </a:rPr>
              <a:t> </a:t>
            </a:r>
            <a:r>
              <a:rPr lang="en-US" dirty="0" err="1">
                <a:solidFill>
                  <a:srgbClr val="FF0000"/>
                </a:solidFill>
              </a:rPr>
              <a:t>silmelidir</a:t>
            </a:r>
            <a:r>
              <a:rPr lang="en-US" dirty="0">
                <a:solidFill>
                  <a:srgbClr val="FF0000"/>
                </a:solidFill>
              </a:rPr>
              <a:t>.</a:t>
            </a:r>
            <a:endParaRPr lang="tr-TR" dirty="0">
              <a:solidFill>
                <a:srgbClr val="FF0000"/>
              </a:solidFill>
            </a:endParaRPr>
          </a:p>
        </p:txBody>
      </p:sp>
      <p:sp>
        <p:nvSpPr>
          <p:cNvPr id="9" name="Footer Placeholder 8">
            <a:extLst>
              <a:ext uri="{FF2B5EF4-FFF2-40B4-BE49-F238E27FC236}">
                <a16:creationId xmlns:a16="http://schemas.microsoft.com/office/drawing/2014/main" id="{7A33E808-FB03-45C8-FDE2-15B9C20A9A81}"/>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1263433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12</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4" name="Title 1"/>
          <p:cNvSpPr txBox="1">
            <a:spLocks/>
          </p:cNvSpPr>
          <p:nvPr/>
        </p:nvSpPr>
        <p:spPr>
          <a:xfrm>
            <a:off x="1408090" y="249215"/>
            <a:ext cx="9144000" cy="75095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500" b="1" dirty="0">
                <a:solidFill>
                  <a:srgbClr val="0070C0"/>
                </a:solidFill>
                <a:latin typeface="Times New Roman" panose="02020603050405020304" pitchFamily="18" charset="0"/>
                <a:cs typeface="Times New Roman" panose="02020603050405020304" pitchFamily="18" charset="0"/>
              </a:rPr>
              <a:t>Aviyonik </a:t>
            </a:r>
            <a:r>
              <a:rPr lang="mr-IN" sz="3500" b="1" dirty="0">
                <a:solidFill>
                  <a:srgbClr val="0070C0"/>
                </a:solidFill>
                <a:latin typeface="Times New Roman" panose="02020603050405020304" pitchFamily="18" charset="0"/>
              </a:rPr>
              <a:t>–</a:t>
            </a:r>
            <a:r>
              <a:rPr lang="tr-TR" sz="3500" b="1" dirty="0">
                <a:solidFill>
                  <a:srgbClr val="0070C0"/>
                </a:solidFill>
                <a:latin typeface="Times New Roman" panose="02020603050405020304" pitchFamily="18" charset="0"/>
                <a:cs typeface="Times New Roman" panose="02020603050405020304" pitchFamily="18" charset="0"/>
              </a:rPr>
              <a:t> </a:t>
            </a:r>
            <a:r>
              <a:rPr lang="en-US" sz="3500" b="1" dirty="0" err="1">
                <a:solidFill>
                  <a:srgbClr val="0070C0"/>
                </a:solidFill>
                <a:latin typeface="Times New Roman" panose="02020603050405020304" pitchFamily="18" charset="0"/>
                <a:cs typeface="Times New Roman" panose="02020603050405020304" pitchFamily="18" charset="0"/>
              </a:rPr>
              <a:t>Özgün</a:t>
            </a:r>
            <a:r>
              <a:rPr lang="en-US" sz="3500" b="1" dirty="0">
                <a:solidFill>
                  <a:srgbClr val="0070C0"/>
                </a:solidFill>
                <a:latin typeface="Times New Roman" panose="02020603050405020304" pitchFamily="18" charset="0"/>
                <a:cs typeface="Times New Roman" panose="02020603050405020304" pitchFamily="18" charset="0"/>
              </a:rPr>
              <a:t> </a:t>
            </a:r>
            <a:r>
              <a:rPr lang="en-US" sz="3500" b="1" dirty="0" err="1">
                <a:solidFill>
                  <a:srgbClr val="0070C0"/>
                </a:solidFill>
                <a:latin typeface="Times New Roman" panose="02020603050405020304" pitchFamily="18" charset="0"/>
                <a:cs typeface="Times New Roman" panose="02020603050405020304" pitchFamily="18" charset="0"/>
              </a:rPr>
              <a:t>Sistem</a:t>
            </a:r>
            <a:r>
              <a:rPr lang="en-US" sz="3500" b="1" dirty="0">
                <a:solidFill>
                  <a:srgbClr val="0070C0"/>
                </a:solidFill>
                <a:latin typeface="Times New Roman" panose="02020603050405020304" pitchFamily="18" charset="0"/>
                <a:cs typeface="Times New Roman" panose="02020603050405020304" pitchFamily="18" charset="0"/>
              </a:rPr>
              <a:t> </a:t>
            </a:r>
            <a:r>
              <a:rPr lang="en-US" sz="3500" b="1" dirty="0" err="1">
                <a:solidFill>
                  <a:srgbClr val="0070C0"/>
                </a:solidFill>
                <a:latin typeface="Times New Roman" panose="02020603050405020304" pitchFamily="18" charset="0"/>
                <a:cs typeface="Times New Roman" panose="02020603050405020304" pitchFamily="18" charset="0"/>
              </a:rPr>
              <a:t>Detay</a:t>
            </a:r>
            <a:endParaRPr lang="en-US" sz="3500" b="1" dirty="0">
              <a:solidFill>
                <a:srgbClr val="0070C0"/>
              </a:solidFill>
              <a:latin typeface="Times New Roman" panose="02020603050405020304" pitchFamily="18" charset="0"/>
              <a:cs typeface="Times New Roman" panose="02020603050405020304" pitchFamily="18" charset="0"/>
            </a:endParaRPr>
          </a:p>
        </p:txBody>
      </p:sp>
      <p:graphicFrame>
        <p:nvGraphicFramePr>
          <p:cNvPr id="19" name="Tablo 6">
            <a:extLst>
              <a:ext uri="{FF2B5EF4-FFF2-40B4-BE49-F238E27FC236}">
                <a16:creationId xmlns:a16="http://schemas.microsoft.com/office/drawing/2014/main" id="{BB5D22C2-716D-7B65-74FE-26620CD5DA39}"/>
              </a:ext>
            </a:extLst>
          </p:cNvPr>
          <p:cNvGraphicFramePr>
            <a:graphicFrameLocks noGrp="1"/>
          </p:cNvGraphicFramePr>
          <p:nvPr>
            <p:extLst>
              <p:ext uri="{D42A27DB-BD31-4B8C-83A1-F6EECF244321}">
                <p14:modId xmlns:p14="http://schemas.microsoft.com/office/powerpoint/2010/main" val="35923360"/>
              </p:ext>
            </p:extLst>
          </p:nvPr>
        </p:nvGraphicFramePr>
        <p:xfrm>
          <a:off x="520700" y="2492688"/>
          <a:ext cx="11222736" cy="3657600"/>
        </p:xfrm>
        <a:graphic>
          <a:graphicData uri="http://schemas.openxmlformats.org/drawingml/2006/table">
            <a:tbl>
              <a:tblPr firstRow="1" bandRow="1">
                <a:tableStyleId>{5C22544A-7EE6-4342-B048-85BDC9FD1C3A}</a:tableStyleId>
              </a:tblPr>
              <a:tblGrid>
                <a:gridCol w="2261309">
                  <a:extLst>
                    <a:ext uri="{9D8B030D-6E8A-4147-A177-3AD203B41FA5}">
                      <a16:colId xmlns:a16="http://schemas.microsoft.com/office/drawing/2014/main" val="577779967"/>
                    </a:ext>
                  </a:extLst>
                </a:gridCol>
                <a:gridCol w="1916255">
                  <a:extLst>
                    <a:ext uri="{9D8B030D-6E8A-4147-A177-3AD203B41FA5}">
                      <a16:colId xmlns:a16="http://schemas.microsoft.com/office/drawing/2014/main" val="399812716"/>
                    </a:ext>
                  </a:extLst>
                </a:gridCol>
                <a:gridCol w="3832510">
                  <a:extLst>
                    <a:ext uri="{9D8B030D-6E8A-4147-A177-3AD203B41FA5}">
                      <a16:colId xmlns:a16="http://schemas.microsoft.com/office/drawing/2014/main" val="2787587625"/>
                    </a:ext>
                  </a:extLst>
                </a:gridCol>
                <a:gridCol w="3212662">
                  <a:extLst>
                    <a:ext uri="{9D8B030D-6E8A-4147-A177-3AD203B41FA5}">
                      <a16:colId xmlns:a16="http://schemas.microsoft.com/office/drawing/2014/main" val="2188634747"/>
                    </a:ext>
                  </a:extLst>
                </a:gridCol>
              </a:tblGrid>
              <a:tr h="503465">
                <a:tc>
                  <a:txBody>
                    <a:bodyPr/>
                    <a:lstStyle/>
                    <a:p>
                      <a:r>
                        <a:rPr lang="en-US"/>
                        <a:t>Komponent</a:t>
                      </a:r>
                      <a:endParaRPr lang="tr-TR"/>
                    </a:p>
                  </a:txBody>
                  <a:tcPr/>
                </a:tc>
                <a:tc>
                  <a:txBody>
                    <a:bodyPr/>
                    <a:lstStyle/>
                    <a:p>
                      <a:r>
                        <a:rPr lang="en-US" err="1"/>
                        <a:t>Ürün</a:t>
                      </a:r>
                      <a:r>
                        <a:rPr lang="en-US"/>
                        <a:t> </a:t>
                      </a:r>
                      <a:r>
                        <a:rPr lang="en-US" err="1"/>
                        <a:t>Adı</a:t>
                      </a:r>
                      <a:r>
                        <a:rPr lang="en-US"/>
                        <a:t> / Kodu / </a:t>
                      </a:r>
                      <a:r>
                        <a:rPr lang="en-US" err="1"/>
                        <a:t>Türü</a:t>
                      </a:r>
                      <a:endParaRPr lang="tr-TR"/>
                    </a:p>
                  </a:txBody>
                  <a:tcPr/>
                </a:tc>
                <a:tc>
                  <a:txBody>
                    <a:bodyPr/>
                    <a:lstStyle/>
                    <a:p>
                      <a:r>
                        <a:rPr lang="en-US" err="1"/>
                        <a:t>Kurtarma</a:t>
                      </a:r>
                      <a:r>
                        <a:rPr lang="en-US"/>
                        <a:t> </a:t>
                      </a:r>
                      <a:r>
                        <a:rPr lang="en-US" err="1"/>
                        <a:t>Algoritmasında</a:t>
                      </a:r>
                      <a:r>
                        <a:rPr lang="en-US"/>
                        <a:t> </a:t>
                      </a:r>
                      <a:r>
                        <a:rPr lang="en-US" err="1"/>
                        <a:t>Verileri</a:t>
                      </a:r>
                      <a:r>
                        <a:rPr lang="en-US"/>
                        <a:t> </a:t>
                      </a:r>
                      <a:r>
                        <a:rPr lang="en-US" err="1"/>
                        <a:t>Kullanılıyor</a:t>
                      </a:r>
                      <a:r>
                        <a:rPr lang="en-US"/>
                        <a:t> Mu?</a:t>
                      </a:r>
                      <a:endParaRPr lang="tr-TR"/>
                    </a:p>
                  </a:txBody>
                  <a:tcPr/>
                </a:tc>
                <a:tc>
                  <a:txBody>
                    <a:bodyPr/>
                    <a:lstStyle/>
                    <a:p>
                      <a:r>
                        <a:rPr lang="en-US"/>
                        <a:t>Kuratma Algoritmasında Kullanılan Verilerin İşlevi</a:t>
                      </a:r>
                      <a:endParaRPr lang="tr-TR"/>
                    </a:p>
                  </a:txBody>
                  <a:tcPr/>
                </a:tc>
                <a:extLst>
                  <a:ext uri="{0D108BD9-81ED-4DB2-BD59-A6C34878D82A}">
                    <a16:rowId xmlns:a16="http://schemas.microsoft.com/office/drawing/2014/main" val="3329028861"/>
                  </a:ext>
                </a:extLst>
              </a:tr>
              <a:tr h="298776">
                <a:tc>
                  <a:txBody>
                    <a:bodyPr/>
                    <a:lstStyle/>
                    <a:p>
                      <a:r>
                        <a:rPr lang="en-US" err="1"/>
                        <a:t>İşlemci</a:t>
                      </a:r>
                      <a:endParaRPr lang="tr-TR"/>
                    </a:p>
                  </a:txBody>
                  <a:tcPr/>
                </a:tc>
                <a:tc>
                  <a:txBody>
                    <a:bodyPr/>
                    <a:lstStyle/>
                    <a:p>
                      <a:r>
                        <a:rPr lang="en-US"/>
                        <a:t>-</a:t>
                      </a:r>
                      <a:endParaRPr lang="tr-TR"/>
                    </a:p>
                  </a:txBody>
                  <a:tcPr/>
                </a:tc>
                <a:tc>
                  <a:txBody>
                    <a:bodyPr/>
                    <a:lstStyle/>
                    <a:p>
                      <a:r>
                        <a:rPr lang="en-US"/>
                        <a:t> (İşlemci için  boş bırakılacaktır)</a:t>
                      </a:r>
                      <a:endParaRPr lang="tr-TR"/>
                    </a:p>
                  </a:txBody>
                  <a:tcPr/>
                </a:tc>
                <a:tc>
                  <a:txBody>
                    <a:bodyPr/>
                    <a:lstStyle/>
                    <a:p>
                      <a:endParaRPr lang="tr-TR"/>
                    </a:p>
                  </a:txBody>
                  <a:tcPr/>
                </a:tc>
                <a:extLst>
                  <a:ext uri="{0D108BD9-81ED-4DB2-BD59-A6C34878D82A}">
                    <a16:rowId xmlns:a16="http://schemas.microsoft.com/office/drawing/2014/main" val="2618265386"/>
                  </a:ext>
                </a:extLst>
              </a:tr>
              <a:tr h="503465">
                <a:tc>
                  <a:txBody>
                    <a:bodyPr/>
                    <a:lstStyle/>
                    <a:p>
                      <a:pPr marL="0" indent="0">
                        <a:buNone/>
                      </a:pPr>
                      <a:r>
                        <a:rPr lang="en-US"/>
                        <a:t>1. Sensör</a:t>
                      </a:r>
                    </a:p>
                  </a:txBody>
                  <a:tcPr/>
                </a:tc>
                <a:tc>
                  <a:txBody>
                    <a:bodyPr/>
                    <a:lstStyle/>
                    <a:p>
                      <a:r>
                        <a:rPr lang="en-US"/>
                        <a:t>BMP 180 Basınç Sensörü</a:t>
                      </a:r>
                      <a:endParaRPr lang="tr-TR"/>
                    </a:p>
                  </a:txBody>
                  <a:tcPr/>
                </a:tc>
                <a:tc>
                  <a:txBody>
                    <a:bodyPr/>
                    <a:lstStyle/>
                    <a:p>
                      <a:r>
                        <a:rPr lang="en-US"/>
                        <a:t>(Evet / Hayır)</a:t>
                      </a:r>
                      <a:endParaRPr lang="tr-TR"/>
                    </a:p>
                  </a:txBody>
                  <a:tcPr/>
                </a:tc>
                <a:tc>
                  <a:txBody>
                    <a:bodyPr/>
                    <a:lstStyle/>
                    <a:p>
                      <a:r>
                        <a:rPr lang="tr-TR"/>
                        <a:t>.</a:t>
                      </a:r>
                    </a:p>
                  </a:txBody>
                  <a:tcPr/>
                </a:tc>
                <a:extLst>
                  <a:ext uri="{0D108BD9-81ED-4DB2-BD59-A6C34878D82A}">
                    <a16:rowId xmlns:a16="http://schemas.microsoft.com/office/drawing/2014/main" val="2754309649"/>
                  </a:ext>
                </a:extLst>
              </a:tr>
              <a:tr h="287694">
                <a:tc>
                  <a:txBody>
                    <a:bodyPr/>
                    <a:lstStyle/>
                    <a:p>
                      <a:r>
                        <a:rPr lang="en-US"/>
                        <a:t>2. Sensör</a:t>
                      </a:r>
                      <a:endParaRPr lang="tr-TR"/>
                    </a:p>
                  </a:txBody>
                  <a:tcPr/>
                </a:tc>
                <a:tc>
                  <a:txBody>
                    <a:bodyPr/>
                    <a:lstStyle/>
                    <a:p>
                      <a:r>
                        <a:rPr lang="en-US"/>
                        <a:t>-</a:t>
                      </a:r>
                      <a:endParaRPr lang="tr-TR"/>
                    </a:p>
                  </a:txBody>
                  <a:tcPr/>
                </a:tc>
                <a:tc>
                  <a:txBody>
                    <a:bodyPr/>
                    <a:lstStyle/>
                    <a:p>
                      <a:r>
                        <a:rPr lang="en-US"/>
                        <a:t>(Evet / Hayır)</a:t>
                      </a:r>
                      <a:endParaRPr lang="tr-TR"/>
                    </a:p>
                  </a:txBody>
                  <a:tcPr/>
                </a:tc>
                <a:tc>
                  <a:txBody>
                    <a:bodyPr/>
                    <a:lstStyle/>
                    <a:p>
                      <a:r>
                        <a:rPr lang="tr-TR"/>
                        <a:t>.</a:t>
                      </a:r>
                    </a:p>
                  </a:txBody>
                  <a:tcPr/>
                </a:tc>
                <a:extLst>
                  <a:ext uri="{0D108BD9-81ED-4DB2-BD59-A6C34878D82A}">
                    <a16:rowId xmlns:a16="http://schemas.microsoft.com/office/drawing/2014/main" val="3525978726"/>
                  </a:ext>
                </a:extLst>
              </a:tr>
              <a:tr h="298776">
                <a:tc>
                  <a:txBody>
                    <a:bodyPr/>
                    <a:lstStyle/>
                    <a:p>
                      <a:r>
                        <a:rPr lang="en-US"/>
                        <a:t>3. Sensör (Varsa)</a:t>
                      </a:r>
                      <a:endParaRPr lang="tr-TR"/>
                    </a:p>
                  </a:txBody>
                  <a:tcPr/>
                </a:tc>
                <a:tc>
                  <a:txBody>
                    <a:bodyPr/>
                    <a:lstStyle/>
                    <a:p>
                      <a:r>
                        <a:rPr lang="en-US"/>
                        <a:t>-</a:t>
                      </a:r>
                      <a:endParaRPr lang="tr-TR"/>
                    </a:p>
                  </a:txBody>
                  <a:tcPr/>
                </a:tc>
                <a:tc>
                  <a:txBody>
                    <a:bodyPr/>
                    <a:lstStyle/>
                    <a:p>
                      <a:r>
                        <a:rPr lang="en-US"/>
                        <a:t>(Evet / Hayır)</a:t>
                      </a:r>
                      <a:endParaRPr lang="tr-TR"/>
                    </a:p>
                  </a:txBody>
                  <a:tcPr/>
                </a:tc>
                <a:tc>
                  <a:txBody>
                    <a:bodyPr/>
                    <a:lstStyle/>
                    <a:p>
                      <a:r>
                        <a:rPr lang="tr-TR"/>
                        <a:t>.</a:t>
                      </a:r>
                    </a:p>
                  </a:txBody>
                  <a:tcPr/>
                </a:tc>
                <a:extLst>
                  <a:ext uri="{0D108BD9-81ED-4DB2-BD59-A6C34878D82A}">
                    <a16:rowId xmlns:a16="http://schemas.microsoft.com/office/drawing/2014/main" val="545976878"/>
                  </a:ext>
                </a:extLst>
              </a:tr>
              <a:tr h="503465">
                <a:tc>
                  <a:txBody>
                    <a:bodyPr/>
                    <a:lstStyle/>
                    <a:p>
                      <a:r>
                        <a:rPr lang="en-US"/>
                        <a:t>Haberleşme Modülü (Varsa)</a:t>
                      </a:r>
                      <a:endParaRPr lang="tr-TR"/>
                    </a:p>
                  </a:txBody>
                  <a:tcPr/>
                </a:tc>
                <a:tc>
                  <a:txBody>
                    <a:bodyPr/>
                    <a:lstStyle/>
                    <a:p>
                      <a:r>
                        <a:rPr lang="en-US"/>
                        <a:t>-</a:t>
                      </a:r>
                      <a:endParaRPr lang="tr-TR"/>
                    </a:p>
                  </a:txBody>
                  <a:tcPr/>
                </a:tc>
                <a:tc>
                  <a:txBody>
                    <a:bodyPr/>
                    <a:lstStyle/>
                    <a:p>
                      <a:r>
                        <a:rPr lang="en-US"/>
                        <a:t>(Evet / Hayır)</a:t>
                      </a:r>
                      <a:endParaRPr lang="tr-TR"/>
                    </a:p>
                  </a:txBody>
                  <a:tcPr/>
                </a:tc>
                <a:tc>
                  <a:txBody>
                    <a:bodyPr/>
                    <a:lstStyle/>
                    <a:p>
                      <a:r>
                        <a:rPr lang="tr-TR"/>
                        <a:t>.</a:t>
                      </a:r>
                    </a:p>
                  </a:txBody>
                  <a:tcPr/>
                </a:tc>
                <a:extLst>
                  <a:ext uri="{0D108BD9-81ED-4DB2-BD59-A6C34878D82A}">
                    <a16:rowId xmlns:a16="http://schemas.microsoft.com/office/drawing/2014/main" val="1924173571"/>
                  </a:ext>
                </a:extLst>
              </a:tr>
              <a:tr h="503465">
                <a:tc>
                  <a:txBody>
                    <a:bodyPr/>
                    <a:lstStyle/>
                    <a:p>
                      <a:r>
                        <a:rPr lang="en-US"/>
                        <a:t>GPS Modülü (Varsa)</a:t>
                      </a:r>
                      <a:endParaRPr lang="tr-TR"/>
                    </a:p>
                  </a:txBody>
                  <a:tcPr/>
                </a:tc>
                <a:tc>
                  <a:txBody>
                    <a:bodyPr/>
                    <a:lstStyle/>
                    <a:p>
                      <a:r>
                        <a:rPr lang="en-US"/>
                        <a:t>-</a:t>
                      </a:r>
                      <a:endParaRPr lang="tr-T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(Evet / </a:t>
                      </a:r>
                      <a:r>
                        <a:rPr lang="en-US" err="1"/>
                        <a:t>Hayır</a:t>
                      </a:r>
                      <a:r>
                        <a:rPr lang="en-US"/>
                        <a:t>)</a:t>
                      </a:r>
                      <a:endParaRPr lang="tr-TR"/>
                    </a:p>
                    <a:p>
                      <a:endParaRPr lang="tr-TR"/>
                    </a:p>
                  </a:txBody>
                  <a:tcPr/>
                </a:tc>
                <a:tc>
                  <a:txBody>
                    <a:bodyPr/>
                    <a:lstStyle/>
                    <a:p>
                      <a:endParaRPr lang="tr-TR"/>
                    </a:p>
                  </a:txBody>
                  <a:tcPr/>
                </a:tc>
                <a:extLst>
                  <a:ext uri="{0D108BD9-81ED-4DB2-BD59-A6C34878D82A}">
                    <a16:rowId xmlns:a16="http://schemas.microsoft.com/office/drawing/2014/main" val="1515319280"/>
                  </a:ext>
                </a:extLst>
              </a:tr>
            </a:tbl>
          </a:graphicData>
        </a:graphic>
      </p:graphicFrame>
      <p:sp>
        <p:nvSpPr>
          <p:cNvPr id="20" name="TextBox 14">
            <a:extLst>
              <a:ext uri="{FF2B5EF4-FFF2-40B4-BE49-F238E27FC236}">
                <a16:creationId xmlns:a16="http://schemas.microsoft.com/office/drawing/2014/main" id="{BF70F4E8-C242-AD19-CD31-EAFAB4700E1E}"/>
              </a:ext>
            </a:extLst>
          </p:cNvPr>
          <p:cNvSpPr txBox="1"/>
          <p:nvPr/>
        </p:nvSpPr>
        <p:spPr>
          <a:xfrm>
            <a:off x="79384" y="1528017"/>
            <a:ext cx="11999840" cy="923330"/>
          </a:xfrm>
          <a:prstGeom prst="rect">
            <a:avLst/>
          </a:prstGeom>
          <a:noFill/>
        </p:spPr>
        <p:txBody>
          <a:bodyPr wrap="square" rtlCol="0">
            <a:spAutoFit/>
          </a:bodyPr>
          <a:lstStyle/>
          <a:p>
            <a:pPr marL="285750" indent="-285750" algn="just">
              <a:buFont typeface="Arial" panose="020B0604020202020204" pitchFamily="34" charset="0"/>
              <a:buChar char="•"/>
            </a:pPr>
            <a:r>
              <a:rPr lang="en-US" dirty="0"/>
              <a:t>1. </a:t>
            </a:r>
            <a:r>
              <a:rPr lang="en-US" dirty="0" err="1"/>
              <a:t>Uçuş</a:t>
            </a:r>
            <a:r>
              <a:rPr lang="en-US" dirty="0"/>
              <a:t> </a:t>
            </a:r>
            <a:r>
              <a:rPr lang="en-US" dirty="0" err="1"/>
              <a:t>kontrol</a:t>
            </a:r>
            <a:r>
              <a:rPr lang="en-US" dirty="0"/>
              <a:t> </a:t>
            </a:r>
            <a:r>
              <a:rPr lang="tr-TR" dirty="0"/>
              <a:t>bilgisayarında kullanılan temel devre elemanlar</a:t>
            </a:r>
            <a:r>
              <a:rPr lang="en-US" dirty="0"/>
              <a:t>ı </a:t>
            </a:r>
            <a:r>
              <a:rPr lang="en-US" dirty="0" err="1"/>
              <a:t>tanıtılmalıdır</a:t>
            </a:r>
            <a:r>
              <a:rPr lang="en-US" dirty="0"/>
              <a:t>. </a:t>
            </a:r>
            <a:r>
              <a:rPr lang="en-US" dirty="0" err="1"/>
              <a:t>Devre</a:t>
            </a:r>
            <a:r>
              <a:rPr lang="en-US" dirty="0"/>
              <a:t> </a:t>
            </a:r>
            <a:r>
              <a:rPr lang="en-US" dirty="0" err="1"/>
              <a:t>elemanlarının</a:t>
            </a:r>
            <a:r>
              <a:rPr lang="en-US" dirty="0"/>
              <a:t> </a:t>
            </a:r>
            <a:r>
              <a:rPr lang="en-US" dirty="0" err="1"/>
              <a:t>kurtarma</a:t>
            </a:r>
            <a:r>
              <a:rPr lang="en-US" dirty="0"/>
              <a:t> </a:t>
            </a:r>
            <a:r>
              <a:rPr lang="en-US" dirty="0" err="1"/>
              <a:t>algoritmasındaki</a:t>
            </a:r>
            <a:r>
              <a:rPr lang="en-US" dirty="0"/>
              <a:t> </a:t>
            </a:r>
            <a:r>
              <a:rPr lang="en-US" dirty="0" err="1"/>
              <a:t>rolü</a:t>
            </a:r>
            <a:r>
              <a:rPr lang="en-US" dirty="0"/>
              <a:t> </a:t>
            </a:r>
            <a:r>
              <a:rPr lang="en-US" dirty="0" err="1"/>
              <a:t>açıklanmalıdır</a:t>
            </a:r>
            <a:r>
              <a:rPr lang="en-US" dirty="0"/>
              <a:t>.</a:t>
            </a:r>
          </a:p>
          <a:p>
            <a:pPr marL="285750" indent="-285750" algn="just">
              <a:buFont typeface="Arial" panose="020B0604020202020204" pitchFamily="34" charset="0"/>
              <a:buChar char="•"/>
            </a:pPr>
            <a:r>
              <a:rPr lang="tr-TR" dirty="0"/>
              <a:t>Bu kısım 2 (iki) yansıyı geçmemelidir.</a:t>
            </a:r>
            <a:r>
              <a:rPr lang="en-US" dirty="0"/>
              <a:t> A1 </a:t>
            </a:r>
            <a:r>
              <a:rPr lang="en-US" dirty="0" err="1"/>
              <a:t>kategorisinde</a:t>
            </a:r>
            <a:r>
              <a:rPr lang="en-US" dirty="0"/>
              <a:t> </a:t>
            </a:r>
            <a:r>
              <a:rPr lang="en-US" dirty="0" err="1"/>
              <a:t>özgün</a:t>
            </a:r>
            <a:r>
              <a:rPr lang="en-US" dirty="0"/>
              <a:t> </a:t>
            </a:r>
            <a:r>
              <a:rPr lang="en-US" dirty="0" err="1"/>
              <a:t>aviyonik</a:t>
            </a:r>
            <a:r>
              <a:rPr lang="en-US" dirty="0"/>
              <a:t> </a:t>
            </a:r>
            <a:r>
              <a:rPr lang="en-US" dirty="0" err="1"/>
              <a:t>kullanmayan</a:t>
            </a:r>
            <a:r>
              <a:rPr lang="en-US" dirty="0"/>
              <a:t> </a:t>
            </a:r>
            <a:r>
              <a:rPr lang="en-US" dirty="0" err="1"/>
              <a:t>takımlar</a:t>
            </a:r>
            <a:r>
              <a:rPr lang="en-US" dirty="0"/>
              <a:t> </a:t>
            </a:r>
            <a:r>
              <a:rPr lang="en-US" dirty="0" err="1"/>
              <a:t>bu</a:t>
            </a:r>
            <a:r>
              <a:rPr lang="en-US" dirty="0"/>
              <a:t> </a:t>
            </a:r>
            <a:r>
              <a:rPr lang="en-US" dirty="0" err="1"/>
              <a:t>bölümde</a:t>
            </a:r>
            <a:r>
              <a:rPr lang="en-US" dirty="0"/>
              <a:t> </a:t>
            </a:r>
            <a:r>
              <a:rPr lang="en-US" dirty="0" err="1"/>
              <a:t>bunu</a:t>
            </a:r>
            <a:r>
              <a:rPr lang="en-US" dirty="0"/>
              <a:t> </a:t>
            </a:r>
            <a:r>
              <a:rPr lang="en-US" dirty="0" err="1"/>
              <a:t>belirtmelidir</a:t>
            </a:r>
            <a:r>
              <a:rPr lang="en-US" dirty="0"/>
              <a:t>.</a:t>
            </a:r>
          </a:p>
        </p:txBody>
      </p:sp>
      <p:sp>
        <p:nvSpPr>
          <p:cNvPr id="2" name="Footer Placeholder 8">
            <a:extLst>
              <a:ext uri="{FF2B5EF4-FFF2-40B4-BE49-F238E27FC236}">
                <a16:creationId xmlns:a16="http://schemas.microsoft.com/office/drawing/2014/main" id="{B3B66D30-11B0-D097-BAC2-C49E8B9076F4}"/>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954986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20" name="TextBox 19"/>
          <p:cNvSpPr txBox="1"/>
          <p:nvPr/>
        </p:nvSpPr>
        <p:spPr>
          <a:xfrm>
            <a:off x="1841393" y="3810544"/>
            <a:ext cx="8509214" cy="1477328"/>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Aviyonik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sistem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üzerinde takım ismi yazmalı, takım üyesi ile fotosu olmalı ya da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sticker </a:t>
            </a:r>
            <a:r>
              <a:rPr lang="en-US" dirty="0">
                <a:solidFill>
                  <a:prstClr val="black"/>
                </a:solidFill>
                <a:latin typeface="Calibri" panose="020F0502020204030204"/>
                <a:cs typeface="Times New Roman" panose="02020603050405020304" pitchFamily="18" charset="0"/>
              </a:rPr>
              <a:t>vb.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bir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logo olmalı</a:t>
            </a:r>
            <a:r>
              <a:rPr lang="en-US" dirty="0" err="1">
                <a:solidFill>
                  <a:prstClr val="black"/>
                </a:solidFill>
                <a:latin typeface="Calibri" panose="020F0502020204030204"/>
                <a:cs typeface="Times New Roman" panose="02020603050405020304" pitchFamily="18" charset="0"/>
              </a:rPr>
              <a:t>dır</a:t>
            </a:r>
            <a:r>
              <a:rPr lang="en-US" dirty="0">
                <a:solidFill>
                  <a:prstClr val="black"/>
                </a:solidFill>
                <a:latin typeface="Calibri" panose="020F0502020204030204"/>
                <a:cs typeface="Times New Roman" panose="02020603050405020304" pitchFamily="18" charset="0"/>
              </a:rPr>
              <a:t>.</a:t>
            </a: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Bu sayfada sadece </a:t>
            </a:r>
            <a:r>
              <a:rPr lang="en-US" dirty="0" err="1">
                <a:solidFill>
                  <a:prstClr val="black"/>
                </a:solidFill>
                <a:latin typeface="Calibri" panose="020F0502020204030204"/>
                <a:cs typeface="Times New Roman" panose="02020603050405020304" pitchFamily="18" charset="0"/>
              </a:rPr>
              <a:t>görseller</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olmalı detaylar sonraki sayfa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lar</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da verilmeli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dir.</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Verilen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şema</a:t>
            </a:r>
            <a:r>
              <a:rPr lang="en-US" dirty="0">
                <a:solidFill>
                  <a:prstClr val="black"/>
                </a:solidFill>
                <a:latin typeface="Calibri" panose="020F0502020204030204"/>
                <a:cs typeface="Times New Roman" panose="02020603050405020304" pitchFamily="18" charset="0"/>
              </a:rPr>
              <a:t>da </a:t>
            </a:r>
            <a:r>
              <a:rPr lang="en-US" dirty="0" err="1">
                <a:solidFill>
                  <a:prstClr val="black"/>
                </a:solidFill>
                <a:latin typeface="Calibri" panose="020F0502020204030204"/>
                <a:cs typeface="Times New Roman" panose="02020603050405020304" pitchFamily="18" charset="0"/>
              </a:rPr>
              <a:t>bütün</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bileşenler</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isimleri</a:t>
            </a:r>
            <a:r>
              <a:rPr lang="en-US" dirty="0">
                <a:solidFill>
                  <a:prstClr val="black"/>
                </a:solidFill>
                <a:latin typeface="Calibri" panose="020F0502020204030204"/>
                <a:cs typeface="Times New Roman" panose="02020603050405020304" pitchFamily="18" charset="0"/>
              </a:rPr>
              <a:t>/</a:t>
            </a:r>
            <a:r>
              <a:rPr lang="en-US" dirty="0" err="1">
                <a:solidFill>
                  <a:prstClr val="black"/>
                </a:solidFill>
                <a:latin typeface="Calibri" panose="020F0502020204030204"/>
                <a:cs typeface="Times New Roman" panose="02020603050405020304" pitchFamily="18" charset="0"/>
              </a:rPr>
              <a:t>kodları</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ile</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belirtilmelidir</a:t>
            </a:r>
            <a:r>
              <a:rPr lang="en-US" dirty="0">
                <a:solidFill>
                  <a:prstClr val="black"/>
                </a:solidFill>
                <a:latin typeface="Calibri" panose="020F0502020204030204"/>
                <a:cs typeface="Times New Roman" panose="02020603050405020304" pitchFamily="18" charset="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p:txBody>
      </p:sp>
      <p:sp>
        <p:nvSpPr>
          <p:cNvPr id="21" name="Dikdörtgen 10"/>
          <p:cNvSpPr/>
          <p:nvPr/>
        </p:nvSpPr>
        <p:spPr>
          <a:xfrm>
            <a:off x="814710" y="1486709"/>
            <a:ext cx="2766690"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Aviyonik</a:t>
            </a:r>
            <a:r>
              <a:rPr kumimoji="0" lang="en-US"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 </a:t>
            </a: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Sistem</a:t>
            </a:r>
            <a:r>
              <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 </a:t>
            </a: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Şeması</a:t>
            </a:r>
            <a:endPar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endParaRPr>
          </a:p>
        </p:txBody>
      </p:sp>
      <p:sp>
        <p:nvSpPr>
          <p:cNvPr id="22" name="Dikdörtgen 10"/>
          <p:cNvSpPr/>
          <p:nvPr/>
        </p:nvSpPr>
        <p:spPr>
          <a:xfrm>
            <a:off x="8600688" y="1480221"/>
            <a:ext cx="2794674"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Üretilmiş </a:t>
            </a:r>
            <a:endParaRPr kumimoji="0" lang="en-US"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Aviyonik</a:t>
            </a:r>
            <a:r>
              <a:rPr kumimoji="0" lang="en-US"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 </a:t>
            </a: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Sistem</a:t>
            </a:r>
            <a:r>
              <a:rPr kumimoji="0" lang="en-US"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 </a:t>
            </a:r>
            <a:endPar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Görüntü</a:t>
            </a:r>
            <a:endPar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endParaRPr>
          </a:p>
        </p:txBody>
      </p:sp>
      <p:sp>
        <p:nvSpPr>
          <p:cNvPr id="23" name="Dikdörtgen 10"/>
          <p:cNvSpPr/>
          <p:nvPr/>
        </p:nvSpPr>
        <p:spPr>
          <a:xfrm>
            <a:off x="4698663" y="1486709"/>
            <a:ext cx="2794674"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Üretilmiş </a:t>
            </a: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Devre</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 </a:t>
            </a:r>
            <a:endPar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Görüntü</a:t>
            </a:r>
            <a:endPar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15" name="Slide Number Placeholder 2">
            <a:extLst>
              <a:ext uri="{FF2B5EF4-FFF2-40B4-BE49-F238E27FC236}">
                <a16:creationId xmlns:a16="http://schemas.microsoft.com/office/drawing/2014/main" id="{0B506641-498C-54CD-92FE-9A6E2FD3D8A8}"/>
              </a:ext>
            </a:extLst>
          </p:cNvPr>
          <p:cNvSpPr>
            <a:spLocks noGrp="1"/>
          </p:cNvSpPr>
          <p:nvPr>
            <p:ph type="sldNum" sz="quarter" idx="12"/>
          </p:nvPr>
        </p:nvSpPr>
        <p:spPr>
          <a:xfrm>
            <a:off x="8610600" y="6356350"/>
            <a:ext cx="2743200" cy="365125"/>
          </a:xfrm>
        </p:spPr>
        <p:txBody>
          <a:bodyPr/>
          <a:lstStyle/>
          <a:p>
            <a:fld id="{87BEDC82-49FF-42E3-B7EA-26FF728940D5}" type="slidenum">
              <a:rPr lang="tr-TR" smtClean="0"/>
              <a:t>13</a:t>
            </a:fld>
            <a:endParaRPr lang="tr-TR"/>
          </a:p>
        </p:txBody>
      </p:sp>
      <p:sp>
        <p:nvSpPr>
          <p:cNvPr id="9" name="Title 1">
            <a:extLst>
              <a:ext uri="{FF2B5EF4-FFF2-40B4-BE49-F238E27FC236}">
                <a16:creationId xmlns:a16="http://schemas.microsoft.com/office/drawing/2014/main" id="{D8727906-CE6B-113C-60BA-5466AD10BF51}"/>
              </a:ext>
            </a:extLst>
          </p:cNvPr>
          <p:cNvSpPr txBox="1">
            <a:spLocks/>
          </p:cNvSpPr>
          <p:nvPr/>
        </p:nvSpPr>
        <p:spPr>
          <a:xfrm>
            <a:off x="1408090" y="249215"/>
            <a:ext cx="9144000" cy="7509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500" b="1" dirty="0">
                <a:solidFill>
                  <a:srgbClr val="0070C0"/>
                </a:solidFill>
                <a:latin typeface="Times New Roman" panose="02020603050405020304" pitchFamily="18" charset="0"/>
                <a:cs typeface="Times New Roman" panose="02020603050405020304" pitchFamily="18" charset="0"/>
              </a:rPr>
              <a:t>Aviyonik – </a:t>
            </a:r>
            <a:r>
              <a:rPr lang="en-US" sz="3500" b="1" dirty="0" err="1">
                <a:solidFill>
                  <a:srgbClr val="0070C0"/>
                </a:solidFill>
                <a:latin typeface="Times New Roman" panose="02020603050405020304" pitchFamily="18" charset="0"/>
                <a:cs typeface="Times New Roman" panose="02020603050405020304" pitchFamily="18" charset="0"/>
              </a:rPr>
              <a:t>Özgün</a:t>
            </a:r>
            <a:r>
              <a:rPr lang="en-US" sz="3500" b="1" dirty="0">
                <a:solidFill>
                  <a:srgbClr val="0070C0"/>
                </a:solidFill>
                <a:latin typeface="Times New Roman" panose="02020603050405020304" pitchFamily="18" charset="0"/>
                <a:cs typeface="Times New Roman" panose="02020603050405020304" pitchFamily="18" charset="0"/>
              </a:rPr>
              <a:t> </a:t>
            </a:r>
            <a:r>
              <a:rPr lang="en-US" sz="3500" b="1" dirty="0" err="1">
                <a:solidFill>
                  <a:srgbClr val="0070C0"/>
                </a:solidFill>
                <a:latin typeface="Times New Roman" panose="02020603050405020304" pitchFamily="18" charset="0"/>
                <a:cs typeface="Times New Roman" panose="02020603050405020304" pitchFamily="18" charset="0"/>
              </a:rPr>
              <a:t>Sistem</a:t>
            </a:r>
            <a:r>
              <a:rPr lang="en-US" sz="3500" b="1" dirty="0">
                <a:solidFill>
                  <a:srgbClr val="0070C0"/>
                </a:solidFill>
                <a:latin typeface="Times New Roman" panose="02020603050405020304" pitchFamily="18" charset="0"/>
                <a:cs typeface="Times New Roman" panose="02020603050405020304" pitchFamily="18" charset="0"/>
              </a:rPr>
              <a:t> </a:t>
            </a:r>
            <a:r>
              <a:rPr lang="tr-TR" sz="3500" b="1" dirty="0">
                <a:solidFill>
                  <a:srgbClr val="0070C0"/>
                </a:solidFill>
                <a:latin typeface="Times New Roman" panose="02020603050405020304" pitchFamily="18" charset="0"/>
                <a:cs typeface="Times New Roman" panose="02020603050405020304" pitchFamily="18" charset="0"/>
              </a:rPr>
              <a:t>Mekanik Görünüm </a:t>
            </a:r>
          </a:p>
        </p:txBody>
      </p:sp>
      <p:sp>
        <p:nvSpPr>
          <p:cNvPr id="2" name="Footer Placeholder 8">
            <a:extLst>
              <a:ext uri="{FF2B5EF4-FFF2-40B4-BE49-F238E27FC236}">
                <a16:creationId xmlns:a16="http://schemas.microsoft.com/office/drawing/2014/main" id="{B94A9335-E079-7EBC-89D9-0A6D71812644}"/>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127659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14</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4" name="Title 1"/>
          <p:cNvSpPr txBox="1">
            <a:spLocks/>
          </p:cNvSpPr>
          <p:nvPr/>
        </p:nvSpPr>
        <p:spPr>
          <a:xfrm>
            <a:off x="1408090" y="249215"/>
            <a:ext cx="9144000" cy="75095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600" b="1" dirty="0">
                <a:solidFill>
                  <a:srgbClr val="0070C0"/>
                </a:solidFill>
                <a:latin typeface="Times New Roman" panose="02020603050405020304" pitchFamily="18" charset="0"/>
                <a:cs typeface="Times New Roman" panose="02020603050405020304" pitchFamily="18" charset="0"/>
              </a:rPr>
              <a:t>Aviyonik </a:t>
            </a:r>
            <a:r>
              <a:rPr lang="mr-IN" sz="3600" b="1" dirty="0">
                <a:solidFill>
                  <a:srgbClr val="0070C0"/>
                </a:solidFill>
                <a:latin typeface="Times New Roman" panose="02020603050405020304" pitchFamily="18" charset="0"/>
              </a:rPr>
              <a:t>–</a:t>
            </a:r>
            <a:r>
              <a:rPr lang="tr-TR"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Ticari</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Sistem</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Detay</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20" name="TextBox 14">
            <a:extLst>
              <a:ext uri="{FF2B5EF4-FFF2-40B4-BE49-F238E27FC236}">
                <a16:creationId xmlns:a16="http://schemas.microsoft.com/office/drawing/2014/main" id="{BF70F4E8-C242-AD19-CD31-EAFAB4700E1E}"/>
              </a:ext>
            </a:extLst>
          </p:cNvPr>
          <p:cNvSpPr txBox="1"/>
          <p:nvPr/>
        </p:nvSpPr>
        <p:spPr>
          <a:xfrm>
            <a:off x="79384" y="1528017"/>
            <a:ext cx="11664052" cy="923330"/>
          </a:xfrm>
          <a:prstGeom prst="rect">
            <a:avLst/>
          </a:prstGeom>
          <a:noFill/>
        </p:spPr>
        <p:txBody>
          <a:bodyPr wrap="square" rtlCol="0">
            <a:spAutoFit/>
          </a:bodyPr>
          <a:lstStyle/>
          <a:p>
            <a:pPr marL="285750" indent="-285750" algn="just">
              <a:buFont typeface="Arial" panose="020B0604020202020204" pitchFamily="34" charset="0"/>
              <a:buChar char="•"/>
            </a:pPr>
            <a:r>
              <a:rPr lang="tr-TR" dirty="0"/>
              <a:t>Kullanılacak ticari UKB aşağıdaki listeden seçilmek zorundadır. Takımlar bu listeden hangi </a:t>
            </a:r>
            <a:r>
              <a:rPr lang="tr-TR" dirty="0" err="1"/>
              <a:t>UKB’yi</a:t>
            </a:r>
            <a:r>
              <a:rPr lang="tr-TR" dirty="0"/>
              <a:t> kullanacaklarını bu sayfada belirtecekler.</a:t>
            </a:r>
          </a:p>
          <a:p>
            <a:pPr marL="285750" indent="-285750" algn="just">
              <a:buFont typeface="Arial" panose="020B0604020202020204" pitchFamily="34" charset="0"/>
              <a:buChar char="•"/>
            </a:pPr>
            <a:endParaRPr lang="en-US" dirty="0"/>
          </a:p>
        </p:txBody>
      </p:sp>
      <p:graphicFrame>
        <p:nvGraphicFramePr>
          <p:cNvPr id="2" name="Table 1">
            <a:extLst>
              <a:ext uri="{FF2B5EF4-FFF2-40B4-BE49-F238E27FC236}">
                <a16:creationId xmlns:a16="http://schemas.microsoft.com/office/drawing/2014/main" id="{087DD2A7-9DFE-48A4-9247-19EFAF0DEE4E}"/>
              </a:ext>
            </a:extLst>
          </p:cNvPr>
          <p:cNvGraphicFramePr>
            <a:graphicFrameLocks noGrp="1"/>
          </p:cNvGraphicFramePr>
          <p:nvPr>
            <p:extLst>
              <p:ext uri="{D42A27DB-BD31-4B8C-83A1-F6EECF244321}">
                <p14:modId xmlns:p14="http://schemas.microsoft.com/office/powerpoint/2010/main" val="698798517"/>
              </p:ext>
            </p:extLst>
          </p:nvPr>
        </p:nvGraphicFramePr>
        <p:xfrm>
          <a:off x="2533935" y="2088003"/>
          <a:ext cx="7600335" cy="3162420"/>
        </p:xfrm>
        <a:graphic>
          <a:graphicData uri="http://schemas.openxmlformats.org/drawingml/2006/table">
            <a:tbl>
              <a:tblPr firstRow="1" firstCol="1" bandRow="1">
                <a:tableStyleId>{5C22544A-7EE6-4342-B048-85BDC9FD1C3A}</a:tableStyleId>
              </a:tblPr>
              <a:tblGrid>
                <a:gridCol w="653060">
                  <a:extLst>
                    <a:ext uri="{9D8B030D-6E8A-4147-A177-3AD203B41FA5}">
                      <a16:colId xmlns:a16="http://schemas.microsoft.com/office/drawing/2014/main" val="2558135041"/>
                    </a:ext>
                  </a:extLst>
                </a:gridCol>
                <a:gridCol w="6947275">
                  <a:extLst>
                    <a:ext uri="{9D8B030D-6E8A-4147-A177-3AD203B41FA5}">
                      <a16:colId xmlns:a16="http://schemas.microsoft.com/office/drawing/2014/main" val="2022292040"/>
                    </a:ext>
                  </a:extLst>
                </a:gridCol>
              </a:tblGrid>
              <a:tr h="316242">
                <a:tc>
                  <a:txBody>
                    <a:bodyPr/>
                    <a:lstStyle/>
                    <a:p>
                      <a:pPr marL="3175" indent="-6350" algn="ctr">
                        <a:lnSpc>
                          <a:spcPct val="107000"/>
                        </a:lnSpc>
                        <a:spcAft>
                          <a:spcPts val="0"/>
                        </a:spcAft>
                      </a:pPr>
                      <a:r>
                        <a:rPr lang="tr-TR" sz="1600">
                          <a:effectLst/>
                        </a:rPr>
                        <a:t>No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a:effectLst/>
                        </a:rPr>
                        <a:t>Ticari Uçuş Kontrol Bilgisayarı Markası / Modeli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326366592"/>
                  </a:ext>
                </a:extLst>
              </a:tr>
              <a:tr h="316242">
                <a:tc>
                  <a:txBody>
                    <a:bodyPr/>
                    <a:lstStyle/>
                    <a:p>
                      <a:pPr marL="5080" indent="-6350" algn="ctr">
                        <a:lnSpc>
                          <a:spcPct val="107000"/>
                        </a:lnSpc>
                        <a:spcAft>
                          <a:spcPts val="0"/>
                        </a:spcAft>
                      </a:pPr>
                      <a:r>
                        <a:rPr lang="tr-TR" sz="1600" dirty="0">
                          <a:effectLst/>
                        </a:rPr>
                        <a:t>1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a:effectLst/>
                        </a:rPr>
                        <a:t>ADREL DEPLOYMAX SINGLE DEPLOYMENT ALTIMETER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2312630037"/>
                  </a:ext>
                </a:extLst>
              </a:tr>
              <a:tr h="316242">
                <a:tc>
                  <a:txBody>
                    <a:bodyPr/>
                    <a:lstStyle/>
                    <a:p>
                      <a:pPr marL="5080" indent="-6350" algn="ctr">
                        <a:lnSpc>
                          <a:spcPct val="107000"/>
                        </a:lnSpc>
                        <a:spcAft>
                          <a:spcPts val="0"/>
                        </a:spcAft>
                      </a:pPr>
                      <a:r>
                        <a:rPr lang="tr-TR" sz="1600" dirty="0">
                          <a:effectLst/>
                        </a:rPr>
                        <a:t>2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a:effectLst/>
                        </a:rPr>
                        <a:t>ENTACORE AIM ALTIMETER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1942737163"/>
                  </a:ext>
                </a:extLst>
              </a:tr>
              <a:tr h="316242">
                <a:tc>
                  <a:txBody>
                    <a:bodyPr/>
                    <a:lstStyle/>
                    <a:p>
                      <a:pPr marL="5080" indent="-6350" algn="ctr">
                        <a:lnSpc>
                          <a:spcPct val="107000"/>
                        </a:lnSpc>
                        <a:spcAft>
                          <a:spcPts val="0"/>
                        </a:spcAft>
                      </a:pPr>
                      <a:r>
                        <a:rPr lang="tr-TR" sz="1600">
                          <a:effectLst/>
                        </a:rPr>
                        <a:t>3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a:effectLst/>
                        </a:rPr>
                        <a:t>LIGHTNING BUG DUAL DEPLOYMENT ALTIMETER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2225943796"/>
                  </a:ext>
                </a:extLst>
              </a:tr>
              <a:tr h="316242">
                <a:tc>
                  <a:txBody>
                    <a:bodyPr/>
                    <a:lstStyle/>
                    <a:p>
                      <a:pPr marL="5080" indent="-6350" algn="ctr">
                        <a:lnSpc>
                          <a:spcPct val="107000"/>
                        </a:lnSpc>
                        <a:spcAft>
                          <a:spcPts val="0"/>
                        </a:spcAft>
                      </a:pPr>
                      <a:r>
                        <a:rPr lang="tr-TR" sz="1600">
                          <a:effectLst/>
                        </a:rPr>
                        <a:t>4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a:effectLst/>
                        </a:rPr>
                        <a:t>RRC3 "SPORT" ALTIMETER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1111308441"/>
                  </a:ext>
                </a:extLst>
              </a:tr>
              <a:tr h="316242">
                <a:tc>
                  <a:txBody>
                    <a:bodyPr/>
                    <a:lstStyle/>
                    <a:p>
                      <a:pPr marL="5080" indent="-6350" algn="ctr">
                        <a:lnSpc>
                          <a:spcPct val="107000"/>
                        </a:lnSpc>
                        <a:spcAft>
                          <a:spcPts val="0"/>
                        </a:spcAft>
                      </a:pPr>
                      <a:r>
                        <a:rPr lang="tr-TR" sz="1600">
                          <a:effectLst/>
                        </a:rPr>
                        <a:t>5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err="1">
                          <a:effectLst/>
                        </a:rPr>
                        <a:t>EasyMini</a:t>
                      </a:r>
                      <a:r>
                        <a:rPr lang="tr-TR" sz="1600" dirty="0">
                          <a:effectLst/>
                        </a:rPr>
                        <a:t> ALTIMETER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1986767664"/>
                  </a:ext>
                </a:extLst>
              </a:tr>
              <a:tr h="316242">
                <a:tc>
                  <a:txBody>
                    <a:bodyPr/>
                    <a:lstStyle/>
                    <a:p>
                      <a:pPr marL="5080" indent="-6350" algn="ctr">
                        <a:lnSpc>
                          <a:spcPct val="107000"/>
                        </a:lnSpc>
                        <a:spcAft>
                          <a:spcPts val="0"/>
                        </a:spcAft>
                      </a:pPr>
                      <a:r>
                        <a:rPr lang="tr-TR" sz="1600">
                          <a:effectLst/>
                        </a:rPr>
                        <a:t>6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a:effectLst/>
                        </a:rPr>
                        <a:t>TELEMETRUM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403227035"/>
                  </a:ext>
                </a:extLst>
              </a:tr>
              <a:tr h="316242">
                <a:tc>
                  <a:txBody>
                    <a:bodyPr/>
                    <a:lstStyle/>
                    <a:p>
                      <a:pPr marL="5080" indent="-6350" algn="ctr">
                        <a:lnSpc>
                          <a:spcPct val="107000"/>
                        </a:lnSpc>
                        <a:spcAft>
                          <a:spcPts val="0"/>
                        </a:spcAft>
                      </a:pPr>
                      <a:r>
                        <a:rPr lang="tr-TR" sz="1600">
                          <a:effectLst/>
                        </a:rPr>
                        <a:t>7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err="1">
                          <a:effectLst/>
                        </a:rPr>
                        <a:t>Stratologger</a:t>
                      </a:r>
                      <a:r>
                        <a:rPr lang="tr-TR" sz="1600" dirty="0">
                          <a:effectLst/>
                        </a:rPr>
                        <a:t> CF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1442159332"/>
                  </a:ext>
                </a:extLst>
              </a:tr>
              <a:tr h="316242">
                <a:tc>
                  <a:txBody>
                    <a:bodyPr/>
                    <a:lstStyle/>
                    <a:p>
                      <a:pPr marL="5080" indent="-6350" algn="ctr">
                        <a:lnSpc>
                          <a:spcPct val="107000"/>
                        </a:lnSpc>
                        <a:spcAft>
                          <a:spcPts val="0"/>
                        </a:spcAft>
                      </a:pPr>
                      <a:r>
                        <a:rPr lang="tr-TR" sz="1600">
                          <a:effectLst/>
                        </a:rPr>
                        <a:t>8 </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err="1">
                          <a:effectLst/>
                        </a:rPr>
                        <a:t>TeleMega</a:t>
                      </a:r>
                      <a:r>
                        <a:rPr lang="tr-TR" sz="1600" dirty="0">
                          <a:effectLst/>
                        </a:rPr>
                        <a:t> </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3515567282"/>
                  </a:ext>
                </a:extLst>
              </a:tr>
              <a:tr h="316242">
                <a:tc>
                  <a:txBody>
                    <a:bodyPr/>
                    <a:lstStyle/>
                    <a:p>
                      <a:pPr marL="5080" indent="-6350" algn="ctr">
                        <a:lnSpc>
                          <a:spcPct val="107000"/>
                        </a:lnSpc>
                        <a:spcAft>
                          <a:spcPts val="0"/>
                        </a:spcAft>
                      </a:pPr>
                      <a:r>
                        <a:rPr lang="tr-TR" sz="1600">
                          <a:effectLst/>
                        </a:rPr>
                        <a:t>9</a:t>
                      </a:r>
                      <a:endParaRPr lang="tr-TR" sz="16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tc>
                  <a:txBody>
                    <a:bodyPr/>
                    <a:lstStyle/>
                    <a:p>
                      <a:pPr marL="6350" indent="-6350" algn="l">
                        <a:lnSpc>
                          <a:spcPct val="107000"/>
                        </a:lnSpc>
                        <a:spcAft>
                          <a:spcPts val="0"/>
                        </a:spcAft>
                      </a:pPr>
                      <a:r>
                        <a:rPr lang="tr-TR" sz="1600" dirty="0" err="1">
                          <a:effectLst/>
                        </a:rPr>
                        <a:t>Sky</a:t>
                      </a:r>
                      <a:r>
                        <a:rPr lang="tr-TR" sz="1600" dirty="0">
                          <a:effectLst/>
                        </a:rPr>
                        <a:t> </a:t>
                      </a:r>
                      <a:r>
                        <a:rPr lang="tr-TR" sz="1600" dirty="0" err="1">
                          <a:effectLst/>
                        </a:rPr>
                        <a:t>Logic</a:t>
                      </a:r>
                      <a:r>
                        <a:rPr lang="tr-TR" sz="1600" dirty="0">
                          <a:effectLst/>
                        </a:rPr>
                        <a:t> (İpek Yolu Takımı Ürünü)</a:t>
                      </a:r>
                      <a:endParaRPr lang="tr-TR"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73025" marT="6985" marB="0"/>
                </a:tc>
                <a:extLst>
                  <a:ext uri="{0D108BD9-81ED-4DB2-BD59-A6C34878D82A}">
                    <a16:rowId xmlns:a16="http://schemas.microsoft.com/office/drawing/2014/main" val="1863491513"/>
                  </a:ext>
                </a:extLst>
              </a:tr>
            </a:tbl>
          </a:graphicData>
        </a:graphic>
      </p:graphicFrame>
      <p:sp>
        <p:nvSpPr>
          <p:cNvPr id="7" name="TextBox 6">
            <a:extLst>
              <a:ext uri="{FF2B5EF4-FFF2-40B4-BE49-F238E27FC236}">
                <a16:creationId xmlns:a16="http://schemas.microsoft.com/office/drawing/2014/main" id="{AC6C4B55-6AC7-4C63-BBAF-D38B1EC03776}"/>
              </a:ext>
            </a:extLst>
          </p:cNvPr>
          <p:cNvSpPr txBox="1"/>
          <p:nvPr/>
        </p:nvSpPr>
        <p:spPr>
          <a:xfrm>
            <a:off x="245806" y="5365216"/>
            <a:ext cx="10933471" cy="369332"/>
          </a:xfrm>
          <a:prstGeom prst="rect">
            <a:avLst/>
          </a:prstGeom>
          <a:noFill/>
        </p:spPr>
        <p:txBody>
          <a:bodyPr wrap="square" rtlCol="0">
            <a:spAutoFit/>
          </a:bodyPr>
          <a:lstStyle/>
          <a:p>
            <a:pPr marL="285750" indent="-285750" algn="just">
              <a:buFont typeface="Arial" panose="020B0604020202020204" pitchFamily="34" charset="0"/>
              <a:buChar char="•"/>
            </a:pPr>
            <a:r>
              <a:rPr lang="en-US" dirty="0"/>
              <a:t> </a:t>
            </a:r>
            <a:r>
              <a:rPr lang="en-US" dirty="0" err="1"/>
              <a:t>Ticari</a:t>
            </a:r>
            <a:r>
              <a:rPr lang="en-US" dirty="0"/>
              <a:t> UKB ve </a:t>
            </a:r>
            <a:r>
              <a:rPr lang="en-US" dirty="0" err="1"/>
              <a:t>çevre</a:t>
            </a:r>
            <a:r>
              <a:rPr lang="en-US" dirty="0"/>
              <a:t> </a:t>
            </a:r>
            <a:r>
              <a:rPr lang="en-US" dirty="0" err="1"/>
              <a:t>birimleri</a:t>
            </a:r>
            <a:r>
              <a:rPr lang="en-US" dirty="0"/>
              <a:t> </a:t>
            </a:r>
            <a:r>
              <a:rPr lang="en-US" dirty="0" err="1"/>
              <a:t>tanıtılmalıdır</a:t>
            </a:r>
            <a:r>
              <a:rPr lang="en-US" dirty="0"/>
              <a:t>. (</a:t>
            </a:r>
            <a:r>
              <a:rPr lang="en-US" dirty="0" err="1"/>
              <a:t>Batarya</a:t>
            </a:r>
            <a:r>
              <a:rPr lang="en-US" dirty="0"/>
              <a:t>, switch vb.) </a:t>
            </a:r>
            <a:r>
              <a:rPr lang="tr-TR" dirty="0"/>
              <a:t>Bu kısım 2 (iki) yansıyı geçmemelidir.</a:t>
            </a:r>
          </a:p>
        </p:txBody>
      </p:sp>
      <p:sp>
        <p:nvSpPr>
          <p:cNvPr id="9" name="Footer Placeholder 8">
            <a:extLst>
              <a:ext uri="{FF2B5EF4-FFF2-40B4-BE49-F238E27FC236}">
                <a16:creationId xmlns:a16="http://schemas.microsoft.com/office/drawing/2014/main" id="{27F28089-3555-B266-7ADB-557967052DF1}"/>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18780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21" name="Dikdörtgen 10"/>
          <p:cNvSpPr/>
          <p:nvPr/>
        </p:nvSpPr>
        <p:spPr>
          <a:xfrm>
            <a:off x="814710" y="1486709"/>
            <a:ext cx="2766690"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Aviyonik</a:t>
            </a:r>
            <a:r>
              <a:rPr kumimoji="0" lang="en-US"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 </a:t>
            </a: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Sistem</a:t>
            </a:r>
            <a:r>
              <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rPr>
              <a:t> </a:t>
            </a:r>
            <a:r>
              <a:rPr kumimoji="0" lang="en-US" sz="1800" b="1" i="0" u="none" strike="noStrike" kern="1200" cap="none" spc="0" normalizeH="0" baseline="0" noProof="0" err="1">
                <a:ln>
                  <a:noFill/>
                </a:ln>
                <a:solidFill>
                  <a:prstClr val="white"/>
                </a:solidFill>
                <a:effectLst/>
                <a:uLnTx/>
                <a:uFillTx/>
                <a:latin typeface="Calibri" panose="020F0502020204030204"/>
                <a:ea typeface="+mn-ea"/>
                <a:cs typeface="Times New Roman" panose="02020603050405020304" pitchFamily="18" charset="0"/>
              </a:rPr>
              <a:t>Şeması</a:t>
            </a:r>
            <a:endParaRPr kumimoji="0" lang="tr-TR" sz="1800" b="1" i="0" u="none" strike="noStrike" kern="1200" cap="none" spc="0" normalizeH="0" baseline="0" noProof="0">
              <a:ln>
                <a:noFill/>
              </a:ln>
              <a:solidFill>
                <a:prstClr val="white"/>
              </a:solidFill>
              <a:effectLst/>
              <a:uLnTx/>
              <a:uFillTx/>
              <a:latin typeface="Calibri" panose="020F0502020204030204"/>
              <a:ea typeface="+mn-ea"/>
              <a:cs typeface="Times New Roman" panose="02020603050405020304" pitchFamily="18" charset="0"/>
            </a:endParaRPr>
          </a:p>
        </p:txBody>
      </p:sp>
      <p:sp>
        <p:nvSpPr>
          <p:cNvPr id="22" name="Dikdörtgen 10"/>
          <p:cNvSpPr/>
          <p:nvPr/>
        </p:nvSpPr>
        <p:spPr>
          <a:xfrm>
            <a:off x="8600688" y="1480221"/>
            <a:ext cx="2794674"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Üretilmiş </a:t>
            </a: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Aviyonik</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 </a:t>
            </a: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Sistem</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 </a:t>
            </a:r>
            <a:endPar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Görüntü</a:t>
            </a:r>
            <a:endPar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23" name="Dikdörtgen 10"/>
          <p:cNvSpPr/>
          <p:nvPr/>
        </p:nvSpPr>
        <p:spPr>
          <a:xfrm>
            <a:off x="4698663" y="1486709"/>
            <a:ext cx="2794674"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Üretilmiş </a:t>
            </a: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Devre</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rPr>
              <a:t> </a:t>
            </a:r>
            <a:endPar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Times New Roman" panose="02020603050405020304" pitchFamily="18" charset="0"/>
              </a:rPr>
              <a:t>Görüntü</a:t>
            </a:r>
            <a:endParaRPr kumimoji="0" lang="tr-TR" sz="18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15" name="Slide Number Placeholder 2">
            <a:extLst>
              <a:ext uri="{FF2B5EF4-FFF2-40B4-BE49-F238E27FC236}">
                <a16:creationId xmlns:a16="http://schemas.microsoft.com/office/drawing/2014/main" id="{5E31B736-6CE7-9273-2DCE-458ADFDCE238}"/>
              </a:ext>
            </a:extLst>
          </p:cNvPr>
          <p:cNvSpPr>
            <a:spLocks noGrp="1"/>
          </p:cNvSpPr>
          <p:nvPr>
            <p:ph type="sldNum" sz="quarter" idx="12"/>
          </p:nvPr>
        </p:nvSpPr>
        <p:spPr>
          <a:xfrm>
            <a:off x="8610600" y="6356350"/>
            <a:ext cx="2743200" cy="365125"/>
          </a:xfrm>
        </p:spPr>
        <p:txBody>
          <a:bodyPr/>
          <a:lstStyle/>
          <a:p>
            <a:fld id="{87BEDC82-49FF-42E3-B7EA-26FF728940D5}" type="slidenum">
              <a:rPr lang="tr-TR" smtClean="0"/>
              <a:t>15</a:t>
            </a:fld>
            <a:endParaRPr lang="tr-TR"/>
          </a:p>
        </p:txBody>
      </p:sp>
      <p:sp>
        <p:nvSpPr>
          <p:cNvPr id="9" name="Title 1">
            <a:extLst>
              <a:ext uri="{FF2B5EF4-FFF2-40B4-BE49-F238E27FC236}">
                <a16:creationId xmlns:a16="http://schemas.microsoft.com/office/drawing/2014/main" id="{C37AB891-8BC5-C761-56A2-EC08E560252A}"/>
              </a:ext>
            </a:extLst>
          </p:cNvPr>
          <p:cNvSpPr txBox="1">
            <a:spLocks/>
          </p:cNvSpPr>
          <p:nvPr/>
        </p:nvSpPr>
        <p:spPr>
          <a:xfrm>
            <a:off x="1408090" y="249215"/>
            <a:ext cx="9144000" cy="7509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600" b="1" dirty="0">
                <a:solidFill>
                  <a:srgbClr val="0070C0"/>
                </a:solidFill>
                <a:latin typeface="Times New Roman" panose="02020603050405020304" pitchFamily="18" charset="0"/>
                <a:cs typeface="Times New Roman" panose="02020603050405020304" pitchFamily="18" charset="0"/>
              </a:rPr>
              <a:t>Aviyonik – </a:t>
            </a:r>
            <a:r>
              <a:rPr lang="en-US" sz="3600" b="1" dirty="0" err="1">
                <a:solidFill>
                  <a:srgbClr val="0070C0"/>
                </a:solidFill>
                <a:latin typeface="Times New Roman" panose="02020603050405020304" pitchFamily="18" charset="0"/>
                <a:cs typeface="Times New Roman" panose="02020603050405020304" pitchFamily="18" charset="0"/>
              </a:rPr>
              <a:t>Ticari</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Sistem</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Mekanik</a:t>
            </a:r>
            <a:r>
              <a:rPr lang="en-US" sz="3600" b="1" dirty="0">
                <a:solidFill>
                  <a:srgbClr val="0070C0"/>
                </a:solidFill>
                <a:latin typeface="Times New Roman" panose="02020603050405020304" pitchFamily="18" charset="0"/>
                <a:cs typeface="Times New Roman" panose="02020603050405020304" pitchFamily="18" charset="0"/>
              </a:rPr>
              <a:t> </a:t>
            </a:r>
            <a:r>
              <a:rPr lang="tr-TR" sz="3600" b="1" dirty="0">
                <a:solidFill>
                  <a:srgbClr val="0070C0"/>
                </a:solidFill>
                <a:latin typeface="Times New Roman" panose="02020603050405020304" pitchFamily="18" charset="0"/>
                <a:cs typeface="Times New Roman" panose="02020603050405020304" pitchFamily="18" charset="0"/>
              </a:rPr>
              <a:t>Görünüm </a:t>
            </a:r>
          </a:p>
        </p:txBody>
      </p:sp>
      <p:sp>
        <p:nvSpPr>
          <p:cNvPr id="2" name="TextBox 1">
            <a:extLst>
              <a:ext uri="{FF2B5EF4-FFF2-40B4-BE49-F238E27FC236}">
                <a16:creationId xmlns:a16="http://schemas.microsoft.com/office/drawing/2014/main" id="{07E24E4A-2623-D2D9-5155-235955433CE0}"/>
              </a:ext>
            </a:extLst>
          </p:cNvPr>
          <p:cNvSpPr txBox="1"/>
          <p:nvPr/>
        </p:nvSpPr>
        <p:spPr>
          <a:xfrm>
            <a:off x="1841393" y="3810544"/>
            <a:ext cx="8509214" cy="1477328"/>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Aviyonik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sistem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üzerinde takım ismi yazmalı, takım üyesi ile fotosu olmalı ya da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sticker </a:t>
            </a:r>
            <a:r>
              <a:rPr lang="en-US" dirty="0">
                <a:solidFill>
                  <a:prstClr val="black"/>
                </a:solidFill>
                <a:latin typeface="Calibri" panose="020F0502020204030204"/>
                <a:cs typeface="Times New Roman" panose="02020603050405020304" pitchFamily="18" charset="0"/>
              </a:rPr>
              <a:t>vb.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bir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logo olmalı</a:t>
            </a:r>
            <a:r>
              <a:rPr lang="en-US" dirty="0" err="1">
                <a:solidFill>
                  <a:prstClr val="black"/>
                </a:solidFill>
                <a:latin typeface="Calibri" panose="020F0502020204030204"/>
                <a:cs typeface="Times New Roman" panose="02020603050405020304" pitchFamily="18" charset="0"/>
              </a:rPr>
              <a:t>dır</a:t>
            </a:r>
            <a:r>
              <a:rPr lang="en-US" dirty="0">
                <a:solidFill>
                  <a:prstClr val="black"/>
                </a:solidFill>
                <a:latin typeface="Calibri" panose="020F0502020204030204"/>
                <a:cs typeface="Times New Roman" panose="02020603050405020304" pitchFamily="18" charset="0"/>
              </a:rPr>
              <a:t>.</a:t>
            </a: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Bu sayfada sadece </a:t>
            </a:r>
            <a:r>
              <a:rPr lang="en-US" dirty="0" err="1">
                <a:solidFill>
                  <a:prstClr val="black"/>
                </a:solidFill>
                <a:latin typeface="Calibri" panose="020F0502020204030204"/>
                <a:cs typeface="Times New Roman" panose="02020603050405020304" pitchFamily="18" charset="0"/>
              </a:rPr>
              <a:t>görseller</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olmalı detaylar sonraki sayfa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lar</a:t>
            </a: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da verilmeli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dir.</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Verilen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şema</a:t>
            </a:r>
            <a:r>
              <a:rPr lang="en-US" dirty="0">
                <a:solidFill>
                  <a:prstClr val="black"/>
                </a:solidFill>
                <a:latin typeface="Calibri" panose="020F0502020204030204"/>
                <a:cs typeface="Times New Roman" panose="02020603050405020304" pitchFamily="18" charset="0"/>
              </a:rPr>
              <a:t>da </a:t>
            </a:r>
            <a:r>
              <a:rPr lang="en-US" dirty="0" err="1">
                <a:solidFill>
                  <a:prstClr val="black"/>
                </a:solidFill>
                <a:latin typeface="Calibri" panose="020F0502020204030204"/>
                <a:cs typeface="Times New Roman" panose="02020603050405020304" pitchFamily="18" charset="0"/>
              </a:rPr>
              <a:t>bütün</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bileşenler</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isimleri</a:t>
            </a:r>
            <a:r>
              <a:rPr lang="en-US" dirty="0">
                <a:solidFill>
                  <a:prstClr val="black"/>
                </a:solidFill>
                <a:latin typeface="Calibri" panose="020F0502020204030204"/>
                <a:cs typeface="Times New Roman" panose="02020603050405020304" pitchFamily="18" charset="0"/>
              </a:rPr>
              <a:t>/</a:t>
            </a:r>
            <a:r>
              <a:rPr lang="en-US" dirty="0" err="1">
                <a:solidFill>
                  <a:prstClr val="black"/>
                </a:solidFill>
                <a:latin typeface="Calibri" panose="020F0502020204030204"/>
                <a:cs typeface="Times New Roman" panose="02020603050405020304" pitchFamily="18" charset="0"/>
              </a:rPr>
              <a:t>kodları</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ile</a:t>
            </a:r>
            <a:r>
              <a:rPr lang="en-US" dirty="0">
                <a:solidFill>
                  <a:prstClr val="black"/>
                </a:solidFill>
                <a:latin typeface="Calibri" panose="020F0502020204030204"/>
                <a:cs typeface="Times New Roman" panose="02020603050405020304" pitchFamily="18" charset="0"/>
              </a:rPr>
              <a:t> </a:t>
            </a:r>
            <a:r>
              <a:rPr lang="en-US" dirty="0" err="1">
                <a:solidFill>
                  <a:prstClr val="black"/>
                </a:solidFill>
                <a:latin typeface="Calibri" panose="020F0502020204030204"/>
                <a:cs typeface="Times New Roman" panose="02020603050405020304" pitchFamily="18" charset="0"/>
              </a:rPr>
              <a:t>belirtilmelidir</a:t>
            </a:r>
            <a:r>
              <a:rPr lang="en-US" dirty="0">
                <a:solidFill>
                  <a:prstClr val="black"/>
                </a:solidFill>
                <a:latin typeface="Calibri" panose="020F0502020204030204"/>
                <a:cs typeface="Times New Roman" panose="02020603050405020304" pitchFamily="18" charset="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p:txBody>
      </p:sp>
      <p:sp>
        <p:nvSpPr>
          <p:cNvPr id="3" name="Footer Placeholder 8">
            <a:extLst>
              <a:ext uri="{FF2B5EF4-FFF2-40B4-BE49-F238E27FC236}">
                <a16:creationId xmlns:a16="http://schemas.microsoft.com/office/drawing/2014/main" id="{1801DF32-10B0-7893-0213-F4C3FDEB3272}"/>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183229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600" b="1">
                <a:solidFill>
                  <a:srgbClr val="0070C0"/>
                </a:solidFill>
                <a:latin typeface="Times New Roman" panose="02020603050405020304" pitchFamily="18" charset="0"/>
                <a:cs typeface="Times New Roman" panose="02020603050405020304" pitchFamily="18" charset="0"/>
              </a:rPr>
              <a:t>Burun Konisi Mekanik Görünüm</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16</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1179226" y="2327938"/>
            <a:ext cx="4221852"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Burun Konisi </a:t>
            </a:r>
          </a:p>
          <a:p>
            <a:pPr algn="ctr"/>
            <a:r>
              <a:rPr lang="tr-TR" sz="3200" b="1"/>
              <a:t>3 Boyutlu Görünüm (CAD) </a:t>
            </a:r>
          </a:p>
        </p:txBody>
      </p:sp>
      <p:sp>
        <p:nvSpPr>
          <p:cNvPr id="17" name="Dikdörtgen 16"/>
          <p:cNvSpPr/>
          <p:nvPr/>
        </p:nvSpPr>
        <p:spPr>
          <a:xfrm>
            <a:off x="6920114" y="2327937"/>
            <a:ext cx="4059726"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err="1"/>
              <a:t>Üretilmiş</a:t>
            </a:r>
            <a:r>
              <a:rPr lang="en-US" sz="3200" b="1"/>
              <a:t> </a:t>
            </a:r>
            <a:r>
              <a:rPr lang="en-US" sz="3200" b="1" err="1"/>
              <a:t>Burun</a:t>
            </a:r>
            <a:r>
              <a:rPr lang="en-US" sz="3200" b="1"/>
              <a:t> </a:t>
            </a:r>
            <a:r>
              <a:rPr lang="en-US" sz="3200" b="1" err="1"/>
              <a:t>Konisi</a:t>
            </a:r>
            <a:r>
              <a:rPr lang="en-US" sz="3200" b="1"/>
              <a:t> </a:t>
            </a:r>
            <a:r>
              <a:rPr lang="en-US" sz="3200" b="1" err="1"/>
              <a:t>Görüntü</a:t>
            </a:r>
            <a:r>
              <a:rPr lang="en-US" sz="3200" b="1"/>
              <a:t> </a:t>
            </a:r>
            <a:r>
              <a:rPr lang="tr-TR" sz="3200" b="1"/>
              <a:t> </a:t>
            </a:r>
          </a:p>
        </p:txBody>
      </p:sp>
      <p:sp>
        <p:nvSpPr>
          <p:cNvPr id="7" name="Rectangle 6"/>
          <p:cNvSpPr/>
          <p:nvPr/>
        </p:nvSpPr>
        <p:spPr>
          <a:xfrm>
            <a:off x="7248" y="5826032"/>
            <a:ext cx="11672134" cy="369332"/>
          </a:xfrm>
          <a:prstGeom prst="rect">
            <a:avLst/>
          </a:prstGeom>
        </p:spPr>
        <p:txBody>
          <a:bodyPr wrap="square">
            <a:spAutoFit/>
          </a:bodyPr>
          <a:lstStyle/>
          <a:p>
            <a:pPr marL="285750" indent="-285750" algn="just">
              <a:buFont typeface="Wingdings" panose="05000000000000000000" pitchFamily="2" charset="2"/>
              <a:buChar char="q"/>
            </a:pPr>
            <a:r>
              <a:rPr lang="tr-TR" dirty="0">
                <a:cs typeface="Times New Roman" panose="02020603050405020304" pitchFamily="18" charset="0"/>
              </a:rPr>
              <a:t>Burun üzerinde takım ismi yazmalı,</a:t>
            </a:r>
            <a:r>
              <a:rPr lang="en-US" dirty="0">
                <a:cs typeface="Times New Roman" panose="02020603050405020304" pitchFamily="18" charset="0"/>
              </a:rPr>
              <a:t> </a:t>
            </a:r>
            <a:r>
              <a:rPr lang="en-US" dirty="0" err="1">
                <a:cs typeface="Times New Roman" panose="02020603050405020304" pitchFamily="18" charset="0"/>
              </a:rPr>
              <a:t>burun</a:t>
            </a:r>
            <a:r>
              <a:rPr lang="en-US" dirty="0">
                <a:cs typeface="Times New Roman" panose="02020603050405020304" pitchFamily="18" charset="0"/>
              </a:rPr>
              <a:t> </a:t>
            </a:r>
            <a:r>
              <a:rPr lang="en-US" dirty="0" err="1">
                <a:cs typeface="Times New Roman" panose="02020603050405020304" pitchFamily="18" charset="0"/>
              </a:rPr>
              <a:t>konisinin</a:t>
            </a:r>
            <a:r>
              <a:rPr lang="en-US" dirty="0">
                <a:cs typeface="Times New Roman" panose="02020603050405020304" pitchFamily="18" charset="0"/>
              </a:rPr>
              <a:t> </a:t>
            </a:r>
            <a:r>
              <a:rPr lang="tr-TR" dirty="0">
                <a:cs typeface="Times New Roman" panose="02020603050405020304" pitchFamily="18" charset="0"/>
              </a:rPr>
              <a:t> takım üyesi ile fotosu olmalı ya da </a:t>
            </a:r>
            <a:r>
              <a:rPr lang="en-US" dirty="0">
                <a:cs typeface="Times New Roman" panose="02020603050405020304" pitchFamily="18" charset="0"/>
              </a:rPr>
              <a:t>sticker vb. </a:t>
            </a:r>
            <a:r>
              <a:rPr lang="en-US" dirty="0" err="1">
                <a:cs typeface="Times New Roman" panose="02020603050405020304" pitchFamily="18" charset="0"/>
              </a:rPr>
              <a:t>bir</a:t>
            </a:r>
            <a:r>
              <a:rPr lang="en-US" dirty="0">
                <a:cs typeface="Times New Roman" panose="02020603050405020304" pitchFamily="18" charset="0"/>
              </a:rPr>
              <a:t> </a:t>
            </a:r>
            <a:r>
              <a:rPr lang="tr-TR" dirty="0">
                <a:cs typeface="Times New Roman" panose="02020603050405020304" pitchFamily="18" charset="0"/>
              </a:rPr>
              <a:t>logo olmalı. </a:t>
            </a:r>
          </a:p>
        </p:txBody>
      </p:sp>
      <p:sp>
        <p:nvSpPr>
          <p:cNvPr id="9" name="Footer Placeholder 8">
            <a:extLst>
              <a:ext uri="{FF2B5EF4-FFF2-40B4-BE49-F238E27FC236}">
                <a16:creationId xmlns:a16="http://schemas.microsoft.com/office/drawing/2014/main" id="{E46FF6DE-6B45-1643-E5F9-A5CBE9F3965E}"/>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497838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3600" b="1">
                <a:solidFill>
                  <a:srgbClr val="0070C0"/>
                </a:solidFill>
                <a:latin typeface="Times New Roman" panose="02020603050405020304" pitchFamily="18" charset="0"/>
                <a:cs typeface="Times New Roman" panose="02020603050405020304" pitchFamily="18" charset="0"/>
              </a:rPr>
              <a:t>Kanatçık Mekanik Görünüm</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17</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7238627" y="2510556"/>
            <a:ext cx="4221852"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err="1"/>
              <a:t>Kanatçık</a:t>
            </a:r>
            <a:r>
              <a:rPr lang="en-US" sz="3200" b="1"/>
              <a:t> </a:t>
            </a:r>
            <a:r>
              <a:rPr lang="en-US" sz="3200" b="1" err="1"/>
              <a:t>Üretilmiş</a:t>
            </a:r>
            <a:r>
              <a:rPr lang="en-US" sz="3200" b="1"/>
              <a:t> </a:t>
            </a:r>
            <a:r>
              <a:rPr lang="en-US" sz="3200" b="1" err="1"/>
              <a:t>Görüntü</a:t>
            </a:r>
            <a:r>
              <a:rPr lang="en-US" sz="3200" b="1"/>
              <a:t> </a:t>
            </a:r>
            <a:r>
              <a:rPr lang="tr-TR" sz="3200" b="1"/>
              <a:t> </a:t>
            </a:r>
          </a:p>
        </p:txBody>
      </p:sp>
      <p:sp>
        <p:nvSpPr>
          <p:cNvPr id="17" name="Dikdörtgen 16"/>
          <p:cNvSpPr/>
          <p:nvPr/>
        </p:nvSpPr>
        <p:spPr>
          <a:xfrm>
            <a:off x="943176" y="2510557"/>
            <a:ext cx="4059726"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Kanatçık 3 Boyutlu Görünüm</a:t>
            </a:r>
            <a:endParaRPr lang="en-US" sz="3200" b="1"/>
          </a:p>
          <a:p>
            <a:pPr algn="ctr"/>
            <a:r>
              <a:rPr lang="tr-TR" sz="3200" b="1"/>
              <a:t>(CAD) </a:t>
            </a:r>
          </a:p>
        </p:txBody>
      </p:sp>
      <p:sp>
        <p:nvSpPr>
          <p:cNvPr id="12" name="Rectangle 11"/>
          <p:cNvSpPr/>
          <p:nvPr/>
        </p:nvSpPr>
        <p:spPr>
          <a:xfrm>
            <a:off x="-24940" y="5900648"/>
            <a:ext cx="11629506" cy="369332"/>
          </a:xfrm>
          <a:prstGeom prst="rect">
            <a:avLst/>
          </a:prstGeom>
        </p:spPr>
        <p:txBody>
          <a:bodyPr wrap="square">
            <a:spAutoFit/>
          </a:bodyPr>
          <a:lstStyle/>
          <a:p>
            <a:pPr marL="285750" lvl="0" indent="-285750" algn="just">
              <a:buFont typeface="Wingdings" panose="05000000000000000000" pitchFamily="2" charset="2"/>
              <a:buChar char="q"/>
              <a:defRPr/>
            </a:pPr>
            <a:r>
              <a:rPr lang="en-US" dirty="0" err="1">
                <a:solidFill>
                  <a:prstClr val="black"/>
                </a:solidFill>
                <a:cs typeface="Times New Roman" panose="02020603050405020304" pitchFamily="18" charset="0"/>
              </a:rPr>
              <a:t>Kanatçıklar</a:t>
            </a:r>
            <a:r>
              <a:rPr lang="en-US" dirty="0">
                <a:solidFill>
                  <a:prstClr val="black"/>
                </a:solidFill>
                <a:cs typeface="Times New Roman" panose="02020603050405020304" pitchFamily="18" charset="0"/>
              </a:rPr>
              <a:t> </a:t>
            </a:r>
            <a:r>
              <a:rPr lang="tr-TR" dirty="0">
                <a:solidFill>
                  <a:prstClr val="black"/>
                </a:solidFill>
                <a:cs typeface="Times New Roman" panose="02020603050405020304" pitchFamily="18" charset="0"/>
              </a:rPr>
              <a:t>üzerinde takım ismi yazmalı, </a:t>
            </a:r>
            <a:r>
              <a:rPr lang="en-US" dirty="0" err="1">
                <a:solidFill>
                  <a:prstClr val="black"/>
                </a:solidFill>
                <a:cs typeface="Times New Roman" panose="02020603050405020304" pitchFamily="18" charset="0"/>
              </a:rPr>
              <a:t>kanatçıkların</a:t>
            </a:r>
            <a:r>
              <a:rPr lang="en-US" dirty="0">
                <a:solidFill>
                  <a:prstClr val="black"/>
                </a:solidFill>
                <a:cs typeface="Times New Roman" panose="02020603050405020304" pitchFamily="18" charset="0"/>
              </a:rPr>
              <a:t> </a:t>
            </a:r>
            <a:r>
              <a:rPr lang="tr-TR" dirty="0">
                <a:solidFill>
                  <a:prstClr val="black"/>
                </a:solidFill>
                <a:cs typeface="Times New Roman" panose="02020603050405020304" pitchFamily="18" charset="0"/>
              </a:rPr>
              <a:t>takım üyesi ile fotosu olmalı ya da </a:t>
            </a:r>
            <a:r>
              <a:rPr lang="en-US" dirty="0">
                <a:solidFill>
                  <a:prstClr val="black"/>
                </a:solidFill>
                <a:cs typeface="Times New Roman" panose="02020603050405020304" pitchFamily="18" charset="0"/>
              </a:rPr>
              <a:t>sticker vb. </a:t>
            </a:r>
            <a:r>
              <a:rPr lang="en-US" dirty="0" err="1">
                <a:solidFill>
                  <a:prstClr val="black"/>
                </a:solidFill>
                <a:cs typeface="Times New Roman" panose="02020603050405020304" pitchFamily="18" charset="0"/>
              </a:rPr>
              <a:t>bir</a:t>
            </a:r>
            <a:r>
              <a:rPr lang="en-US" dirty="0">
                <a:solidFill>
                  <a:prstClr val="black"/>
                </a:solidFill>
                <a:cs typeface="Times New Roman" panose="02020603050405020304" pitchFamily="18" charset="0"/>
              </a:rPr>
              <a:t> </a:t>
            </a:r>
            <a:r>
              <a:rPr lang="tr-TR" dirty="0">
                <a:solidFill>
                  <a:prstClr val="black"/>
                </a:solidFill>
                <a:cs typeface="Times New Roman" panose="02020603050405020304" pitchFamily="18" charset="0"/>
              </a:rPr>
              <a:t>logo olmalı. </a:t>
            </a:r>
          </a:p>
        </p:txBody>
      </p:sp>
      <p:sp>
        <p:nvSpPr>
          <p:cNvPr id="7" name="Footer Placeholder 8">
            <a:extLst>
              <a:ext uri="{FF2B5EF4-FFF2-40B4-BE49-F238E27FC236}">
                <a16:creationId xmlns:a16="http://schemas.microsoft.com/office/drawing/2014/main" id="{42B6F743-50B6-197F-D23F-2BB082AF7928}"/>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870595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2359" y="386209"/>
            <a:ext cx="9144000" cy="750956"/>
          </a:xfrm>
        </p:spPr>
        <p:txBody>
          <a:bodyPr>
            <a:noAutofit/>
          </a:bodyPr>
          <a:lstStyle/>
          <a:p>
            <a:r>
              <a:rPr lang="tr-TR" sz="3600" b="1">
                <a:solidFill>
                  <a:srgbClr val="0070C0"/>
                </a:solidFill>
                <a:latin typeface="Times New Roman" panose="02020603050405020304" pitchFamily="18" charset="0"/>
                <a:cs typeface="Times New Roman" panose="02020603050405020304" pitchFamily="18" charset="0"/>
              </a:rPr>
              <a:t>Gövde Parçaları &amp; Gövde Montaj Parçaları (YAPISAL) Mekanik Görünüm</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18</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593238" y="2110401"/>
            <a:ext cx="4578838"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Gövde Parçaları 3 Boyutlu Görünüm </a:t>
            </a:r>
            <a:endParaRPr lang="en-US" sz="3200" b="1"/>
          </a:p>
          <a:p>
            <a:pPr algn="ctr"/>
            <a:r>
              <a:rPr lang="tr-TR" sz="3200" b="1"/>
              <a:t>(CAD)</a:t>
            </a:r>
          </a:p>
        </p:txBody>
      </p:sp>
      <p:sp>
        <p:nvSpPr>
          <p:cNvPr id="17" name="Dikdörtgen 16"/>
          <p:cNvSpPr/>
          <p:nvPr/>
        </p:nvSpPr>
        <p:spPr>
          <a:xfrm>
            <a:off x="6586123" y="2110400"/>
            <a:ext cx="4999797" cy="152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err="1"/>
              <a:t>Gövde</a:t>
            </a:r>
            <a:r>
              <a:rPr lang="en-US" sz="3200" b="1"/>
              <a:t> </a:t>
            </a:r>
            <a:r>
              <a:rPr lang="en-US" sz="3200" b="1" err="1"/>
              <a:t>Parçaları</a:t>
            </a:r>
            <a:r>
              <a:rPr lang="en-US" sz="3200" b="1"/>
              <a:t> </a:t>
            </a:r>
            <a:r>
              <a:rPr lang="en-US" sz="3200" b="1" err="1"/>
              <a:t>Üretilmiş</a:t>
            </a:r>
            <a:r>
              <a:rPr lang="en-US" sz="3200" b="1"/>
              <a:t> Görüntü </a:t>
            </a:r>
            <a:endParaRPr lang="tr-TR" sz="3200" b="1"/>
          </a:p>
        </p:txBody>
      </p:sp>
      <p:sp>
        <p:nvSpPr>
          <p:cNvPr id="7" name="Rectangle 6">
            <a:extLst>
              <a:ext uri="{FF2B5EF4-FFF2-40B4-BE49-F238E27FC236}">
                <a16:creationId xmlns:a16="http://schemas.microsoft.com/office/drawing/2014/main" id="{BC54B867-724B-47FB-84C2-E34C9A07908E}"/>
              </a:ext>
            </a:extLst>
          </p:cNvPr>
          <p:cNvSpPr/>
          <p:nvPr/>
        </p:nvSpPr>
        <p:spPr>
          <a:xfrm>
            <a:off x="-77454" y="6034275"/>
            <a:ext cx="9437585" cy="276999"/>
          </a:xfrm>
          <a:prstGeom prst="rect">
            <a:avLst/>
          </a:prstGeom>
        </p:spPr>
        <p:txBody>
          <a:bodyPr wrap="square">
            <a:spAutoFit/>
          </a:bodyPr>
          <a:lstStyle/>
          <a:p>
            <a:r>
              <a:rPr lang="tr-TR" sz="1200" i="1"/>
              <a:t>*Mekanik olarak dışarıdan ulaşılabilecek kısımlar ayrıca detayları ile verilmelidir. Bu kısım 3 yansıyı geçmemelidir. </a:t>
            </a:r>
          </a:p>
        </p:txBody>
      </p:sp>
      <p:sp>
        <p:nvSpPr>
          <p:cNvPr id="18" name="Rectangle 17"/>
          <p:cNvSpPr/>
          <p:nvPr/>
        </p:nvSpPr>
        <p:spPr>
          <a:xfrm>
            <a:off x="-77454" y="5518255"/>
            <a:ext cx="12142453" cy="369332"/>
          </a:xfrm>
          <a:prstGeom prst="rect">
            <a:avLst/>
          </a:prstGeom>
        </p:spPr>
        <p:txBody>
          <a:bodyPr wrap="square">
            <a:spAutoFit/>
          </a:bodyPr>
          <a:lstStyle/>
          <a:p>
            <a:pPr marL="285750" lvl="0" indent="-285750" algn="just">
              <a:buFont typeface="Wingdings" panose="05000000000000000000" pitchFamily="2" charset="2"/>
              <a:buChar char="q"/>
              <a:defRPr/>
            </a:pPr>
            <a:r>
              <a:rPr lang="en-US" err="1">
                <a:solidFill>
                  <a:prstClr val="black"/>
                </a:solidFill>
                <a:cs typeface="Times New Roman" panose="02020603050405020304" pitchFamily="18" charset="0"/>
              </a:rPr>
              <a:t>Gövde</a:t>
            </a:r>
            <a:r>
              <a:rPr lang="en-US">
                <a:solidFill>
                  <a:prstClr val="black"/>
                </a:solidFill>
                <a:cs typeface="Times New Roman" panose="02020603050405020304" pitchFamily="18" charset="0"/>
              </a:rPr>
              <a:t> </a:t>
            </a:r>
            <a:r>
              <a:rPr lang="en-US" err="1">
                <a:solidFill>
                  <a:prstClr val="black"/>
                </a:solidFill>
                <a:cs typeface="Times New Roman" panose="02020603050405020304" pitchFamily="18" charset="0"/>
              </a:rPr>
              <a:t>parçaları</a:t>
            </a:r>
            <a:r>
              <a:rPr lang="en-US">
                <a:solidFill>
                  <a:prstClr val="black"/>
                </a:solidFill>
                <a:cs typeface="Times New Roman" panose="02020603050405020304" pitchFamily="18" charset="0"/>
              </a:rPr>
              <a:t> </a:t>
            </a:r>
            <a:r>
              <a:rPr lang="tr-TR">
                <a:solidFill>
                  <a:prstClr val="black"/>
                </a:solidFill>
                <a:cs typeface="Times New Roman" panose="02020603050405020304" pitchFamily="18" charset="0"/>
              </a:rPr>
              <a:t>üzerinde takım ismi yazmalı, </a:t>
            </a:r>
            <a:r>
              <a:rPr lang="en-US" err="1">
                <a:solidFill>
                  <a:prstClr val="black"/>
                </a:solidFill>
                <a:cs typeface="Times New Roman" panose="02020603050405020304" pitchFamily="18" charset="0"/>
              </a:rPr>
              <a:t>kanatçıkların</a:t>
            </a:r>
            <a:r>
              <a:rPr lang="en-US">
                <a:solidFill>
                  <a:prstClr val="black"/>
                </a:solidFill>
                <a:cs typeface="Times New Roman" panose="02020603050405020304" pitchFamily="18" charset="0"/>
              </a:rPr>
              <a:t> </a:t>
            </a:r>
            <a:r>
              <a:rPr lang="tr-TR">
                <a:solidFill>
                  <a:prstClr val="black"/>
                </a:solidFill>
                <a:cs typeface="Times New Roman" panose="02020603050405020304" pitchFamily="18" charset="0"/>
              </a:rPr>
              <a:t>takım üyesi ile fotosu olmalı ya da </a:t>
            </a:r>
            <a:r>
              <a:rPr lang="en-US">
                <a:solidFill>
                  <a:prstClr val="black"/>
                </a:solidFill>
                <a:cs typeface="Times New Roman" panose="02020603050405020304" pitchFamily="18" charset="0"/>
              </a:rPr>
              <a:t>sticker </a:t>
            </a:r>
            <a:r>
              <a:rPr lang="en-US" err="1">
                <a:solidFill>
                  <a:prstClr val="black"/>
                </a:solidFill>
                <a:cs typeface="Times New Roman" panose="02020603050405020304" pitchFamily="18" charset="0"/>
              </a:rPr>
              <a:t>şeklinde</a:t>
            </a:r>
            <a:r>
              <a:rPr lang="en-US">
                <a:solidFill>
                  <a:prstClr val="black"/>
                </a:solidFill>
                <a:cs typeface="Times New Roman" panose="02020603050405020304" pitchFamily="18" charset="0"/>
              </a:rPr>
              <a:t> </a:t>
            </a:r>
            <a:r>
              <a:rPr lang="en-US" err="1">
                <a:solidFill>
                  <a:prstClr val="black"/>
                </a:solidFill>
                <a:cs typeface="Times New Roman" panose="02020603050405020304" pitchFamily="18" charset="0"/>
              </a:rPr>
              <a:t>bir</a:t>
            </a:r>
            <a:r>
              <a:rPr lang="en-US">
                <a:solidFill>
                  <a:prstClr val="black"/>
                </a:solidFill>
                <a:cs typeface="Times New Roman" panose="02020603050405020304" pitchFamily="18" charset="0"/>
              </a:rPr>
              <a:t> </a:t>
            </a:r>
            <a:r>
              <a:rPr lang="tr-TR">
                <a:solidFill>
                  <a:prstClr val="black"/>
                </a:solidFill>
                <a:cs typeface="Times New Roman" panose="02020603050405020304" pitchFamily="18" charset="0"/>
              </a:rPr>
              <a:t>logo olmalı. </a:t>
            </a:r>
          </a:p>
        </p:txBody>
      </p:sp>
      <p:sp>
        <p:nvSpPr>
          <p:cNvPr id="9" name="Footer Placeholder 8">
            <a:extLst>
              <a:ext uri="{FF2B5EF4-FFF2-40B4-BE49-F238E27FC236}">
                <a16:creationId xmlns:a16="http://schemas.microsoft.com/office/drawing/2014/main" id="{6A6443F9-BE4E-4674-9595-FCF30D88EA01}"/>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902759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6190" y="369915"/>
            <a:ext cx="9144000" cy="750956"/>
          </a:xfrm>
        </p:spPr>
        <p:txBody>
          <a:bodyPr>
            <a:noAutofit/>
          </a:bodyPr>
          <a:lstStyle/>
          <a:p>
            <a:r>
              <a:rPr lang="tr-TR" sz="3600" b="1">
                <a:solidFill>
                  <a:srgbClr val="0070C0"/>
                </a:solidFill>
                <a:latin typeface="Times New Roman" panose="02020603050405020304" pitchFamily="18" charset="0"/>
                <a:cs typeface="Times New Roman" panose="02020603050405020304" pitchFamily="18" charset="0"/>
              </a:rPr>
              <a:t>Yapısal – Gövde/Gövde İçi Yapısal Destekler (Entegrasyon Gövdeleri vb.) </a:t>
            </a:r>
          </a:p>
        </p:txBody>
      </p:sp>
      <p:cxnSp>
        <p:nvCxnSpPr>
          <p:cNvPr id="5" name="Straight Connector 4"/>
          <p:cNvCxnSpPr/>
          <p:nvPr/>
        </p:nvCxnSpPr>
        <p:spPr>
          <a:xfrm flipV="1">
            <a:off x="7248" y="1227162"/>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19</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3" name="TextBox 9">
            <a:extLst>
              <a:ext uri="{FF2B5EF4-FFF2-40B4-BE49-F238E27FC236}">
                <a16:creationId xmlns:a16="http://schemas.microsoft.com/office/drawing/2014/main" id="{B2895726-AD4B-4D45-81DF-6A93A52A725E}"/>
              </a:ext>
            </a:extLst>
          </p:cNvPr>
          <p:cNvSpPr txBox="1"/>
          <p:nvPr/>
        </p:nvSpPr>
        <p:spPr>
          <a:xfrm>
            <a:off x="-70562" y="5158202"/>
            <a:ext cx="12177504" cy="830997"/>
          </a:xfrm>
          <a:prstGeom prst="rect">
            <a:avLst/>
          </a:prstGeom>
          <a:noFill/>
        </p:spPr>
        <p:txBody>
          <a:bodyPr wrap="square" rtlCol="0">
            <a:spAutoFit/>
          </a:bodyPr>
          <a:lstStyle/>
          <a:p>
            <a:r>
              <a:rPr lang="tr-TR" sz="1200"/>
              <a:t>Bu bölümde roket içi entegrasyon gövdesi(coupler), motor bloğu (bulkhead) vb. yapısal destek parçaları açıklanacaktır. Hangi gövdelere ne şekilde bağlandığıyla ilgili bilgiler verilmelidir. Ayrılma gerçekleşecekse belirtilmelidir.</a:t>
            </a:r>
          </a:p>
          <a:p>
            <a:endParaRPr lang="tr-TR" sz="1200"/>
          </a:p>
          <a:p>
            <a:r>
              <a:rPr lang="tr-TR" sz="1200"/>
              <a:t>Entegrasyon gövdesi yoksa (roket </a:t>
            </a:r>
            <a:r>
              <a:rPr lang="en-US" sz="1200" err="1"/>
              <a:t>gövdesi</a:t>
            </a:r>
            <a:r>
              <a:rPr lang="en-US" sz="1200"/>
              <a:t> </a:t>
            </a:r>
            <a:r>
              <a:rPr lang="tr-TR" sz="1200"/>
              <a:t>tek parçaysa) bu durum belirtilmelidir. </a:t>
            </a:r>
          </a:p>
        </p:txBody>
      </p:sp>
      <p:sp>
        <p:nvSpPr>
          <p:cNvPr id="14" name="Dikdörtgen 10"/>
          <p:cNvSpPr/>
          <p:nvPr/>
        </p:nvSpPr>
        <p:spPr>
          <a:xfrm>
            <a:off x="7084323" y="2985756"/>
            <a:ext cx="4221852" cy="1043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Üretim </a:t>
            </a:r>
            <a:r>
              <a:rPr lang="en-US" sz="3200" b="1" err="1"/>
              <a:t>Sonrası</a:t>
            </a:r>
            <a:r>
              <a:rPr lang="en-US" sz="3200" b="1"/>
              <a:t> </a:t>
            </a:r>
          </a:p>
          <a:p>
            <a:pPr algn="ctr"/>
            <a:r>
              <a:rPr lang="en-US" sz="3200" b="1" err="1"/>
              <a:t>Görüntü</a:t>
            </a:r>
            <a:endParaRPr lang="tr-TR" sz="3200" b="1"/>
          </a:p>
        </p:txBody>
      </p:sp>
      <p:sp>
        <p:nvSpPr>
          <p:cNvPr id="15" name="Dikdörtgen 16"/>
          <p:cNvSpPr/>
          <p:nvPr/>
        </p:nvSpPr>
        <p:spPr>
          <a:xfrm>
            <a:off x="971751" y="2985756"/>
            <a:ext cx="4059726" cy="10433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3 Boyutlu Görünüm </a:t>
            </a:r>
            <a:endParaRPr lang="en-US" sz="3200" b="1"/>
          </a:p>
          <a:p>
            <a:pPr algn="ctr"/>
            <a:r>
              <a:rPr lang="tr-TR" sz="3200" b="1"/>
              <a:t>(CAD) </a:t>
            </a:r>
          </a:p>
        </p:txBody>
      </p:sp>
      <p:sp>
        <p:nvSpPr>
          <p:cNvPr id="7" name="Footer Placeholder 8">
            <a:extLst>
              <a:ext uri="{FF2B5EF4-FFF2-40B4-BE49-F238E27FC236}">
                <a16:creationId xmlns:a16="http://schemas.microsoft.com/office/drawing/2014/main" id="{0067A933-D1A3-1FD1-4522-EA4C9D21C7F6}"/>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161256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2359" y="286459"/>
            <a:ext cx="9144000" cy="750956"/>
          </a:xfrm>
        </p:spPr>
        <p:txBody>
          <a:bodyPr>
            <a:normAutofit fontScale="90000"/>
          </a:bodyPr>
          <a:lstStyle/>
          <a:p>
            <a:r>
              <a:rPr lang="tr-TR" sz="4000" b="1">
                <a:solidFill>
                  <a:srgbClr val="0070C0"/>
                </a:solidFill>
                <a:latin typeface="Times New Roman" panose="02020603050405020304" pitchFamily="18" charset="0"/>
                <a:cs typeface="Times New Roman" panose="02020603050405020304" pitchFamily="18" charset="0"/>
              </a:rPr>
              <a:t>Motor Bölümü Mekanik Görünüm &amp; Detay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20</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0" y="1267920"/>
            <a:ext cx="12184752" cy="2031325"/>
          </a:xfrm>
          <a:prstGeom prst="rect">
            <a:avLst/>
          </a:prstGeom>
          <a:noFill/>
        </p:spPr>
        <p:txBody>
          <a:bodyPr wrap="square" rtlCol="0">
            <a:spAutoFit/>
          </a:bodyPr>
          <a:lstStyle/>
          <a:p>
            <a:pPr marL="285750" indent="-285750">
              <a:buFont typeface="Arial" panose="020B0604020202020204" pitchFamily="34" charset="0"/>
              <a:buChar char="•"/>
            </a:pPr>
            <a:r>
              <a:rPr lang="tr-TR" dirty="0"/>
              <a:t>Motor Kundağı/merkezleme halkaları vb. gibi motorun rokete nasıl entegre edileceği gösterilmelidir.  </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Motorun montajlanacağı alan «motorla birlikte» kesit alınarak gösterilmelidir.</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Bağlantı yönteminde kullanılacak cıvata, somun gibi elemanlar belirtilmelidir.</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Bu bölüm 2 yansıyı geçmemelidir.</a:t>
            </a: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1" name="Dikdörtgen 10"/>
          <p:cNvSpPr/>
          <p:nvPr/>
        </p:nvSpPr>
        <p:spPr>
          <a:xfrm>
            <a:off x="578219" y="3573335"/>
            <a:ext cx="5266140" cy="156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b="1"/>
              <a:t>Motor Bölümü  3 Boyutlu Görünüm </a:t>
            </a:r>
            <a:endParaRPr lang="en-US" sz="3200" b="1"/>
          </a:p>
          <a:p>
            <a:pPr algn="ctr"/>
            <a:r>
              <a:rPr lang="tr-TR" sz="3200" b="1"/>
              <a:t>(CAD)</a:t>
            </a:r>
          </a:p>
        </p:txBody>
      </p:sp>
      <p:sp>
        <p:nvSpPr>
          <p:cNvPr id="15" name="Dikdörtgen 10">
            <a:extLst>
              <a:ext uri="{FF2B5EF4-FFF2-40B4-BE49-F238E27FC236}">
                <a16:creationId xmlns:a16="http://schemas.microsoft.com/office/drawing/2014/main" id="{CA6A1013-CB31-42B1-8AD4-26888EA891C0}"/>
              </a:ext>
            </a:extLst>
          </p:cNvPr>
          <p:cNvSpPr/>
          <p:nvPr/>
        </p:nvSpPr>
        <p:spPr>
          <a:xfrm>
            <a:off x="6828014" y="3573335"/>
            <a:ext cx="4525786" cy="156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Üretim </a:t>
            </a:r>
            <a:r>
              <a:rPr lang="en-US" sz="3200" b="1" err="1"/>
              <a:t>Sonrası</a:t>
            </a:r>
            <a:endParaRPr lang="en-US" sz="3200" b="1"/>
          </a:p>
          <a:p>
            <a:pPr algn="ctr"/>
            <a:r>
              <a:rPr lang="en-US" sz="3200" b="1"/>
              <a:t> </a:t>
            </a:r>
            <a:r>
              <a:rPr lang="en-US" sz="3200" b="1" err="1"/>
              <a:t>Görüntü</a:t>
            </a:r>
            <a:r>
              <a:rPr lang="en-US" sz="3200" b="1"/>
              <a:t> </a:t>
            </a:r>
            <a:endParaRPr lang="tr-TR" sz="3200" b="1"/>
          </a:p>
        </p:txBody>
      </p:sp>
      <p:sp>
        <p:nvSpPr>
          <p:cNvPr id="7" name="Footer Placeholder 8">
            <a:extLst>
              <a:ext uri="{FF2B5EF4-FFF2-40B4-BE49-F238E27FC236}">
                <a16:creationId xmlns:a16="http://schemas.microsoft.com/office/drawing/2014/main" id="{D9AB53AA-2C78-2D34-E060-7E75C3DDA5BD}"/>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469318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27911" y="2131052"/>
            <a:ext cx="9525747" cy="2950744"/>
          </a:xfrm>
        </p:spPr>
        <p:txBody>
          <a:bodyPr anchor="ctr">
            <a:normAutofit/>
          </a:bodyPr>
          <a:lstStyle/>
          <a:p>
            <a:pPr>
              <a:lnSpc>
                <a:spcPct val="150000"/>
              </a:lnSpc>
              <a:spcAft>
                <a:spcPts val="1200"/>
              </a:spcAft>
            </a:pPr>
            <a:r>
              <a:rPr lang="en-US" sz="4800" b="1" err="1">
                <a:solidFill>
                  <a:srgbClr val="0070C0"/>
                </a:solidFill>
                <a:latin typeface="+mn-lt"/>
                <a:cs typeface="Times New Roman" panose="02020603050405020304" pitchFamily="18" charset="0"/>
              </a:rPr>
              <a:t>Testler</a:t>
            </a:r>
            <a:endParaRPr lang="tr-TR" sz="4800" b="1">
              <a:solidFill>
                <a:srgbClr val="0070C0"/>
              </a:solidFill>
              <a:latin typeface="+mn-lt"/>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21</a:t>
            </a:fld>
            <a:endParaRPr lang="tr-TR"/>
          </a:p>
        </p:txBody>
      </p:sp>
      <p:pic>
        <p:nvPicPr>
          <p:cNvPr id="13" name="Picture 12"/>
          <p:cNvPicPr>
            <a:picLocks noChangeAspect="1"/>
          </p:cNvPicPr>
          <p:nvPr/>
        </p:nvPicPr>
        <p:blipFill rotWithShape="1">
          <a:blip r:embed="rId3"/>
          <a:srcRect l="15894"/>
          <a:stretch/>
        </p:blipFill>
        <p:spPr>
          <a:xfrm>
            <a:off x="10753658" y="57790"/>
            <a:ext cx="1377714" cy="1116000"/>
          </a:xfrm>
          <a:prstGeom prst="rect">
            <a:avLst/>
          </a:prstGeom>
        </p:spPr>
      </p:pic>
      <p:sp>
        <p:nvSpPr>
          <p:cNvPr id="15" name="Date Placeholder 3"/>
          <p:cNvSpPr>
            <a:spLocks noGrp="1"/>
          </p:cNvSpPr>
          <p:nvPr>
            <p:ph type="dt" sz="half" idx="10"/>
          </p:nvPr>
        </p:nvSpPr>
        <p:spPr>
          <a:xfrm>
            <a:off x="838200" y="6356350"/>
            <a:ext cx="2743200" cy="365125"/>
          </a:xfrm>
        </p:spPr>
        <p:txBody>
          <a:bodyPr/>
          <a:lstStyle/>
          <a:p>
            <a:fld id="{EDD7EE19-348B-4A60-8810-E2854B3ED486}" type="datetime2">
              <a:rPr lang="tr-TR" smtClean="0"/>
              <a:t>7 Temmuz 2025 Pazartesi</a:t>
            </a:fld>
            <a:endParaRPr lang="tr-TR"/>
          </a:p>
        </p:txBody>
      </p:sp>
      <p:sp>
        <p:nvSpPr>
          <p:cNvPr id="18" name="TextBox 17"/>
          <p:cNvSpPr txBox="1"/>
          <p:nvPr/>
        </p:nvSpPr>
        <p:spPr>
          <a:xfrm>
            <a:off x="54592" y="57258"/>
            <a:ext cx="1171978" cy="1116000"/>
          </a:xfrm>
          <a:prstGeom prst="rect">
            <a:avLst/>
          </a:prstGeom>
          <a:noFill/>
          <a:ln>
            <a:solidFill>
              <a:schemeClr val="tx1"/>
            </a:solidFill>
          </a:ln>
        </p:spPr>
        <p:txBody>
          <a:bodyPr wrap="square" rtlCol="0" anchor="ctr">
            <a:spAutoFit/>
          </a:bodyPr>
          <a:lstStyle/>
          <a:p>
            <a:pPr algn="ctr"/>
            <a:r>
              <a:rPr lang="tr-TR">
                <a:latin typeface="+mj-lt"/>
                <a:cs typeface="Times New Roman" panose="02020603050405020304" pitchFamily="18" charset="0"/>
              </a:rPr>
              <a:t>Takım Logosu</a:t>
            </a:r>
          </a:p>
        </p:txBody>
      </p:sp>
      <p:sp>
        <p:nvSpPr>
          <p:cNvPr id="4" name="Footer Placeholder 8">
            <a:extLst>
              <a:ext uri="{FF2B5EF4-FFF2-40B4-BE49-F238E27FC236}">
                <a16:creationId xmlns:a16="http://schemas.microsoft.com/office/drawing/2014/main" id="{79C90535-30F2-1BA2-513E-ECB631E50750}"/>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973073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4000" b="1">
                <a:solidFill>
                  <a:srgbClr val="0070C0"/>
                </a:solidFill>
                <a:latin typeface="Times New Roman" panose="02020603050405020304" pitchFamily="18" charset="0"/>
                <a:cs typeface="Times New Roman" panose="02020603050405020304" pitchFamily="18" charset="0"/>
              </a:rPr>
              <a:t>Testler Genel Bilgilendirme</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22</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2" name="TextBox 9">
            <a:extLst>
              <a:ext uri="{FF2B5EF4-FFF2-40B4-BE49-F238E27FC236}">
                <a16:creationId xmlns:a16="http://schemas.microsoft.com/office/drawing/2014/main" id="{3CD0DDAB-7119-84F6-7E4A-148C37B613A5}"/>
              </a:ext>
            </a:extLst>
          </p:cNvPr>
          <p:cNvSpPr txBox="1"/>
          <p:nvPr/>
        </p:nvSpPr>
        <p:spPr>
          <a:xfrm>
            <a:off x="77190" y="1090323"/>
            <a:ext cx="12184752" cy="3693319"/>
          </a:xfrm>
          <a:prstGeom prst="rect">
            <a:avLst/>
          </a:prstGeom>
          <a:noFill/>
        </p:spPr>
        <p:txBody>
          <a:bodyPr wrap="square" rtlCol="0">
            <a:spAutoFit/>
          </a:bodyPr>
          <a:lstStyle/>
          <a:p>
            <a:endParaRPr lang="en-US" b="1" dirty="0"/>
          </a:p>
          <a:p>
            <a:pPr marL="285750" indent="-285750">
              <a:buFont typeface="Arial" panose="020B0604020202020204" pitchFamily="34" charset="0"/>
              <a:buChar char="•"/>
            </a:pPr>
            <a:r>
              <a:rPr lang="tr-TR" dirty="0"/>
              <a:t>AHR aşamasında yapılacak olan bütün testler nihai sistemler ile yapılmalıdır.</a:t>
            </a:r>
          </a:p>
          <a:p>
            <a:pPr marL="285750" indent="-285750">
              <a:buFont typeface="Arial" panose="020B0604020202020204" pitchFamily="34" charset="0"/>
              <a:buChar char="•"/>
            </a:pPr>
            <a:r>
              <a:rPr lang="tr-TR" dirty="0"/>
              <a:t>Prototip/geçici sistemler kullanılmamalıdır.</a:t>
            </a:r>
          </a:p>
          <a:p>
            <a:pPr marL="285750" indent="-285750">
              <a:buFont typeface="Arial" panose="020B0604020202020204" pitchFamily="34" charset="0"/>
              <a:buChar char="•"/>
            </a:pPr>
            <a:r>
              <a:rPr lang="tr-TR" dirty="0"/>
              <a:t>Atış alanın</a:t>
            </a:r>
            <a:r>
              <a:rPr lang="en-US" dirty="0"/>
              <a:t>a </a:t>
            </a:r>
            <a:r>
              <a:rPr lang="en-US" dirty="0" err="1"/>
              <a:t>getirilen</a:t>
            </a:r>
            <a:r>
              <a:rPr lang="en-US" dirty="0"/>
              <a:t> </a:t>
            </a:r>
            <a:r>
              <a:rPr lang="en-US" dirty="0" err="1"/>
              <a:t>sistemlerin</a:t>
            </a:r>
            <a:r>
              <a:rPr lang="en-US" dirty="0"/>
              <a:t> test </a:t>
            </a:r>
            <a:r>
              <a:rPr lang="en-US" dirty="0" err="1"/>
              <a:t>edilen</a:t>
            </a:r>
            <a:r>
              <a:rPr lang="en-US" dirty="0"/>
              <a:t> </a:t>
            </a:r>
            <a:r>
              <a:rPr lang="en-US" dirty="0" err="1"/>
              <a:t>sistemlerden</a:t>
            </a:r>
            <a:r>
              <a:rPr lang="en-US" dirty="0"/>
              <a:t> </a:t>
            </a:r>
            <a:r>
              <a:rPr lang="en-US" dirty="0" err="1"/>
              <a:t>farklı</a:t>
            </a:r>
            <a:r>
              <a:rPr lang="en-US" dirty="0"/>
              <a:t> </a:t>
            </a:r>
            <a:r>
              <a:rPr lang="en-US" dirty="0" err="1"/>
              <a:t>olduğunun</a:t>
            </a:r>
            <a:r>
              <a:rPr lang="en-US" dirty="0"/>
              <a:t> </a:t>
            </a:r>
            <a:r>
              <a:rPr lang="en-US" dirty="0" err="1"/>
              <a:t>tespiti</a:t>
            </a:r>
            <a:r>
              <a:rPr lang="en-US" dirty="0"/>
              <a:t> </a:t>
            </a:r>
            <a:r>
              <a:rPr lang="en-US" dirty="0" err="1"/>
              <a:t>halinde</a:t>
            </a:r>
            <a:r>
              <a:rPr lang="en-US" dirty="0"/>
              <a:t> </a:t>
            </a:r>
            <a:r>
              <a:rPr lang="en-US" dirty="0" err="1"/>
              <a:t>takım</a:t>
            </a:r>
            <a:r>
              <a:rPr lang="en-US" dirty="0"/>
              <a:t> </a:t>
            </a:r>
            <a:r>
              <a:rPr lang="en-US" dirty="0" err="1"/>
              <a:t>diskalifiye</a:t>
            </a:r>
            <a:r>
              <a:rPr lang="en-US" dirty="0"/>
              <a:t> </a:t>
            </a:r>
            <a:r>
              <a:rPr lang="en-US" dirty="0" err="1"/>
              <a:t>edilecektir</a:t>
            </a:r>
            <a:r>
              <a:rPr lang="en-US" dirty="0"/>
              <a:t>.</a:t>
            </a:r>
          </a:p>
          <a:p>
            <a:pPr marL="285750" indent="-285750">
              <a:buFont typeface="Arial" panose="020B0604020202020204" pitchFamily="34" charset="0"/>
              <a:buChar char="•"/>
            </a:pPr>
            <a:r>
              <a:rPr lang="en-US" dirty="0"/>
              <a:t>AHR </a:t>
            </a:r>
            <a:r>
              <a:rPr lang="en-US" dirty="0" err="1"/>
              <a:t>ile</a:t>
            </a:r>
            <a:r>
              <a:rPr lang="en-US" dirty="0"/>
              <a:t> </a:t>
            </a:r>
            <a:r>
              <a:rPr lang="en-US" dirty="0" err="1"/>
              <a:t>paylaşılması</a:t>
            </a:r>
            <a:r>
              <a:rPr lang="en-US" dirty="0"/>
              <a:t> </a:t>
            </a:r>
            <a:r>
              <a:rPr lang="en-US" dirty="0" err="1"/>
              <a:t>gereken</a:t>
            </a:r>
            <a:r>
              <a:rPr lang="en-US" dirty="0"/>
              <a:t> </a:t>
            </a:r>
            <a:r>
              <a:rPr lang="en-US" dirty="0" err="1"/>
              <a:t>olan</a:t>
            </a:r>
            <a:r>
              <a:rPr lang="en-US" dirty="0"/>
              <a:t> </a:t>
            </a:r>
            <a:r>
              <a:rPr lang="en-US" dirty="0" err="1"/>
              <a:t>bütün</a:t>
            </a:r>
            <a:r>
              <a:rPr lang="en-US" dirty="0"/>
              <a:t> </a:t>
            </a:r>
            <a:r>
              <a:rPr lang="en-US" dirty="0" err="1"/>
              <a:t>bilgi</a:t>
            </a:r>
            <a:r>
              <a:rPr lang="en-US" dirty="0"/>
              <a:t> ve </a:t>
            </a:r>
            <a:r>
              <a:rPr lang="en-US" dirty="0" err="1"/>
              <a:t>sistemler</a:t>
            </a:r>
            <a:r>
              <a:rPr lang="en-US" dirty="0"/>
              <a:t> </a:t>
            </a:r>
            <a:r>
              <a:rPr lang="en-US" dirty="0" err="1"/>
              <a:t>için</a:t>
            </a:r>
            <a:r>
              <a:rPr lang="en-US" dirty="0"/>
              <a:t> </a:t>
            </a:r>
            <a:r>
              <a:rPr lang="en-US" dirty="0" err="1"/>
              <a:t>gerekli</a:t>
            </a:r>
            <a:r>
              <a:rPr lang="en-US" dirty="0"/>
              <a:t> </a:t>
            </a:r>
            <a:r>
              <a:rPr lang="en-US" dirty="0" err="1"/>
              <a:t>bütün</a:t>
            </a:r>
            <a:r>
              <a:rPr lang="en-US" dirty="0"/>
              <a:t> </a:t>
            </a:r>
            <a:r>
              <a:rPr lang="en-US" dirty="0" err="1"/>
              <a:t>imalat</a:t>
            </a:r>
            <a:r>
              <a:rPr lang="en-US" dirty="0"/>
              <a:t> ve </a:t>
            </a:r>
            <a:r>
              <a:rPr lang="en-US" dirty="0" err="1"/>
              <a:t>tedarik</a:t>
            </a:r>
            <a:r>
              <a:rPr lang="en-US" dirty="0"/>
              <a:t> </a:t>
            </a:r>
            <a:r>
              <a:rPr lang="en-US" dirty="0" err="1"/>
              <a:t>süreçleri</a:t>
            </a:r>
            <a:r>
              <a:rPr lang="en-US" dirty="0"/>
              <a:t> </a:t>
            </a:r>
            <a:r>
              <a:rPr lang="en-US" dirty="0" err="1"/>
              <a:t>tamamlanmış</a:t>
            </a:r>
            <a:r>
              <a:rPr lang="en-US" dirty="0"/>
              <a:t> </a:t>
            </a:r>
            <a:r>
              <a:rPr lang="en-US" dirty="0" err="1"/>
              <a:t>olmalıdır</a:t>
            </a:r>
            <a:r>
              <a:rPr lang="en-US" dirty="0"/>
              <a:t>. </a:t>
            </a:r>
            <a:r>
              <a:rPr lang="en-US" dirty="0" err="1"/>
              <a:t>Tedarik</a:t>
            </a:r>
            <a:r>
              <a:rPr lang="en-US" dirty="0"/>
              <a:t> </a:t>
            </a:r>
            <a:r>
              <a:rPr lang="en-US" dirty="0" err="1"/>
              <a:t>veya</a:t>
            </a:r>
            <a:r>
              <a:rPr lang="en-US" dirty="0"/>
              <a:t> </a:t>
            </a:r>
            <a:r>
              <a:rPr lang="en-US" dirty="0" err="1"/>
              <a:t>imalat</a:t>
            </a:r>
            <a:r>
              <a:rPr lang="en-US" dirty="0"/>
              <a:t> </a:t>
            </a:r>
            <a:r>
              <a:rPr lang="en-US" dirty="0" err="1"/>
              <a:t>süreçlerinde</a:t>
            </a:r>
            <a:r>
              <a:rPr lang="en-US" dirty="0"/>
              <a:t> </a:t>
            </a:r>
            <a:r>
              <a:rPr lang="en-US" dirty="0" err="1"/>
              <a:t>yaşanacak</a:t>
            </a:r>
            <a:r>
              <a:rPr lang="en-US" dirty="0"/>
              <a:t> </a:t>
            </a:r>
            <a:r>
              <a:rPr lang="en-US" dirty="0" err="1"/>
              <a:t>olumsuzluklar</a:t>
            </a:r>
            <a:r>
              <a:rPr lang="en-US" dirty="0"/>
              <a:t> </a:t>
            </a:r>
            <a:r>
              <a:rPr lang="en-US" dirty="0" err="1"/>
              <a:t>sebebi</a:t>
            </a:r>
            <a:r>
              <a:rPr lang="en-US" dirty="0"/>
              <a:t> </a:t>
            </a:r>
            <a:r>
              <a:rPr lang="en-US" dirty="0" err="1"/>
              <a:t>ile</a:t>
            </a:r>
            <a:r>
              <a:rPr lang="en-US" dirty="0"/>
              <a:t> </a:t>
            </a:r>
            <a:r>
              <a:rPr lang="en-US" dirty="0" err="1"/>
              <a:t>takımlara</a:t>
            </a:r>
            <a:r>
              <a:rPr lang="en-US" dirty="0"/>
              <a:t> </a:t>
            </a:r>
            <a:r>
              <a:rPr lang="en-US" dirty="0" err="1"/>
              <a:t>inisiyatif</a:t>
            </a:r>
            <a:r>
              <a:rPr lang="en-US" dirty="0"/>
              <a:t> </a:t>
            </a:r>
            <a:r>
              <a:rPr lang="en-US" dirty="0" err="1"/>
              <a:t>tanınmayacaktır</a:t>
            </a:r>
            <a:r>
              <a:rPr lang="en-US" dirty="0"/>
              <a:t>. </a:t>
            </a:r>
            <a:endParaRPr lang="tr-TR" dirty="0"/>
          </a:p>
          <a:p>
            <a:pPr marL="285750" indent="-285750">
              <a:buFont typeface="Arial" panose="020B0604020202020204" pitchFamily="34" charset="0"/>
              <a:buChar char="•"/>
            </a:pPr>
            <a:r>
              <a:rPr lang="tr-TR" dirty="0"/>
              <a:t>İlgili testlerin videoları Youtube platformuna yüklenmeli ve AHR ile beraber sistemde belirtilen</a:t>
            </a:r>
            <a:r>
              <a:rPr lang="en-US" dirty="0"/>
              <a:t> </a:t>
            </a:r>
            <a:r>
              <a:rPr lang="en-US" dirty="0" err="1"/>
              <a:t>yerde</a:t>
            </a:r>
            <a:r>
              <a:rPr lang="en-US" dirty="0"/>
              <a:t> </a:t>
            </a:r>
            <a:r>
              <a:rPr lang="en-US" dirty="0" err="1"/>
              <a:t>linkleri</a:t>
            </a:r>
            <a:r>
              <a:rPr lang="en-US" dirty="0"/>
              <a:t> </a:t>
            </a:r>
            <a:r>
              <a:rPr lang="en-US" dirty="0" err="1"/>
              <a:t>paylaşılmalıdır</a:t>
            </a:r>
            <a:r>
              <a:rPr lang="en-US" dirty="0"/>
              <a:t>.</a:t>
            </a:r>
          </a:p>
          <a:p>
            <a:pPr marL="285750" indent="-285750">
              <a:buFont typeface="Arial" panose="020B0604020202020204" pitchFamily="34" charset="0"/>
              <a:buChar char="•"/>
            </a:pPr>
            <a:r>
              <a:rPr lang="tr-TR" dirty="0"/>
              <a:t>Testler için belirtilen süreler yeterli olmakla beraber testlerin bu sürelere sıkıştırılamadığı durumlarda videolar hızlandırılarak sürelere uyulmalıdır. </a:t>
            </a:r>
          </a:p>
          <a:p>
            <a:pPr marL="285750" indent="-285750">
              <a:buFont typeface="Arial" panose="020B0604020202020204" pitchFamily="34" charset="0"/>
              <a:buChar char="•"/>
            </a:pPr>
            <a:r>
              <a:rPr lang="tr-TR" dirty="0"/>
              <a:t>Testler için belirtilen süreler aşıldığı durumda aşan takımlar tespit edilip diskalifiye edilecektir. </a:t>
            </a:r>
          </a:p>
          <a:p>
            <a:pPr marL="285750" indent="-285750">
              <a:buFont typeface="Arial" panose="020B0604020202020204" pitchFamily="34" charset="0"/>
              <a:buChar char="•"/>
            </a:pPr>
            <a:r>
              <a:rPr lang="tr-TR" dirty="0"/>
              <a:t>Bahsi geçen testlerin paylaşılması zorunludur. Testlerin paylaşılmaması ve eksik paylaşılması diskalifiye sebebidir.</a:t>
            </a:r>
          </a:p>
          <a:p>
            <a:pPr marL="285750" indent="-285750">
              <a:buFont typeface="Arial" panose="020B0604020202020204" pitchFamily="34" charset="0"/>
              <a:buChar char="•"/>
            </a:pPr>
            <a:r>
              <a:rPr lang="tr-TR" dirty="0"/>
              <a:t>Testlerde İSG kurallarına uyulmadığı durumlarda takım diskalifiye edilecektir.</a:t>
            </a:r>
          </a:p>
          <a:p>
            <a:endParaRPr lang="tr-TR" dirty="0"/>
          </a:p>
        </p:txBody>
      </p:sp>
      <p:sp>
        <p:nvSpPr>
          <p:cNvPr id="7" name="Rectangle 3">
            <a:extLst>
              <a:ext uri="{FF2B5EF4-FFF2-40B4-BE49-F238E27FC236}">
                <a16:creationId xmlns:a16="http://schemas.microsoft.com/office/drawing/2014/main" id="{87790B47-4E7C-834E-05CF-ECCB5A40EEF8}"/>
              </a:ext>
            </a:extLst>
          </p:cNvPr>
          <p:cNvSpPr/>
          <p:nvPr/>
        </p:nvSpPr>
        <p:spPr>
          <a:xfrm>
            <a:off x="3443703" y="5816050"/>
            <a:ext cx="5304594" cy="369332"/>
          </a:xfrm>
          <a:prstGeom prst="rect">
            <a:avLst/>
          </a:prstGeom>
        </p:spPr>
        <p:txBody>
          <a:bodyPr wrap="none">
            <a:spAutoFit/>
          </a:bodyPr>
          <a:lstStyle/>
          <a:p>
            <a:pPr algn="ctr"/>
            <a:r>
              <a:rPr lang="en-US">
                <a:solidFill>
                  <a:srgbClr val="FF0000"/>
                </a:solidFill>
              </a:rPr>
              <a:t>Bu </a:t>
            </a:r>
            <a:r>
              <a:rPr lang="en-US" err="1">
                <a:solidFill>
                  <a:srgbClr val="FF0000"/>
                </a:solidFill>
              </a:rPr>
              <a:t>sayfa</a:t>
            </a:r>
            <a:r>
              <a:rPr lang="en-US">
                <a:solidFill>
                  <a:srgbClr val="FF0000"/>
                </a:solidFill>
              </a:rPr>
              <a:t> </a:t>
            </a:r>
            <a:r>
              <a:rPr lang="en-US" err="1">
                <a:solidFill>
                  <a:srgbClr val="FF0000"/>
                </a:solidFill>
              </a:rPr>
              <a:t>bilgi</a:t>
            </a:r>
            <a:r>
              <a:rPr lang="en-US">
                <a:solidFill>
                  <a:srgbClr val="FF0000"/>
                </a:solidFill>
              </a:rPr>
              <a:t> </a:t>
            </a:r>
            <a:r>
              <a:rPr lang="en-US" err="1">
                <a:solidFill>
                  <a:srgbClr val="FF0000"/>
                </a:solidFill>
              </a:rPr>
              <a:t>amaçlıdır</a:t>
            </a:r>
            <a:r>
              <a:rPr lang="en-US">
                <a:solidFill>
                  <a:srgbClr val="FF0000"/>
                </a:solidFill>
              </a:rPr>
              <a:t>. </a:t>
            </a:r>
            <a:r>
              <a:rPr lang="en-US" err="1">
                <a:solidFill>
                  <a:srgbClr val="FF0000"/>
                </a:solidFill>
              </a:rPr>
              <a:t>Takımlar</a:t>
            </a:r>
            <a:r>
              <a:rPr lang="en-US">
                <a:solidFill>
                  <a:srgbClr val="FF0000"/>
                </a:solidFill>
              </a:rPr>
              <a:t> </a:t>
            </a:r>
            <a:r>
              <a:rPr lang="en-US" err="1">
                <a:solidFill>
                  <a:srgbClr val="FF0000"/>
                </a:solidFill>
              </a:rPr>
              <a:t>tarafından</a:t>
            </a:r>
            <a:r>
              <a:rPr lang="en-US">
                <a:solidFill>
                  <a:srgbClr val="FF0000"/>
                </a:solidFill>
              </a:rPr>
              <a:t> </a:t>
            </a:r>
            <a:r>
              <a:rPr lang="en-US" err="1">
                <a:solidFill>
                  <a:srgbClr val="FF0000"/>
                </a:solidFill>
              </a:rPr>
              <a:t>silinmelidir</a:t>
            </a:r>
            <a:r>
              <a:rPr lang="en-US">
                <a:solidFill>
                  <a:srgbClr val="FF0000"/>
                </a:solidFill>
              </a:rPr>
              <a:t>.</a:t>
            </a:r>
            <a:endParaRPr lang="tr-TR">
              <a:solidFill>
                <a:srgbClr val="FF0000"/>
              </a:solidFill>
            </a:endParaRPr>
          </a:p>
        </p:txBody>
      </p:sp>
      <p:sp>
        <p:nvSpPr>
          <p:cNvPr id="9" name="Footer Placeholder 8">
            <a:extLst>
              <a:ext uri="{FF2B5EF4-FFF2-40B4-BE49-F238E27FC236}">
                <a16:creationId xmlns:a16="http://schemas.microsoft.com/office/drawing/2014/main" id="{094B2D92-B240-9DE4-7F42-A79F1DF1D232}"/>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765296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it-IT" sz="4000" b="1">
                <a:solidFill>
                  <a:srgbClr val="0070C0"/>
                </a:solidFill>
                <a:latin typeface="Times New Roman" panose="02020603050405020304" pitchFamily="18" charset="0"/>
                <a:cs typeface="Times New Roman" panose="02020603050405020304" pitchFamily="18" charset="0"/>
              </a:rPr>
              <a:t>Kurtarma Sistemi – Roket Ayırma Testi</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23</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2" name="TextBox 9">
            <a:extLst>
              <a:ext uri="{FF2B5EF4-FFF2-40B4-BE49-F238E27FC236}">
                <a16:creationId xmlns:a16="http://schemas.microsoft.com/office/drawing/2014/main" id="{3CD0DDAB-7119-84F6-7E4A-148C37B613A5}"/>
              </a:ext>
            </a:extLst>
          </p:cNvPr>
          <p:cNvSpPr txBox="1"/>
          <p:nvPr/>
        </p:nvSpPr>
        <p:spPr>
          <a:xfrm>
            <a:off x="77190" y="1000171"/>
            <a:ext cx="12184752" cy="2862322"/>
          </a:xfrm>
          <a:prstGeom prst="rect">
            <a:avLst/>
          </a:prstGeom>
          <a:noFill/>
        </p:spPr>
        <p:txBody>
          <a:bodyPr wrap="square" rtlCol="0">
            <a:spAutoFit/>
          </a:bodyPr>
          <a:lstStyle/>
          <a:p>
            <a:endParaRPr lang="en-US" b="1" dirty="0"/>
          </a:p>
          <a:p>
            <a:pPr marL="285750" indent="-285750">
              <a:buFont typeface="Arial" panose="020B0604020202020204" pitchFamily="34" charset="0"/>
              <a:buChar char="•"/>
            </a:pPr>
            <a:r>
              <a:rPr lang="tr-TR" dirty="0">
                <a:solidFill>
                  <a:prstClr val="black"/>
                </a:solidFill>
              </a:rPr>
              <a:t>Takımların bu </a:t>
            </a:r>
            <a:r>
              <a:rPr lang="tr-TR" dirty="0" err="1">
                <a:solidFill>
                  <a:prstClr val="black"/>
                </a:solidFill>
              </a:rPr>
              <a:t>kısımd</a:t>
            </a:r>
            <a:r>
              <a:rPr lang="en-US" dirty="0">
                <a:solidFill>
                  <a:prstClr val="black"/>
                </a:solidFill>
              </a:rPr>
              <a:t>a </a:t>
            </a:r>
            <a:r>
              <a:rPr lang="en-US" dirty="0" err="1">
                <a:solidFill>
                  <a:prstClr val="black"/>
                </a:solidFill>
              </a:rPr>
              <a:t>paraşüt</a:t>
            </a:r>
            <a:r>
              <a:rPr lang="en-US" dirty="0">
                <a:solidFill>
                  <a:prstClr val="black"/>
                </a:solidFill>
              </a:rPr>
              <a:t> </a:t>
            </a:r>
            <a:r>
              <a:rPr lang="en-US" dirty="0" err="1">
                <a:solidFill>
                  <a:prstClr val="black"/>
                </a:solidFill>
              </a:rPr>
              <a:t>açma</a:t>
            </a:r>
            <a:r>
              <a:rPr lang="en-US" dirty="0">
                <a:solidFill>
                  <a:prstClr val="black"/>
                </a:solidFill>
              </a:rPr>
              <a:t> </a:t>
            </a:r>
            <a:r>
              <a:rPr lang="en-US" dirty="0" err="1">
                <a:solidFill>
                  <a:prstClr val="black"/>
                </a:solidFill>
              </a:rPr>
              <a:t>sistemlerini</a:t>
            </a:r>
            <a:r>
              <a:rPr lang="en-US" dirty="0">
                <a:solidFill>
                  <a:prstClr val="black"/>
                </a:solidFill>
              </a:rPr>
              <a:t> </a:t>
            </a:r>
            <a:r>
              <a:rPr lang="en-US" dirty="0" err="1">
                <a:solidFill>
                  <a:prstClr val="black"/>
                </a:solidFill>
              </a:rPr>
              <a:t>kullanarak</a:t>
            </a:r>
            <a:r>
              <a:rPr lang="en-US" dirty="0">
                <a:solidFill>
                  <a:prstClr val="black"/>
                </a:solidFill>
              </a:rPr>
              <a:t> </a:t>
            </a:r>
            <a:r>
              <a:rPr lang="en-US" dirty="0" err="1">
                <a:solidFill>
                  <a:prstClr val="black"/>
                </a:solidFill>
              </a:rPr>
              <a:t>roketlerini</a:t>
            </a:r>
            <a:r>
              <a:rPr lang="en-US" dirty="0">
                <a:solidFill>
                  <a:prstClr val="black"/>
                </a:solidFill>
              </a:rPr>
              <a:t> </a:t>
            </a:r>
            <a:r>
              <a:rPr lang="en-US" dirty="0" err="1">
                <a:solidFill>
                  <a:prstClr val="black"/>
                </a:solidFill>
              </a:rPr>
              <a:t>ayırmalıdır</a:t>
            </a:r>
            <a:r>
              <a:rPr lang="en-US" dirty="0">
                <a:solidFill>
                  <a:prstClr val="black"/>
                </a:solidFill>
              </a:rPr>
              <a:t>. </a:t>
            </a:r>
            <a:endParaRPr lang="en-US" b="1" dirty="0">
              <a:solidFill>
                <a:prstClr val="black"/>
              </a:solidFill>
            </a:endParaRPr>
          </a:p>
          <a:p>
            <a:pPr marL="285750" indent="-285750">
              <a:buFont typeface="Arial" panose="020B0604020202020204" pitchFamily="34" charset="0"/>
              <a:buChar char="•"/>
            </a:pPr>
            <a:r>
              <a:rPr lang="tr-TR" dirty="0"/>
              <a:t>Bu test sistemin uçuş sırasında kullanılacağı konfigürasyonda (Uçuşta kullanılacak paraşütler, tüm yükler, burun konisi, ayrılacak tüm gövdeler, aviyonik sistemler) yapılmalıdır.</a:t>
            </a:r>
            <a:endParaRPr lang="en-US" dirty="0"/>
          </a:p>
          <a:p>
            <a:pPr marL="285750" indent="-285750">
              <a:buFont typeface="Arial" panose="020B0604020202020204" pitchFamily="34" charset="0"/>
              <a:buChar char="•"/>
            </a:pPr>
            <a:r>
              <a:rPr lang="en-US" dirty="0"/>
              <a:t>SGÜ </a:t>
            </a:r>
            <a:r>
              <a:rPr lang="en-US" dirty="0" err="1"/>
              <a:t>kullanacak</a:t>
            </a:r>
            <a:r>
              <a:rPr lang="en-US" dirty="0"/>
              <a:t> </a:t>
            </a:r>
            <a:r>
              <a:rPr lang="en-US" dirty="0" err="1"/>
              <a:t>olan</a:t>
            </a:r>
            <a:r>
              <a:rPr lang="en-US" dirty="0"/>
              <a:t> </a:t>
            </a:r>
            <a:r>
              <a:rPr lang="en-US" dirty="0" err="1"/>
              <a:t>takımlar</a:t>
            </a:r>
            <a:r>
              <a:rPr lang="en-US" dirty="0"/>
              <a:t>, SGÜ </a:t>
            </a:r>
            <a:r>
              <a:rPr lang="en-US" dirty="0" err="1"/>
              <a:t>yerine</a:t>
            </a:r>
            <a:r>
              <a:rPr lang="en-US" dirty="0"/>
              <a:t> </a:t>
            </a:r>
            <a:r>
              <a:rPr lang="en-US" dirty="0" err="1"/>
              <a:t>başka</a:t>
            </a:r>
            <a:r>
              <a:rPr lang="en-US" dirty="0"/>
              <a:t> </a:t>
            </a:r>
            <a:r>
              <a:rPr lang="en-US" dirty="0" err="1"/>
              <a:t>bir</a:t>
            </a:r>
            <a:r>
              <a:rPr lang="en-US" dirty="0"/>
              <a:t> </a:t>
            </a:r>
            <a:r>
              <a:rPr lang="en-US" dirty="0" err="1"/>
              <a:t>gaz</a:t>
            </a:r>
            <a:r>
              <a:rPr lang="en-US" dirty="0"/>
              <a:t> </a:t>
            </a:r>
            <a:r>
              <a:rPr lang="en-US" dirty="0" err="1"/>
              <a:t>kaynağı</a:t>
            </a:r>
            <a:r>
              <a:rPr lang="en-US" dirty="0"/>
              <a:t> </a:t>
            </a:r>
            <a:r>
              <a:rPr lang="en-US" dirty="0" err="1"/>
              <a:t>kullanmalıdır</a:t>
            </a:r>
            <a:r>
              <a:rPr lang="en-US" dirty="0"/>
              <a:t>. </a:t>
            </a:r>
          </a:p>
          <a:p>
            <a:pPr marL="285750" indent="-285750">
              <a:buFont typeface="Arial" panose="020B0604020202020204" pitchFamily="34" charset="0"/>
              <a:buChar char="•"/>
            </a:pPr>
            <a:r>
              <a:rPr lang="en-US" dirty="0" err="1"/>
              <a:t>Diğer</a:t>
            </a:r>
            <a:r>
              <a:rPr lang="en-US" dirty="0"/>
              <a:t> </a:t>
            </a:r>
            <a:r>
              <a:rPr lang="en-US" dirty="0" err="1"/>
              <a:t>bütün</a:t>
            </a:r>
            <a:r>
              <a:rPr lang="en-US" dirty="0"/>
              <a:t> </a:t>
            </a:r>
            <a:r>
              <a:rPr lang="en-US" dirty="0" err="1"/>
              <a:t>ayırma</a:t>
            </a:r>
            <a:r>
              <a:rPr lang="en-US" dirty="0"/>
              <a:t> </a:t>
            </a:r>
            <a:r>
              <a:rPr lang="en-US" dirty="0" err="1"/>
              <a:t>sistemleri</a:t>
            </a:r>
            <a:r>
              <a:rPr lang="en-US" dirty="0"/>
              <a:t> </a:t>
            </a:r>
            <a:r>
              <a:rPr lang="en-US" dirty="0" err="1"/>
              <a:t>için</a:t>
            </a:r>
            <a:r>
              <a:rPr lang="en-US" dirty="0"/>
              <a:t> </a:t>
            </a:r>
            <a:r>
              <a:rPr lang="en-US" dirty="0" err="1"/>
              <a:t>uçuşta</a:t>
            </a:r>
            <a:r>
              <a:rPr lang="en-US" dirty="0"/>
              <a:t> </a:t>
            </a:r>
            <a:r>
              <a:rPr lang="en-US" dirty="0" err="1"/>
              <a:t>kullanılacak</a:t>
            </a:r>
            <a:r>
              <a:rPr lang="en-US" dirty="0"/>
              <a:t> </a:t>
            </a:r>
            <a:r>
              <a:rPr lang="en-US" dirty="0" err="1"/>
              <a:t>komponentler</a:t>
            </a:r>
            <a:r>
              <a:rPr lang="en-US" dirty="0"/>
              <a:t> </a:t>
            </a:r>
            <a:r>
              <a:rPr lang="en-US" dirty="0" err="1"/>
              <a:t>kullanılmalıdır</a:t>
            </a:r>
            <a:r>
              <a:rPr lang="en-US" dirty="0"/>
              <a:t>.</a:t>
            </a:r>
          </a:p>
          <a:p>
            <a:pPr marL="285750" indent="-285750">
              <a:buFont typeface="Arial" panose="020B0604020202020204" pitchFamily="34" charset="0"/>
              <a:buChar char="•"/>
            </a:pPr>
            <a:r>
              <a:rPr lang="en-US" dirty="0" err="1"/>
              <a:t>Roketin</a:t>
            </a:r>
            <a:r>
              <a:rPr lang="en-US" dirty="0"/>
              <a:t> </a:t>
            </a:r>
            <a:r>
              <a:rPr lang="en-US" dirty="0" err="1"/>
              <a:t>kaç</a:t>
            </a:r>
            <a:r>
              <a:rPr lang="en-US" dirty="0"/>
              <a:t> </a:t>
            </a:r>
            <a:r>
              <a:rPr lang="en-US" dirty="0" err="1"/>
              <a:t>yerden</a:t>
            </a:r>
            <a:r>
              <a:rPr lang="en-US" dirty="0"/>
              <a:t> </a:t>
            </a:r>
            <a:r>
              <a:rPr lang="en-US" dirty="0" err="1"/>
              <a:t>ayrıldığı</a:t>
            </a:r>
            <a:r>
              <a:rPr lang="en-US" dirty="0"/>
              <a:t> </a:t>
            </a:r>
            <a:r>
              <a:rPr lang="en-US" dirty="0" err="1"/>
              <a:t>belirtilmelidir</a:t>
            </a:r>
            <a:r>
              <a:rPr lang="en-US" dirty="0"/>
              <a:t>.</a:t>
            </a:r>
          </a:p>
          <a:p>
            <a:pPr marL="285750" indent="-285750">
              <a:buFont typeface="Arial" panose="020B0604020202020204" pitchFamily="34" charset="0"/>
              <a:buChar char="•"/>
            </a:pPr>
            <a:r>
              <a:rPr lang="en-US" dirty="0" err="1"/>
              <a:t>Videoda</a:t>
            </a:r>
            <a:r>
              <a:rPr lang="en-US" dirty="0"/>
              <a:t> </a:t>
            </a:r>
            <a:r>
              <a:rPr lang="en-US" dirty="0" err="1"/>
              <a:t>roketin</a:t>
            </a:r>
            <a:r>
              <a:rPr lang="en-US" dirty="0"/>
              <a:t> </a:t>
            </a:r>
            <a:r>
              <a:rPr lang="en-US" dirty="0" err="1"/>
              <a:t>başarılı</a:t>
            </a:r>
            <a:r>
              <a:rPr lang="en-US" dirty="0"/>
              <a:t> </a:t>
            </a:r>
            <a:r>
              <a:rPr lang="en-US" dirty="0" err="1"/>
              <a:t>bir</a:t>
            </a:r>
            <a:r>
              <a:rPr lang="en-US" dirty="0"/>
              <a:t> </a:t>
            </a:r>
            <a:r>
              <a:rPr lang="en-US" dirty="0" err="1"/>
              <a:t>şekilde</a:t>
            </a:r>
            <a:r>
              <a:rPr lang="en-US" dirty="0"/>
              <a:t> </a:t>
            </a:r>
            <a:r>
              <a:rPr lang="en-US" dirty="0" err="1"/>
              <a:t>ayrıldığı</a:t>
            </a:r>
            <a:r>
              <a:rPr lang="en-US" dirty="0"/>
              <a:t> ve </a:t>
            </a:r>
            <a:r>
              <a:rPr lang="en-US" dirty="0" err="1"/>
              <a:t>yükleri</a:t>
            </a:r>
            <a:r>
              <a:rPr lang="en-US" dirty="0"/>
              <a:t> </a:t>
            </a:r>
            <a:r>
              <a:rPr lang="en-US" dirty="0" err="1"/>
              <a:t>dışarı</a:t>
            </a:r>
            <a:r>
              <a:rPr lang="en-US" dirty="0"/>
              <a:t> </a:t>
            </a:r>
            <a:r>
              <a:rPr lang="en-US" dirty="0" err="1"/>
              <a:t>çıkarabildiği</a:t>
            </a:r>
            <a:r>
              <a:rPr lang="en-US" dirty="0"/>
              <a:t> </a:t>
            </a:r>
            <a:r>
              <a:rPr lang="en-US" dirty="0" err="1"/>
              <a:t>gösterilmelidir</a:t>
            </a:r>
            <a:r>
              <a:rPr lang="en-US" dirty="0"/>
              <a:t>.</a:t>
            </a:r>
            <a:endParaRPr lang="tr-TR" dirty="0"/>
          </a:p>
          <a:p>
            <a:pPr marL="285750" indent="-285750">
              <a:buFont typeface="Arial" panose="020B0604020202020204" pitchFamily="34" charset="0"/>
              <a:buChar char="•"/>
            </a:pPr>
            <a:r>
              <a:rPr lang="tr-TR" dirty="0"/>
              <a:t>Paraşüt Açma Sistemi Testinin süresi </a:t>
            </a:r>
            <a:r>
              <a:rPr lang="en-US" dirty="0" err="1"/>
              <a:t>en</a:t>
            </a:r>
            <a:r>
              <a:rPr lang="en-US" dirty="0"/>
              <a:t> </a:t>
            </a:r>
            <a:r>
              <a:rPr lang="en-US" dirty="0" err="1"/>
              <a:t>fazla</a:t>
            </a:r>
            <a:r>
              <a:rPr lang="en-US" dirty="0"/>
              <a:t> </a:t>
            </a:r>
            <a:r>
              <a:rPr lang="tr-TR" b="1" dirty="0"/>
              <a:t>30 Saniye </a:t>
            </a:r>
            <a:r>
              <a:rPr lang="tr-TR" dirty="0"/>
              <a:t>olmalıdır.</a:t>
            </a:r>
          </a:p>
          <a:p>
            <a:endParaRPr lang="tr-TR" dirty="0"/>
          </a:p>
        </p:txBody>
      </p:sp>
      <p:sp>
        <p:nvSpPr>
          <p:cNvPr id="7" name="Footer Placeholder 8">
            <a:extLst>
              <a:ext uri="{FF2B5EF4-FFF2-40B4-BE49-F238E27FC236}">
                <a16:creationId xmlns:a16="http://schemas.microsoft.com/office/drawing/2014/main" id="{ECE38EBD-0C46-1AFC-DB65-38D0AB9E1802}"/>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212824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en-US" sz="4000" b="1" err="1">
                <a:solidFill>
                  <a:srgbClr val="0070C0"/>
                </a:solidFill>
                <a:latin typeface="Times New Roman" panose="02020603050405020304" pitchFamily="18" charset="0"/>
                <a:cs typeface="Times New Roman" panose="02020603050405020304" pitchFamily="18" charset="0"/>
              </a:rPr>
              <a:t>Kurtarma</a:t>
            </a:r>
            <a:r>
              <a:rPr lang="en-US" sz="4000" b="1">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Sistemi</a:t>
            </a:r>
            <a:r>
              <a:rPr lang="en-US" sz="4000" b="1">
                <a:solidFill>
                  <a:srgbClr val="0070C0"/>
                </a:solidFill>
                <a:latin typeface="Times New Roman" panose="02020603050405020304" pitchFamily="18" charset="0"/>
                <a:cs typeface="Times New Roman" panose="02020603050405020304" pitchFamily="18" charset="0"/>
              </a:rPr>
              <a:t> -</a:t>
            </a:r>
            <a:r>
              <a:rPr lang="tr-TR" sz="4000" b="1">
                <a:solidFill>
                  <a:srgbClr val="0070C0"/>
                </a:solidFill>
                <a:latin typeface="Times New Roman" panose="02020603050405020304" pitchFamily="18" charset="0"/>
                <a:cs typeface="Times New Roman" panose="02020603050405020304" pitchFamily="18" charset="0"/>
              </a:rPr>
              <a:t> Paraşüt Test</a:t>
            </a:r>
            <a:r>
              <a:rPr lang="en-US" sz="4000" b="1" err="1">
                <a:solidFill>
                  <a:srgbClr val="0070C0"/>
                </a:solidFill>
                <a:latin typeface="Times New Roman" panose="02020603050405020304" pitchFamily="18" charset="0"/>
                <a:cs typeface="Times New Roman" panose="02020603050405020304" pitchFamily="18" charset="0"/>
              </a:rPr>
              <a:t>i</a:t>
            </a:r>
            <a:r>
              <a:rPr lang="tr-TR" sz="4000" b="1">
                <a:solidFill>
                  <a:srgbClr val="0070C0"/>
                </a:solidFill>
                <a:latin typeface="Times New Roman" panose="02020603050405020304" pitchFamily="18" charset="0"/>
                <a:cs typeface="Times New Roman" panose="02020603050405020304" pitchFamily="18" charset="0"/>
              </a:rPr>
              <a:t>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24</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5" name="TextBox 9">
            <a:extLst>
              <a:ext uri="{FF2B5EF4-FFF2-40B4-BE49-F238E27FC236}">
                <a16:creationId xmlns:a16="http://schemas.microsoft.com/office/drawing/2014/main" id="{78E641B9-7AA6-7E9C-6911-9D7F8EDA85A6}"/>
              </a:ext>
            </a:extLst>
          </p:cNvPr>
          <p:cNvSpPr txBox="1"/>
          <p:nvPr/>
        </p:nvSpPr>
        <p:spPr>
          <a:xfrm>
            <a:off x="77190" y="1090323"/>
            <a:ext cx="12184752" cy="3139321"/>
          </a:xfrm>
          <a:prstGeom prst="rect">
            <a:avLst/>
          </a:prstGeom>
          <a:noFill/>
        </p:spPr>
        <p:txBody>
          <a:bodyPr wrap="square" rtlCol="0">
            <a:spAutoFit/>
          </a:bodyPr>
          <a:lstStyle/>
          <a:p>
            <a:endParaRPr lang="en-US" b="1" dirty="0"/>
          </a:p>
          <a:p>
            <a:pPr marL="285750" indent="-285750">
              <a:buFont typeface="Arial" panose="020B0604020202020204" pitchFamily="34" charset="0"/>
              <a:buChar char="•"/>
            </a:pPr>
            <a:r>
              <a:rPr lang="tr-TR" dirty="0"/>
              <a:t>Bu testlerde paraşütlerin açılmasının ve paraşütlerin işlevselliğinin kanıtlanması gerekmektedir. Paraşütlerin üretilmiş son hali kullanılmalıdır.</a:t>
            </a:r>
            <a:endParaRPr lang="en-US" dirty="0"/>
          </a:p>
          <a:p>
            <a:pPr marL="285750" indent="-285750">
              <a:buFont typeface="Arial" panose="020B0604020202020204" pitchFamily="34" charset="0"/>
              <a:buChar char="•"/>
            </a:pPr>
            <a:r>
              <a:rPr lang="en-US" dirty="0" err="1"/>
              <a:t>Paraşütlerin</a:t>
            </a:r>
            <a:r>
              <a:rPr lang="en-US" dirty="0"/>
              <a:t> </a:t>
            </a:r>
            <a:r>
              <a:rPr lang="en-US" dirty="0" err="1"/>
              <a:t>ucuna</a:t>
            </a:r>
            <a:r>
              <a:rPr lang="en-US" dirty="0"/>
              <a:t> </a:t>
            </a:r>
            <a:r>
              <a:rPr lang="en-US" dirty="0" err="1"/>
              <a:t>ağırlık</a:t>
            </a:r>
            <a:r>
              <a:rPr lang="en-US" dirty="0"/>
              <a:t> </a:t>
            </a:r>
            <a:r>
              <a:rPr lang="en-US" dirty="0" err="1"/>
              <a:t>bağlanmalıdır</a:t>
            </a:r>
            <a:r>
              <a:rPr lang="en-US" dirty="0"/>
              <a:t>.</a:t>
            </a:r>
          </a:p>
          <a:p>
            <a:pPr marL="285750" indent="-285750">
              <a:buFont typeface="Arial" panose="020B0604020202020204" pitchFamily="34" charset="0"/>
              <a:buChar char="•"/>
            </a:pPr>
            <a:r>
              <a:rPr lang="en-US" dirty="0" err="1"/>
              <a:t>Paraşütler</a:t>
            </a:r>
            <a:r>
              <a:rPr lang="en-US" dirty="0"/>
              <a:t> </a:t>
            </a:r>
            <a:r>
              <a:rPr lang="en-US" dirty="0" err="1"/>
              <a:t>takımların</a:t>
            </a:r>
            <a:r>
              <a:rPr lang="en-US" dirty="0"/>
              <a:t> </a:t>
            </a:r>
            <a:r>
              <a:rPr lang="en-US" dirty="0" err="1"/>
              <a:t>belirleyeceği</a:t>
            </a:r>
            <a:r>
              <a:rPr lang="en-US" dirty="0"/>
              <a:t> (</a:t>
            </a:r>
            <a:r>
              <a:rPr lang="en-US" dirty="0" err="1"/>
              <a:t>paraşütlerin</a:t>
            </a:r>
            <a:r>
              <a:rPr lang="en-US" dirty="0"/>
              <a:t> </a:t>
            </a:r>
            <a:r>
              <a:rPr lang="en-US" dirty="0" err="1"/>
              <a:t>açılıp</a:t>
            </a:r>
            <a:r>
              <a:rPr lang="en-US" dirty="0"/>
              <a:t> </a:t>
            </a:r>
            <a:r>
              <a:rPr lang="en-US" dirty="0" err="1"/>
              <a:t>ucuna</a:t>
            </a:r>
            <a:r>
              <a:rPr lang="en-US" dirty="0"/>
              <a:t> </a:t>
            </a:r>
            <a:r>
              <a:rPr lang="en-US" dirty="0" err="1"/>
              <a:t>bağlı</a:t>
            </a:r>
            <a:r>
              <a:rPr lang="en-US" dirty="0"/>
              <a:t> </a:t>
            </a:r>
            <a:r>
              <a:rPr lang="en-US" dirty="0" err="1"/>
              <a:t>kütleyi</a:t>
            </a:r>
            <a:r>
              <a:rPr lang="en-US" dirty="0"/>
              <a:t> </a:t>
            </a:r>
            <a:r>
              <a:rPr lang="en-US" dirty="0" err="1"/>
              <a:t>yavaşlatmasına</a:t>
            </a:r>
            <a:r>
              <a:rPr lang="en-US" dirty="0"/>
              <a:t> </a:t>
            </a:r>
            <a:r>
              <a:rPr lang="en-US" dirty="0" err="1"/>
              <a:t>yeterli</a:t>
            </a:r>
            <a:r>
              <a:rPr lang="en-US" dirty="0"/>
              <a:t> </a:t>
            </a:r>
            <a:r>
              <a:rPr lang="en-US" dirty="0" err="1"/>
              <a:t>olacak</a:t>
            </a:r>
            <a:r>
              <a:rPr lang="en-US" dirty="0"/>
              <a:t>) </a:t>
            </a:r>
            <a:r>
              <a:rPr lang="en-US" dirty="0" err="1"/>
              <a:t>yükseklikten</a:t>
            </a:r>
            <a:r>
              <a:rPr lang="en-US" dirty="0"/>
              <a:t> </a:t>
            </a:r>
            <a:r>
              <a:rPr lang="en-US" dirty="0" err="1"/>
              <a:t>atılmalıdır</a:t>
            </a:r>
            <a:r>
              <a:rPr lang="en-US" dirty="0"/>
              <a:t>.</a:t>
            </a:r>
          </a:p>
          <a:p>
            <a:pPr marL="285750" indent="-285750">
              <a:buFont typeface="Arial" panose="020B0604020202020204" pitchFamily="34" charset="0"/>
              <a:buChar char="•"/>
            </a:pPr>
            <a:r>
              <a:rPr lang="en-US" dirty="0" err="1"/>
              <a:t>Paraşütler</a:t>
            </a:r>
            <a:r>
              <a:rPr lang="en-US" dirty="0"/>
              <a:t> </a:t>
            </a:r>
            <a:r>
              <a:rPr lang="en-US" dirty="0" err="1"/>
              <a:t>atılırken</a:t>
            </a:r>
            <a:r>
              <a:rPr lang="en-US" dirty="0"/>
              <a:t> </a:t>
            </a:r>
            <a:r>
              <a:rPr lang="en-US" dirty="0" err="1"/>
              <a:t>kapalı</a:t>
            </a:r>
            <a:r>
              <a:rPr lang="en-US" dirty="0"/>
              <a:t> </a:t>
            </a:r>
            <a:r>
              <a:rPr lang="en-US" dirty="0" err="1"/>
              <a:t>olmalı</a:t>
            </a:r>
            <a:r>
              <a:rPr lang="en-US" dirty="0"/>
              <a:t> ve </a:t>
            </a:r>
            <a:r>
              <a:rPr lang="en-US" dirty="0" err="1"/>
              <a:t>kendiliğinden</a:t>
            </a:r>
            <a:r>
              <a:rPr lang="en-US" dirty="0"/>
              <a:t> </a:t>
            </a:r>
            <a:r>
              <a:rPr lang="en-US" dirty="0" err="1"/>
              <a:t>açılmalıdır</a:t>
            </a:r>
            <a:r>
              <a:rPr lang="en-US" dirty="0"/>
              <a:t>.</a:t>
            </a:r>
          </a:p>
          <a:p>
            <a:pPr marL="285750" indent="-285750">
              <a:buFont typeface="Arial" panose="020B0604020202020204" pitchFamily="34" charset="0"/>
              <a:buChar char="•"/>
            </a:pPr>
            <a:r>
              <a:rPr lang="en-US" dirty="0"/>
              <a:t>Test </a:t>
            </a:r>
            <a:r>
              <a:rPr lang="en-US" dirty="0" err="1"/>
              <a:t>bütün</a:t>
            </a:r>
            <a:r>
              <a:rPr lang="en-US" dirty="0"/>
              <a:t> </a:t>
            </a:r>
            <a:r>
              <a:rPr lang="en-US" dirty="0" err="1"/>
              <a:t>paraşütler</a:t>
            </a:r>
            <a:r>
              <a:rPr lang="en-US" dirty="0"/>
              <a:t> </a:t>
            </a:r>
            <a:r>
              <a:rPr lang="en-US" dirty="0" err="1"/>
              <a:t>için</a:t>
            </a:r>
            <a:r>
              <a:rPr lang="en-US" dirty="0"/>
              <a:t> </a:t>
            </a:r>
            <a:r>
              <a:rPr lang="en-US" dirty="0" err="1"/>
              <a:t>yapılmalıdır</a:t>
            </a:r>
            <a:r>
              <a:rPr lang="en-US" dirty="0"/>
              <a:t>.</a:t>
            </a:r>
            <a:endParaRPr lang="tr-TR" dirty="0"/>
          </a:p>
          <a:p>
            <a:pPr marL="285750" indent="-285750">
              <a:buFont typeface="Arial" panose="020B0604020202020204" pitchFamily="34" charset="0"/>
              <a:buChar char="•"/>
            </a:pPr>
            <a:r>
              <a:rPr lang="tr-TR" dirty="0"/>
              <a:t>Paraşüt Testlerinin süresi </a:t>
            </a:r>
            <a:r>
              <a:rPr lang="en-US" dirty="0" err="1"/>
              <a:t>en</a:t>
            </a:r>
            <a:r>
              <a:rPr lang="en-US" dirty="0"/>
              <a:t> </a:t>
            </a:r>
            <a:r>
              <a:rPr lang="en-US" dirty="0" err="1"/>
              <a:t>fazla</a:t>
            </a:r>
            <a:r>
              <a:rPr lang="en-US" dirty="0"/>
              <a:t> </a:t>
            </a:r>
            <a:r>
              <a:rPr lang="tr-TR" b="1" dirty="0"/>
              <a:t>30 </a:t>
            </a:r>
            <a:r>
              <a:rPr lang="en-US" b="1" dirty="0"/>
              <a:t>s</a:t>
            </a:r>
            <a:r>
              <a:rPr lang="tr-TR" b="1" dirty="0"/>
              <a:t>aniye </a:t>
            </a:r>
            <a:r>
              <a:rPr lang="tr-TR" dirty="0"/>
              <a:t>olmalıdır.</a:t>
            </a:r>
          </a:p>
          <a:p>
            <a:pPr marL="285750" indent="-285750">
              <a:buFont typeface="Arial" panose="020B0604020202020204" pitchFamily="34" charset="0"/>
              <a:buChar char="•"/>
            </a:pPr>
            <a:endParaRPr lang="tr-TR" dirty="0"/>
          </a:p>
          <a:p>
            <a:endParaRPr lang="tr-TR" dirty="0"/>
          </a:p>
        </p:txBody>
      </p:sp>
      <p:sp>
        <p:nvSpPr>
          <p:cNvPr id="7" name="Footer Placeholder 8">
            <a:extLst>
              <a:ext uri="{FF2B5EF4-FFF2-40B4-BE49-F238E27FC236}">
                <a16:creationId xmlns:a16="http://schemas.microsoft.com/office/drawing/2014/main" id="{3667F0F6-D9B8-816F-85F7-20CC5B16288B}"/>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92551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en-US" sz="4000" b="1" err="1">
                <a:solidFill>
                  <a:srgbClr val="0070C0"/>
                </a:solidFill>
                <a:latin typeface="Times New Roman" panose="02020603050405020304" pitchFamily="18" charset="0"/>
                <a:cs typeface="Times New Roman" panose="02020603050405020304" pitchFamily="18" charset="0"/>
              </a:rPr>
              <a:t>Yapısal</a:t>
            </a:r>
            <a:r>
              <a:rPr lang="en-US" sz="4000" b="1">
                <a:solidFill>
                  <a:srgbClr val="0070C0"/>
                </a:solidFill>
                <a:latin typeface="Times New Roman" panose="02020603050405020304" pitchFamily="18" charset="0"/>
                <a:cs typeface="Times New Roman" panose="02020603050405020304" pitchFamily="18" charset="0"/>
              </a:rPr>
              <a:t> – </a:t>
            </a:r>
            <a:r>
              <a:rPr lang="en-US" sz="4000" b="1" err="1">
                <a:solidFill>
                  <a:srgbClr val="0070C0"/>
                </a:solidFill>
                <a:latin typeface="Times New Roman" panose="02020603050405020304" pitchFamily="18" charset="0"/>
                <a:cs typeface="Times New Roman" panose="02020603050405020304" pitchFamily="18" charset="0"/>
              </a:rPr>
              <a:t>Dayanım</a:t>
            </a:r>
            <a:r>
              <a:rPr lang="en-US" sz="4000" b="1">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Testi</a:t>
            </a:r>
            <a:endParaRPr lang="en-US" sz="4000" b="1">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25</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7248" y="1259071"/>
            <a:ext cx="12184752" cy="2308324"/>
          </a:xfrm>
          <a:prstGeom prst="rect">
            <a:avLst/>
          </a:prstGeom>
          <a:noFill/>
        </p:spPr>
        <p:txBody>
          <a:bodyPr wrap="square" rtlCol="0">
            <a:spAutoFit/>
          </a:bodyPr>
          <a:lstStyle/>
          <a:p>
            <a:pPr marL="285750" indent="-285750">
              <a:buFont typeface="Arial" panose="020B0604020202020204" pitchFamily="34" charset="0"/>
              <a:buChar char="•"/>
            </a:pPr>
            <a:r>
              <a:rPr lang="en-US" dirty="0" err="1"/>
              <a:t>Rokete</a:t>
            </a:r>
            <a:r>
              <a:rPr lang="en-US" dirty="0"/>
              <a:t> </a:t>
            </a:r>
            <a:r>
              <a:rPr lang="en-US" dirty="0" err="1"/>
              <a:t>montajlanmış</a:t>
            </a:r>
            <a:r>
              <a:rPr lang="en-US" dirty="0"/>
              <a:t> </a:t>
            </a:r>
            <a:r>
              <a:rPr lang="en-US" dirty="0" err="1"/>
              <a:t>olan</a:t>
            </a:r>
            <a:r>
              <a:rPr lang="en-US" dirty="0"/>
              <a:t> </a:t>
            </a:r>
            <a:r>
              <a:rPr lang="en-US" dirty="0" err="1"/>
              <a:t>kanatlar</a:t>
            </a:r>
            <a:r>
              <a:rPr lang="en-US" dirty="0"/>
              <a:t> </a:t>
            </a:r>
            <a:r>
              <a:rPr lang="en-US" dirty="0" err="1"/>
              <a:t>el</a:t>
            </a:r>
            <a:r>
              <a:rPr lang="en-US" dirty="0"/>
              <a:t> </a:t>
            </a:r>
            <a:r>
              <a:rPr lang="en-US" dirty="0" err="1"/>
              <a:t>kuvveti</a:t>
            </a:r>
            <a:r>
              <a:rPr lang="en-US" dirty="0"/>
              <a:t> </a:t>
            </a:r>
            <a:r>
              <a:rPr lang="en-US" dirty="0" err="1"/>
              <a:t>ile</a:t>
            </a:r>
            <a:r>
              <a:rPr lang="en-US" dirty="0"/>
              <a:t> </a:t>
            </a:r>
            <a:r>
              <a:rPr lang="en-US" dirty="0" err="1"/>
              <a:t>basılmalı</a:t>
            </a:r>
            <a:r>
              <a:rPr lang="en-US" dirty="0"/>
              <a:t> ve </a:t>
            </a:r>
            <a:r>
              <a:rPr lang="en-US" dirty="0" err="1"/>
              <a:t>kanatların</a:t>
            </a:r>
            <a:r>
              <a:rPr lang="en-US" dirty="0"/>
              <a:t> </a:t>
            </a:r>
            <a:r>
              <a:rPr lang="en-US" dirty="0" err="1"/>
              <a:t>rijitliği</a:t>
            </a:r>
            <a:r>
              <a:rPr lang="en-US" dirty="0"/>
              <a:t> </a:t>
            </a:r>
            <a:r>
              <a:rPr lang="en-US" dirty="0" err="1"/>
              <a:t>gösterilmelidir</a:t>
            </a:r>
            <a:r>
              <a:rPr lang="en-US" dirty="0"/>
              <a:t>.</a:t>
            </a:r>
          </a:p>
          <a:p>
            <a:pPr marL="285750" indent="-285750">
              <a:buFont typeface="Arial" panose="020B0604020202020204" pitchFamily="34" charset="0"/>
              <a:buChar char="•"/>
            </a:pPr>
            <a:r>
              <a:rPr lang="en-US" dirty="0" err="1"/>
              <a:t>Tamamen</a:t>
            </a:r>
            <a:r>
              <a:rPr lang="en-US" dirty="0"/>
              <a:t> </a:t>
            </a:r>
            <a:r>
              <a:rPr lang="en-US" dirty="0" err="1"/>
              <a:t>montajlanmış</a:t>
            </a:r>
            <a:r>
              <a:rPr lang="en-US" dirty="0"/>
              <a:t> </a:t>
            </a:r>
            <a:r>
              <a:rPr lang="en-US" dirty="0" err="1"/>
              <a:t>roket</a:t>
            </a:r>
            <a:r>
              <a:rPr lang="en-US" dirty="0"/>
              <a:t> </a:t>
            </a:r>
            <a:r>
              <a:rPr lang="en-US" dirty="0" err="1"/>
              <a:t>ağırlık</a:t>
            </a:r>
            <a:r>
              <a:rPr lang="en-US" dirty="0"/>
              <a:t> </a:t>
            </a:r>
            <a:r>
              <a:rPr lang="en-US" dirty="0" err="1"/>
              <a:t>merkezinden</a:t>
            </a:r>
            <a:r>
              <a:rPr lang="en-US" dirty="0"/>
              <a:t> </a:t>
            </a:r>
            <a:r>
              <a:rPr lang="en-US" dirty="0" err="1"/>
              <a:t>bir</a:t>
            </a:r>
            <a:r>
              <a:rPr lang="en-US" dirty="0"/>
              <a:t> </a:t>
            </a:r>
            <a:r>
              <a:rPr lang="en-US" dirty="0" err="1"/>
              <a:t>mesnete</a:t>
            </a:r>
            <a:r>
              <a:rPr lang="en-US" dirty="0"/>
              <a:t> </a:t>
            </a:r>
            <a:r>
              <a:rPr lang="en-US" dirty="0" err="1"/>
              <a:t>konulmalı</a:t>
            </a:r>
            <a:r>
              <a:rPr lang="en-US" dirty="0"/>
              <a:t> ve </a:t>
            </a:r>
            <a:r>
              <a:rPr lang="en-US" dirty="0" err="1"/>
              <a:t>roketin</a:t>
            </a:r>
            <a:r>
              <a:rPr lang="en-US" dirty="0"/>
              <a:t> </a:t>
            </a:r>
            <a:r>
              <a:rPr lang="en-US" dirty="0" err="1"/>
              <a:t>sehim</a:t>
            </a:r>
            <a:r>
              <a:rPr lang="en-US" dirty="0"/>
              <a:t> </a:t>
            </a:r>
            <a:r>
              <a:rPr lang="en-US" dirty="0" err="1"/>
              <a:t>yapmadığı</a:t>
            </a:r>
            <a:r>
              <a:rPr lang="en-US" dirty="0"/>
              <a:t> </a:t>
            </a:r>
            <a:r>
              <a:rPr lang="en-US" dirty="0" err="1"/>
              <a:t>gösterilmelidir</a:t>
            </a:r>
            <a:r>
              <a:rPr lang="en-US" dirty="0"/>
              <a:t>.</a:t>
            </a:r>
          </a:p>
          <a:p>
            <a:pPr marL="285750" indent="-285750">
              <a:buFont typeface="Arial" panose="020B0604020202020204" pitchFamily="34" charset="0"/>
              <a:buChar char="•"/>
            </a:pPr>
            <a:r>
              <a:rPr lang="en-US" dirty="0" err="1"/>
              <a:t>Yapısal</a:t>
            </a:r>
            <a:r>
              <a:rPr lang="tr-TR" dirty="0"/>
              <a:t> Testlerinin süresi</a:t>
            </a:r>
            <a:r>
              <a:rPr lang="en-US" dirty="0"/>
              <a:t> </a:t>
            </a:r>
            <a:r>
              <a:rPr lang="en-US" dirty="0" err="1"/>
              <a:t>en</a:t>
            </a:r>
            <a:r>
              <a:rPr lang="en-US" dirty="0"/>
              <a:t> </a:t>
            </a:r>
            <a:r>
              <a:rPr lang="en-US" dirty="0" err="1"/>
              <a:t>fazla</a:t>
            </a:r>
            <a:r>
              <a:rPr lang="en-US" dirty="0"/>
              <a:t> </a:t>
            </a:r>
            <a:r>
              <a:rPr lang="en-US" b="1" dirty="0"/>
              <a:t>30</a:t>
            </a:r>
            <a:r>
              <a:rPr lang="tr-TR" b="1" dirty="0"/>
              <a:t> </a:t>
            </a:r>
            <a:r>
              <a:rPr lang="en-US" b="1" dirty="0"/>
              <a:t>s</a:t>
            </a:r>
            <a:r>
              <a:rPr lang="tr-TR" b="1" dirty="0"/>
              <a:t>aniye </a:t>
            </a:r>
            <a:r>
              <a:rPr lang="tr-TR" dirty="0"/>
              <a:t>olmalıdır.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1" u="sng" dirty="0">
              <a:solidFill>
                <a:srgbClr val="FF0000"/>
              </a:solidFill>
            </a:endParaRPr>
          </a:p>
          <a:p>
            <a:endParaRPr lang="tr-TR" dirty="0"/>
          </a:p>
          <a:p>
            <a:pPr marL="285750" indent="-285750">
              <a:buFont typeface="Arial" panose="020B0604020202020204" pitchFamily="34" charset="0"/>
              <a:buChar char="•"/>
            </a:pPr>
            <a:endParaRPr lang="tr-TR" dirty="0"/>
          </a:p>
          <a:p>
            <a:endParaRPr lang="tr-TR" dirty="0"/>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7" name="Footer Placeholder 8">
            <a:extLst>
              <a:ext uri="{FF2B5EF4-FFF2-40B4-BE49-F238E27FC236}">
                <a16:creationId xmlns:a16="http://schemas.microsoft.com/office/drawing/2014/main" id="{2D1DF7A4-EC91-F971-2158-655DE9044C6B}"/>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740458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215"/>
            <a:ext cx="9144000" cy="750956"/>
          </a:xfrm>
        </p:spPr>
        <p:txBody>
          <a:bodyPr anchor="ctr">
            <a:normAutofit/>
          </a:bodyPr>
          <a:lstStyle/>
          <a:p>
            <a:r>
              <a:rPr lang="en-US" sz="4000" b="1">
                <a:solidFill>
                  <a:srgbClr val="0070C0"/>
                </a:solidFill>
                <a:latin typeface="Times New Roman" panose="02020603050405020304" pitchFamily="18" charset="0"/>
                <a:cs typeface="Times New Roman" panose="02020603050405020304" pitchFamily="18" charset="0"/>
              </a:rPr>
              <a:t>Roket </a:t>
            </a:r>
            <a:r>
              <a:rPr lang="en-US" sz="4000" b="1" err="1">
                <a:solidFill>
                  <a:srgbClr val="0070C0"/>
                </a:solidFill>
                <a:latin typeface="Times New Roman" panose="02020603050405020304" pitchFamily="18" charset="0"/>
                <a:cs typeface="Times New Roman" panose="02020603050405020304" pitchFamily="18" charset="0"/>
              </a:rPr>
              <a:t>Genel</a:t>
            </a:r>
            <a:r>
              <a:rPr lang="en-US" sz="4000" b="1">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Montajı</a:t>
            </a:r>
            <a:r>
              <a:rPr lang="tr-TR" sz="4000" b="1">
                <a:solidFill>
                  <a:srgbClr val="0070C0"/>
                </a:solidFill>
                <a:latin typeface="Times New Roman" panose="02020603050405020304" pitchFamily="18" charset="0"/>
                <a:cs typeface="Times New Roman" panose="02020603050405020304" pitchFamily="18" charset="0"/>
              </a:rPr>
              <a:t> ve Atışa Hazırlık</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BEDC82-49FF-42E3-B7EA-26FF728940D5}" type="slidenum">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DD7EE19-348B-4A60-8810-E2854B3ED486}" type="datetime2">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Temmuz 2025 Pazartesi</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5" name="TextBox 14"/>
          <p:cNvSpPr txBox="1"/>
          <p:nvPr/>
        </p:nvSpPr>
        <p:spPr>
          <a:xfrm>
            <a:off x="264000" y="1332000"/>
            <a:ext cx="11664000" cy="4909036"/>
          </a:xfrm>
          <a:prstGeom prst="rect">
            <a:avLst/>
          </a:prstGeom>
          <a:noFill/>
        </p:spPr>
        <p:txBody>
          <a:bodyPr wrap="square" rtlCol="0">
            <a:spAutoFit/>
          </a:bodyPr>
          <a:lstStyle/>
          <a:p>
            <a:pPr marL="285750" lvl="0" indent="-285750" algn="just">
              <a:spcAft>
                <a:spcPts val="600"/>
              </a:spcAft>
              <a:buFont typeface="Arial" panose="020B0604020202020204" pitchFamily="34" charset="0"/>
              <a:buChar char="•"/>
            </a:pPr>
            <a:r>
              <a:rPr lang="tr-TR" dirty="0">
                <a:solidFill>
                  <a:prstClr val="black"/>
                </a:solidFill>
              </a:rPr>
              <a:t>Takımların bu kısımda 4 aşamalı bir video hazırla</a:t>
            </a:r>
            <a:r>
              <a:rPr lang="en-US" dirty="0" err="1">
                <a:solidFill>
                  <a:prstClr val="black"/>
                </a:solidFill>
              </a:rPr>
              <a:t>ması</a:t>
            </a:r>
            <a:r>
              <a:rPr lang="en-US" dirty="0">
                <a:solidFill>
                  <a:prstClr val="black"/>
                </a:solidFill>
              </a:rPr>
              <a:t> </a:t>
            </a:r>
            <a:r>
              <a:rPr lang="en-US" dirty="0" err="1">
                <a:solidFill>
                  <a:prstClr val="black"/>
                </a:solidFill>
              </a:rPr>
              <a:t>beklenmektedir</a:t>
            </a:r>
            <a:r>
              <a:rPr lang="tr-TR" dirty="0">
                <a:solidFill>
                  <a:prstClr val="black"/>
                </a:solidFill>
              </a:rPr>
              <a:t>. Bu aşamalar:</a:t>
            </a:r>
          </a:p>
          <a:p>
            <a:pPr marL="742950" lvl="1" indent="-285750" algn="just">
              <a:spcAft>
                <a:spcPts val="600"/>
              </a:spcAft>
              <a:buFont typeface="Arial" panose="020B0604020202020204" pitchFamily="34" charset="0"/>
              <a:buChar char="•"/>
            </a:pPr>
            <a:r>
              <a:rPr lang="tr-TR" b="1" dirty="0">
                <a:solidFill>
                  <a:prstClr val="black"/>
                </a:solidFill>
              </a:rPr>
              <a:t>Roketin Genel Montajı: </a:t>
            </a:r>
            <a:r>
              <a:rPr lang="tr-TR" dirty="0">
                <a:solidFill>
                  <a:prstClr val="black"/>
                </a:solidFill>
              </a:rPr>
              <a:t>Bu kısımda takımlardan roketin tüm alt sistemlerinin montajının yapılabilir olduğu, yarışmanın ilk günü montaj sırasında herhangi bir sıkıntı çıkmayacağını kanıtlayan bir video beklenmektedir. Eğer takımların sistemlerinde sıcak gaz üreteci var ise sıcak gaz üretecinin sisteme nasıl eklendiği de anlatılmalıdır. Barut yok ise belirtilmelidir. </a:t>
            </a:r>
          </a:p>
          <a:p>
            <a:pPr marL="742950" lvl="1" indent="-285750" algn="just">
              <a:spcAft>
                <a:spcPts val="600"/>
              </a:spcAft>
              <a:buFont typeface="Arial" panose="020B0604020202020204" pitchFamily="34" charset="0"/>
              <a:buChar char="•"/>
            </a:pPr>
            <a:r>
              <a:rPr lang="tr-TR" b="1" dirty="0">
                <a:solidFill>
                  <a:prstClr val="black"/>
                </a:solidFill>
              </a:rPr>
              <a:t>Atışa Hazırlık: </a:t>
            </a:r>
            <a:r>
              <a:rPr lang="tr-TR" dirty="0">
                <a:solidFill>
                  <a:prstClr val="black"/>
                </a:solidFill>
              </a:rPr>
              <a:t>Bu kısımda roketin yarışmanın ikinci günü en fazla 10 dakikada uçuşa hazır hale getirileceğini kanıtlayan denemelerin anlatılması ve açıklanması beklenmektedir. </a:t>
            </a:r>
          </a:p>
          <a:p>
            <a:pPr marL="742950" lvl="1" indent="-285750" algn="just">
              <a:spcAft>
                <a:spcPts val="600"/>
              </a:spcAft>
              <a:buFont typeface="Arial" panose="020B0604020202020204" pitchFamily="34" charset="0"/>
              <a:buChar char="•"/>
            </a:pPr>
            <a:r>
              <a:rPr lang="tr-TR" b="1" dirty="0">
                <a:solidFill>
                  <a:prstClr val="black"/>
                </a:solidFill>
              </a:rPr>
              <a:t>Motorun Rokete Montajı: </a:t>
            </a:r>
            <a:r>
              <a:rPr lang="tr-TR" dirty="0">
                <a:solidFill>
                  <a:prstClr val="black"/>
                </a:solidFill>
              </a:rPr>
              <a:t>Bu kısımda motorun rokete en son nasıl montajlandığı anlatılmalıdır. Anlatılırken roketin komple montajlı olması gerekmektedir. </a:t>
            </a:r>
          </a:p>
          <a:p>
            <a:pPr marL="742950" lvl="1" indent="-285750" algn="just">
              <a:spcAft>
                <a:spcPts val="600"/>
              </a:spcAft>
              <a:buFont typeface="Arial" panose="020B0604020202020204" pitchFamily="34" charset="0"/>
              <a:buChar char="•"/>
            </a:pPr>
            <a:r>
              <a:rPr lang="tr-TR" b="1" dirty="0">
                <a:solidFill>
                  <a:prstClr val="black"/>
                </a:solidFill>
              </a:rPr>
              <a:t>Altimetre montajı: </a:t>
            </a:r>
            <a:r>
              <a:rPr lang="tr-TR" dirty="0">
                <a:solidFill>
                  <a:prstClr val="black"/>
                </a:solidFill>
              </a:rPr>
              <a:t>Videonun bu kısmında altimetrenin nasıl yerleştirileceği anlatılmalıdır.</a:t>
            </a:r>
            <a:endParaRPr lang="en-US" b="1" dirty="0">
              <a:solidFill>
                <a:prstClr val="black"/>
              </a:solidFill>
            </a:endParaRPr>
          </a:p>
          <a:p>
            <a:pPr marL="285750" indent="-285750">
              <a:buFont typeface="Arial" panose="020B0604020202020204" pitchFamily="34" charset="0"/>
              <a:buChar char="•"/>
            </a:pPr>
            <a:r>
              <a:rPr lang="tr-TR" dirty="0"/>
              <a:t>Testlerin süreleri:</a:t>
            </a:r>
          </a:p>
          <a:p>
            <a:pPr marL="742950" lvl="1" indent="-285750">
              <a:buFont typeface="Arial" panose="020B0604020202020204" pitchFamily="34" charset="0"/>
              <a:buChar char="•"/>
            </a:pPr>
            <a:r>
              <a:rPr lang="tr-TR" dirty="0"/>
              <a:t>Roketin Genel Montajı için </a:t>
            </a:r>
            <a:r>
              <a:rPr lang="en-US" dirty="0" err="1"/>
              <a:t>en</a:t>
            </a:r>
            <a:r>
              <a:rPr lang="en-US" dirty="0"/>
              <a:t> </a:t>
            </a:r>
            <a:r>
              <a:rPr lang="en-US" dirty="0" err="1"/>
              <a:t>fazla</a:t>
            </a:r>
            <a:r>
              <a:rPr lang="en-US" dirty="0"/>
              <a:t> </a:t>
            </a:r>
            <a:r>
              <a:rPr lang="tr-TR" b="1" dirty="0"/>
              <a:t>60 </a:t>
            </a:r>
            <a:r>
              <a:rPr lang="en-US" b="1" dirty="0"/>
              <a:t>s</a:t>
            </a:r>
            <a:r>
              <a:rPr lang="tr-TR" b="1" dirty="0"/>
              <a:t>aniye</a:t>
            </a:r>
            <a:r>
              <a:rPr lang="tr-TR" dirty="0"/>
              <a:t>,</a:t>
            </a:r>
          </a:p>
          <a:p>
            <a:pPr marL="742950" lvl="1" indent="-285750">
              <a:buFont typeface="Arial" panose="020B0604020202020204" pitchFamily="34" charset="0"/>
              <a:buChar char="•"/>
            </a:pPr>
            <a:r>
              <a:rPr lang="tr-TR" dirty="0"/>
              <a:t>Atışa Hazırlık için</a:t>
            </a:r>
            <a:r>
              <a:rPr lang="en-US" dirty="0"/>
              <a:t> </a:t>
            </a:r>
            <a:r>
              <a:rPr lang="en-US" dirty="0" err="1"/>
              <a:t>en</a:t>
            </a:r>
            <a:r>
              <a:rPr lang="en-US" dirty="0"/>
              <a:t> </a:t>
            </a:r>
            <a:r>
              <a:rPr lang="en-US" dirty="0" err="1"/>
              <a:t>fazla</a:t>
            </a:r>
            <a:r>
              <a:rPr lang="tr-TR" dirty="0"/>
              <a:t> </a:t>
            </a:r>
            <a:r>
              <a:rPr lang="tr-TR" b="1" dirty="0"/>
              <a:t>60 </a:t>
            </a:r>
            <a:r>
              <a:rPr lang="en-US" b="1" dirty="0"/>
              <a:t>s</a:t>
            </a:r>
            <a:r>
              <a:rPr lang="tr-TR" b="1" dirty="0"/>
              <a:t>aniye</a:t>
            </a:r>
            <a:r>
              <a:rPr lang="tr-TR" dirty="0"/>
              <a:t>,</a:t>
            </a:r>
          </a:p>
          <a:p>
            <a:pPr marL="742950" lvl="1" indent="-285750">
              <a:buFont typeface="Arial" panose="020B0604020202020204" pitchFamily="34" charset="0"/>
              <a:buChar char="•"/>
            </a:pPr>
            <a:r>
              <a:rPr lang="tr-TR" dirty="0"/>
              <a:t>Motorun Rokete Montajı için </a:t>
            </a:r>
            <a:r>
              <a:rPr lang="en-US" dirty="0" err="1"/>
              <a:t>en</a:t>
            </a:r>
            <a:r>
              <a:rPr lang="en-US" dirty="0"/>
              <a:t> </a:t>
            </a:r>
            <a:r>
              <a:rPr lang="en-US" dirty="0" err="1"/>
              <a:t>fazla</a:t>
            </a:r>
            <a:r>
              <a:rPr lang="en-US" dirty="0"/>
              <a:t> </a:t>
            </a:r>
            <a:r>
              <a:rPr lang="tr-TR" b="1" dirty="0"/>
              <a:t>30 </a:t>
            </a:r>
            <a:r>
              <a:rPr lang="en-US" b="1" dirty="0"/>
              <a:t>s</a:t>
            </a:r>
            <a:r>
              <a:rPr lang="tr-TR" b="1" dirty="0"/>
              <a:t>aniye,</a:t>
            </a:r>
          </a:p>
          <a:p>
            <a:pPr marL="742950" lvl="1" indent="-285750">
              <a:buFont typeface="Arial" panose="020B0604020202020204" pitchFamily="34" charset="0"/>
              <a:buChar char="•"/>
            </a:pPr>
            <a:r>
              <a:rPr lang="tr-TR" dirty="0"/>
              <a:t>Altimetre montajı için </a:t>
            </a:r>
            <a:r>
              <a:rPr lang="en-US" dirty="0" err="1"/>
              <a:t>en</a:t>
            </a:r>
            <a:r>
              <a:rPr lang="en-US" dirty="0"/>
              <a:t> </a:t>
            </a:r>
            <a:r>
              <a:rPr lang="en-US" dirty="0" err="1"/>
              <a:t>fazla</a:t>
            </a:r>
            <a:r>
              <a:rPr lang="en-US" dirty="0"/>
              <a:t> </a:t>
            </a:r>
            <a:r>
              <a:rPr lang="tr-TR" b="1" dirty="0"/>
              <a:t>30 </a:t>
            </a:r>
            <a:r>
              <a:rPr lang="en-US" b="1" dirty="0"/>
              <a:t>s</a:t>
            </a:r>
            <a:r>
              <a:rPr lang="tr-TR" b="1" dirty="0"/>
              <a:t>aniye </a:t>
            </a:r>
            <a:r>
              <a:rPr lang="tr-TR" dirty="0"/>
              <a:t>olmalıdır.</a:t>
            </a:r>
          </a:p>
          <a:p>
            <a:endParaRPr lang="tr-TR" dirty="0"/>
          </a:p>
        </p:txBody>
      </p:sp>
      <p:sp>
        <p:nvSpPr>
          <p:cNvPr id="16" name="TextBox 15"/>
          <p:cNvSpPr txBox="1"/>
          <p:nvPr/>
        </p:nvSpPr>
        <p:spPr>
          <a:xfrm>
            <a:off x="54592" y="57258"/>
            <a:ext cx="1171978" cy="1116000"/>
          </a:xfrm>
          <a:prstGeom prst="rect">
            <a:avLst/>
          </a:prstGeom>
          <a:noFill/>
          <a:ln>
            <a:solidFill>
              <a:schemeClr val="tx1"/>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a:ln>
                  <a:noFill/>
                </a:ln>
                <a:solidFill>
                  <a:prstClr val="black"/>
                </a:solidFill>
                <a:effectLst/>
                <a:uLnTx/>
                <a:uFillTx/>
                <a:latin typeface="Calibri Light" panose="020F0302020204030204"/>
                <a:ea typeface="+mn-ea"/>
                <a:cs typeface="Times New Roman" panose="02020603050405020304" pitchFamily="18" charset="0"/>
              </a:rPr>
              <a:t>Takım Logosu</a:t>
            </a:r>
          </a:p>
        </p:txBody>
      </p:sp>
      <p:sp>
        <p:nvSpPr>
          <p:cNvPr id="7" name="Footer Placeholder 8">
            <a:extLst>
              <a:ext uri="{FF2B5EF4-FFF2-40B4-BE49-F238E27FC236}">
                <a16:creationId xmlns:a16="http://schemas.microsoft.com/office/drawing/2014/main" id="{C008D492-B30C-0947-9E07-A8DD36D59741}"/>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487766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tr-TR" sz="4400" b="1">
                <a:solidFill>
                  <a:srgbClr val="0070C0"/>
                </a:solidFill>
                <a:latin typeface="Times New Roman" panose="02020603050405020304" pitchFamily="18" charset="0"/>
                <a:cs typeface="Times New Roman" panose="02020603050405020304" pitchFamily="18" charset="0"/>
              </a:rPr>
              <a:t>Aviyonik – Haberleşme Testi</a:t>
            </a:r>
            <a:endParaRPr lang="tr-TR" b="1">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27</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7248" y="1259071"/>
            <a:ext cx="12184752" cy="2862322"/>
          </a:xfrm>
          <a:prstGeom prst="rect">
            <a:avLst/>
          </a:prstGeom>
          <a:noFill/>
        </p:spPr>
        <p:txBody>
          <a:bodyPr wrap="square" rtlCol="0">
            <a:spAutoFit/>
          </a:bodyPr>
          <a:lstStyle/>
          <a:p>
            <a:pPr marL="628650" lvl="1" indent="-171450" algn="just">
              <a:buFont typeface="Arial" panose="020B0604020202020204" pitchFamily="34" charset="0"/>
              <a:buChar char="•"/>
            </a:pPr>
            <a:r>
              <a:rPr lang="en-US" dirty="0"/>
              <a:t>Bu test </a:t>
            </a:r>
            <a:r>
              <a:rPr lang="en-US" dirty="0" err="1"/>
              <a:t>kapsamında</a:t>
            </a:r>
            <a:r>
              <a:rPr lang="en-US" dirty="0"/>
              <a:t> </a:t>
            </a:r>
            <a:r>
              <a:rPr lang="en-US" dirty="0" err="1"/>
              <a:t>takımların</a:t>
            </a:r>
            <a:r>
              <a:rPr lang="en-US" dirty="0"/>
              <a:t> Haberleşme </a:t>
            </a:r>
            <a:r>
              <a:rPr lang="en-US" dirty="0" err="1"/>
              <a:t>Bilgisayarları</a:t>
            </a:r>
            <a:r>
              <a:rPr lang="en-US" dirty="0"/>
              <a:t> </a:t>
            </a:r>
            <a:r>
              <a:rPr lang="en-US" dirty="0" err="1"/>
              <a:t>aracılığı</a:t>
            </a:r>
            <a:r>
              <a:rPr lang="en-US" dirty="0"/>
              <a:t> </a:t>
            </a:r>
            <a:r>
              <a:rPr lang="en-US" dirty="0" err="1"/>
              <a:t>ile</a:t>
            </a:r>
            <a:r>
              <a:rPr lang="en-US" dirty="0"/>
              <a:t> </a:t>
            </a:r>
            <a:r>
              <a:rPr lang="en-US" dirty="0" err="1"/>
              <a:t>yer</a:t>
            </a:r>
            <a:r>
              <a:rPr lang="en-US" dirty="0"/>
              <a:t> </a:t>
            </a:r>
            <a:r>
              <a:rPr lang="en-US" dirty="0" err="1"/>
              <a:t>istasyonlarına</a:t>
            </a:r>
            <a:r>
              <a:rPr lang="en-US" dirty="0"/>
              <a:t> </a:t>
            </a:r>
            <a:r>
              <a:rPr lang="en-US" dirty="0" err="1"/>
              <a:t>veri</a:t>
            </a:r>
            <a:r>
              <a:rPr lang="en-US" dirty="0"/>
              <a:t> </a:t>
            </a:r>
            <a:r>
              <a:rPr lang="en-US" dirty="0" err="1"/>
              <a:t>göndermeleri</a:t>
            </a:r>
            <a:r>
              <a:rPr lang="en-US" dirty="0"/>
              <a:t> </a:t>
            </a:r>
            <a:r>
              <a:rPr lang="en-US" dirty="0" err="1"/>
              <a:t>beklenmektedir</a:t>
            </a:r>
            <a:r>
              <a:rPr lang="tr-TR" dirty="0"/>
              <a:t>.</a:t>
            </a:r>
            <a:endParaRPr lang="en-US" dirty="0"/>
          </a:p>
          <a:p>
            <a:pPr marL="628650" lvl="1" indent="-171450" algn="just">
              <a:buFont typeface="Arial" panose="020B0604020202020204" pitchFamily="34" charset="0"/>
              <a:buChar char="•"/>
            </a:pPr>
            <a:r>
              <a:rPr lang="en-US" dirty="0"/>
              <a:t>Test </a:t>
            </a:r>
            <a:r>
              <a:rPr lang="en-US" dirty="0" err="1"/>
              <a:t>kapsamında</a:t>
            </a:r>
            <a:r>
              <a:rPr lang="en-US" dirty="0"/>
              <a:t> hem </a:t>
            </a:r>
            <a:r>
              <a:rPr lang="en-US" dirty="0" err="1"/>
              <a:t>görev</a:t>
            </a:r>
            <a:r>
              <a:rPr lang="en-US" dirty="0"/>
              <a:t> </a:t>
            </a:r>
            <a:r>
              <a:rPr lang="en-US" dirty="0" err="1"/>
              <a:t>yükü</a:t>
            </a:r>
            <a:r>
              <a:rPr lang="en-US" dirty="0"/>
              <a:t> hem de </a:t>
            </a:r>
            <a:r>
              <a:rPr lang="en-US" dirty="0" err="1"/>
              <a:t>roket</a:t>
            </a:r>
            <a:r>
              <a:rPr lang="en-US" dirty="0"/>
              <a:t> </a:t>
            </a:r>
            <a:r>
              <a:rPr lang="en-US" dirty="0" err="1"/>
              <a:t>üzerinden</a:t>
            </a:r>
            <a:r>
              <a:rPr lang="en-US" dirty="0"/>
              <a:t> </a:t>
            </a:r>
            <a:r>
              <a:rPr lang="en-US" dirty="0" err="1"/>
              <a:t>yer</a:t>
            </a:r>
            <a:r>
              <a:rPr lang="en-US" dirty="0"/>
              <a:t> </a:t>
            </a:r>
            <a:r>
              <a:rPr lang="en-US" dirty="0" err="1"/>
              <a:t>istasyonuna</a:t>
            </a:r>
            <a:r>
              <a:rPr lang="en-US" dirty="0"/>
              <a:t> </a:t>
            </a:r>
            <a:r>
              <a:rPr lang="en-US" dirty="0" err="1"/>
              <a:t>veri</a:t>
            </a:r>
            <a:r>
              <a:rPr lang="en-US" dirty="0"/>
              <a:t> </a:t>
            </a:r>
            <a:r>
              <a:rPr lang="en-US" dirty="0" err="1"/>
              <a:t>gönderilmelidir</a:t>
            </a:r>
            <a:r>
              <a:rPr lang="en-US" dirty="0"/>
              <a:t>.</a:t>
            </a:r>
          </a:p>
          <a:p>
            <a:pPr marL="628650" lvl="1" indent="-171450" algn="just">
              <a:buFont typeface="Arial" panose="020B0604020202020204" pitchFamily="34" charset="0"/>
              <a:buChar char="•"/>
            </a:pPr>
            <a:r>
              <a:rPr lang="en-US" dirty="0" err="1"/>
              <a:t>Gönderilecek</a:t>
            </a:r>
            <a:r>
              <a:rPr lang="en-US" dirty="0"/>
              <a:t> </a:t>
            </a:r>
            <a:r>
              <a:rPr lang="en-US" dirty="0" err="1"/>
              <a:t>veriler</a:t>
            </a:r>
            <a:r>
              <a:rPr lang="en-US" dirty="0"/>
              <a:t> </a:t>
            </a:r>
            <a:r>
              <a:rPr lang="en-US" dirty="0" err="1"/>
              <a:t>arasında</a:t>
            </a:r>
            <a:r>
              <a:rPr lang="en-US" dirty="0"/>
              <a:t> </a:t>
            </a:r>
            <a:r>
              <a:rPr lang="en-US" dirty="0" err="1"/>
              <a:t>konum</a:t>
            </a:r>
            <a:r>
              <a:rPr lang="en-US" dirty="0"/>
              <a:t> </a:t>
            </a:r>
            <a:r>
              <a:rPr lang="en-US" dirty="0" err="1"/>
              <a:t>bilgilerinin</a:t>
            </a:r>
            <a:r>
              <a:rPr lang="en-US" dirty="0"/>
              <a:t> </a:t>
            </a:r>
            <a:r>
              <a:rPr lang="en-US" dirty="0" err="1"/>
              <a:t>olması</a:t>
            </a:r>
            <a:r>
              <a:rPr lang="en-US" dirty="0"/>
              <a:t> </a:t>
            </a:r>
            <a:r>
              <a:rPr lang="en-US" dirty="0" err="1"/>
              <a:t>zorunludur</a:t>
            </a:r>
            <a:r>
              <a:rPr lang="en-US" dirty="0"/>
              <a:t>.</a:t>
            </a:r>
          </a:p>
          <a:p>
            <a:pPr marL="628650" lvl="1" indent="-171450" algn="just">
              <a:buFont typeface="Arial" panose="020B0604020202020204" pitchFamily="34" charset="0"/>
              <a:buChar char="•"/>
            </a:pPr>
            <a:r>
              <a:rPr lang="en-US" dirty="0"/>
              <a:t>Test </a:t>
            </a:r>
            <a:r>
              <a:rPr lang="en-US" dirty="0" err="1"/>
              <a:t>edilen</a:t>
            </a:r>
            <a:r>
              <a:rPr lang="en-US" dirty="0"/>
              <a:t> </a:t>
            </a:r>
            <a:r>
              <a:rPr lang="en-US" dirty="0" err="1"/>
              <a:t>sistemler</a:t>
            </a:r>
            <a:r>
              <a:rPr lang="en-US" dirty="0"/>
              <a:t> </a:t>
            </a:r>
            <a:r>
              <a:rPr lang="en-US" dirty="0" err="1"/>
              <a:t>yarışma</a:t>
            </a:r>
            <a:r>
              <a:rPr lang="en-US" dirty="0"/>
              <a:t> </a:t>
            </a:r>
            <a:r>
              <a:rPr lang="en-US" dirty="0" err="1"/>
              <a:t>alanında</a:t>
            </a:r>
            <a:r>
              <a:rPr lang="en-US" dirty="0"/>
              <a:t> </a:t>
            </a:r>
            <a:r>
              <a:rPr lang="en-US" dirty="0" err="1"/>
              <a:t>kullanılacak</a:t>
            </a:r>
            <a:r>
              <a:rPr lang="en-US" dirty="0"/>
              <a:t> </a:t>
            </a:r>
            <a:r>
              <a:rPr lang="en-US" dirty="0" err="1"/>
              <a:t>sistemler</a:t>
            </a:r>
            <a:r>
              <a:rPr lang="en-US" dirty="0"/>
              <a:t> </a:t>
            </a:r>
            <a:r>
              <a:rPr lang="en-US" dirty="0" err="1"/>
              <a:t>olmalıdır</a:t>
            </a:r>
            <a:r>
              <a:rPr lang="en-US" dirty="0"/>
              <a:t>. </a:t>
            </a:r>
          </a:p>
          <a:p>
            <a:pPr marL="628650" lvl="1" indent="-171450" algn="just">
              <a:buFont typeface="Arial" panose="020B0604020202020204" pitchFamily="34" charset="0"/>
              <a:buChar char="•"/>
            </a:pPr>
            <a:r>
              <a:rPr lang="en-US" dirty="0"/>
              <a:t>Test </a:t>
            </a:r>
            <a:r>
              <a:rPr lang="en-US" dirty="0" err="1"/>
              <a:t>edilen</a:t>
            </a:r>
            <a:r>
              <a:rPr lang="en-US" dirty="0"/>
              <a:t> </a:t>
            </a:r>
            <a:r>
              <a:rPr lang="en-US" dirty="0" err="1"/>
              <a:t>konumlar</a:t>
            </a:r>
            <a:r>
              <a:rPr lang="en-US" dirty="0"/>
              <a:t> </a:t>
            </a:r>
            <a:r>
              <a:rPr lang="en-US" dirty="0" err="1"/>
              <a:t>arasındaki</a:t>
            </a:r>
            <a:r>
              <a:rPr lang="en-US" dirty="0"/>
              <a:t> </a:t>
            </a:r>
            <a:r>
              <a:rPr lang="en-US" dirty="0" err="1"/>
              <a:t>mesafe</a:t>
            </a:r>
            <a:r>
              <a:rPr lang="en-US" dirty="0"/>
              <a:t> </a:t>
            </a:r>
            <a:r>
              <a:rPr lang="en-US" dirty="0" err="1"/>
              <a:t>harita</a:t>
            </a:r>
            <a:r>
              <a:rPr lang="en-US" dirty="0"/>
              <a:t> </a:t>
            </a:r>
            <a:r>
              <a:rPr lang="en-US" dirty="0" err="1"/>
              <a:t>üzerinden</a:t>
            </a:r>
            <a:r>
              <a:rPr lang="en-US" dirty="0"/>
              <a:t> </a:t>
            </a:r>
            <a:r>
              <a:rPr lang="en-US" dirty="0" err="1"/>
              <a:t>gösterilmelidir</a:t>
            </a:r>
            <a:r>
              <a:rPr lang="en-US" dirty="0"/>
              <a:t>. </a:t>
            </a:r>
          </a:p>
          <a:p>
            <a:pPr marL="628650" lvl="1" indent="-171450" algn="just">
              <a:buFont typeface="Arial" panose="020B0604020202020204" pitchFamily="34" charset="0"/>
              <a:buChar char="•"/>
            </a:pPr>
            <a:r>
              <a:rPr lang="en-US" dirty="0" err="1"/>
              <a:t>Ekran</a:t>
            </a:r>
            <a:r>
              <a:rPr lang="en-US" dirty="0"/>
              <a:t> </a:t>
            </a:r>
            <a:r>
              <a:rPr lang="en-US" dirty="0" err="1"/>
              <a:t>ikiye</a:t>
            </a:r>
            <a:r>
              <a:rPr lang="en-US" dirty="0"/>
              <a:t> </a:t>
            </a:r>
            <a:r>
              <a:rPr lang="en-US" dirty="0" err="1"/>
              <a:t>bölünerek</a:t>
            </a:r>
            <a:r>
              <a:rPr lang="en-US" dirty="0"/>
              <a:t>, </a:t>
            </a:r>
            <a:r>
              <a:rPr lang="en-US" dirty="0" err="1"/>
              <a:t>yer</a:t>
            </a:r>
            <a:r>
              <a:rPr lang="en-US" dirty="0"/>
              <a:t> </a:t>
            </a:r>
            <a:r>
              <a:rPr lang="en-US" dirty="0" err="1"/>
              <a:t>istasyonu</a:t>
            </a:r>
            <a:r>
              <a:rPr lang="en-US" dirty="0"/>
              <a:t> </a:t>
            </a:r>
            <a:r>
              <a:rPr lang="en-US" dirty="0" err="1"/>
              <a:t>ve</a:t>
            </a:r>
            <a:r>
              <a:rPr lang="en-US" dirty="0"/>
              <a:t> </a:t>
            </a:r>
            <a:r>
              <a:rPr lang="en-US" dirty="0" err="1"/>
              <a:t>Haberleşme</a:t>
            </a:r>
            <a:r>
              <a:rPr lang="en-US" dirty="0"/>
              <a:t> </a:t>
            </a:r>
            <a:r>
              <a:rPr lang="en-US" dirty="0" err="1"/>
              <a:t>Bilgisayarı</a:t>
            </a:r>
            <a:r>
              <a:rPr lang="en-US" dirty="0"/>
              <a:t> </a:t>
            </a:r>
            <a:r>
              <a:rPr lang="en-US" dirty="0" err="1"/>
              <a:t>aynı</a:t>
            </a:r>
            <a:r>
              <a:rPr lang="en-US" dirty="0"/>
              <a:t> </a:t>
            </a:r>
            <a:r>
              <a:rPr lang="en-US" dirty="0" err="1"/>
              <a:t>anda</a:t>
            </a:r>
            <a:r>
              <a:rPr lang="en-US" dirty="0"/>
              <a:t> </a:t>
            </a:r>
            <a:r>
              <a:rPr lang="en-US" dirty="0" err="1"/>
              <a:t>gösterilmelidir</a:t>
            </a:r>
            <a:r>
              <a:rPr lang="en-US" dirty="0"/>
              <a:t>.</a:t>
            </a:r>
          </a:p>
          <a:p>
            <a:pPr marL="628650" lvl="1" indent="-171450" algn="just">
              <a:buFont typeface="Arial" panose="020B0604020202020204" pitchFamily="34" charset="0"/>
              <a:buChar char="•"/>
            </a:pPr>
            <a:r>
              <a:rPr lang="en-US" dirty="0"/>
              <a:t>Test </a:t>
            </a:r>
            <a:r>
              <a:rPr lang="en-US" dirty="0" err="1"/>
              <a:t>mesafesi</a:t>
            </a:r>
            <a:r>
              <a:rPr lang="en-US" dirty="0"/>
              <a:t> </a:t>
            </a:r>
            <a:r>
              <a:rPr lang="en-US" dirty="0" err="1"/>
              <a:t>en</a:t>
            </a:r>
            <a:r>
              <a:rPr lang="en-US" dirty="0"/>
              <a:t> </a:t>
            </a:r>
            <a:r>
              <a:rPr lang="en-US" dirty="0" err="1"/>
              <a:t>az</a:t>
            </a:r>
            <a:r>
              <a:rPr lang="en-US" dirty="0"/>
              <a:t> ; A1 </a:t>
            </a:r>
            <a:r>
              <a:rPr lang="en-US" dirty="0" err="1"/>
              <a:t>kategorisi</a:t>
            </a:r>
            <a:r>
              <a:rPr lang="en-US" dirty="0"/>
              <a:t> </a:t>
            </a:r>
            <a:r>
              <a:rPr lang="en-US" dirty="0" err="1"/>
              <a:t>için</a:t>
            </a:r>
            <a:r>
              <a:rPr lang="en-US" dirty="0"/>
              <a:t> 1500m, A2 </a:t>
            </a:r>
            <a:r>
              <a:rPr lang="en-US" dirty="0" err="1"/>
              <a:t>kategorisi</a:t>
            </a:r>
            <a:r>
              <a:rPr lang="en-US" dirty="0"/>
              <a:t> </a:t>
            </a:r>
            <a:r>
              <a:rPr lang="en-US" dirty="0" err="1"/>
              <a:t>için</a:t>
            </a:r>
            <a:r>
              <a:rPr lang="en-US" dirty="0"/>
              <a:t> 3000m, A3 </a:t>
            </a:r>
            <a:r>
              <a:rPr lang="en-US" dirty="0" err="1"/>
              <a:t>kategorisi</a:t>
            </a:r>
            <a:r>
              <a:rPr lang="en-US" dirty="0"/>
              <a:t> </a:t>
            </a:r>
            <a:r>
              <a:rPr lang="en-US" dirty="0" err="1"/>
              <a:t>için</a:t>
            </a:r>
            <a:r>
              <a:rPr lang="en-US" dirty="0"/>
              <a:t> 5000m, A4 </a:t>
            </a:r>
            <a:r>
              <a:rPr lang="en-US" dirty="0" err="1"/>
              <a:t>kategorisi</a:t>
            </a:r>
            <a:r>
              <a:rPr lang="en-US" dirty="0"/>
              <a:t> </a:t>
            </a:r>
            <a:r>
              <a:rPr lang="en-US" dirty="0" err="1"/>
              <a:t>için</a:t>
            </a:r>
            <a:r>
              <a:rPr lang="en-US" dirty="0"/>
              <a:t> 3000m </a:t>
            </a:r>
            <a:r>
              <a:rPr lang="en-US" dirty="0" err="1"/>
              <a:t>olmalıdır</a:t>
            </a:r>
            <a:r>
              <a:rPr lang="en-US" dirty="0"/>
              <a:t>.</a:t>
            </a:r>
          </a:p>
          <a:p>
            <a:endParaRPr lang="tr-TR" dirty="0"/>
          </a:p>
          <a:p>
            <a:endParaRPr lang="tr-TR" dirty="0"/>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7" name="Footer Placeholder 8">
            <a:extLst>
              <a:ext uri="{FF2B5EF4-FFF2-40B4-BE49-F238E27FC236}">
                <a16:creationId xmlns:a16="http://schemas.microsoft.com/office/drawing/2014/main" id="{611E8113-A6DD-554C-097A-F6F867D6C34C}"/>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4285037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28</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7248" y="1259071"/>
            <a:ext cx="12184752" cy="3785652"/>
          </a:xfrm>
          <a:prstGeom prst="rect">
            <a:avLst/>
          </a:prstGeom>
          <a:noFill/>
        </p:spPr>
        <p:txBody>
          <a:bodyPr wrap="square" rtlCol="0">
            <a:spAutoFit/>
          </a:bodyPr>
          <a:lstStyle/>
          <a:p>
            <a:pPr marL="628650" lvl="1" indent="-171450" algn="just">
              <a:buFont typeface="Arial" panose="020B0604020202020204" pitchFamily="34" charset="0"/>
              <a:buChar char="•"/>
            </a:pPr>
            <a:r>
              <a:rPr lang="tr-TR" sz="1200" b="1" dirty="0"/>
              <a:t>Algoritma Testleri: </a:t>
            </a:r>
            <a:r>
              <a:rPr lang="tr-TR" sz="1200" dirty="0"/>
              <a:t>Takımların AHR kapsamında algoritma testleri yapmaları beklenmektedir. Bu algoritma testlerinde uçuşta kullanılacak uçuş kontrol bilgisayarları kullanılarak kurtarma sisteminin tetiklenmesi için kullanılan algoritmanın bir gösterimi yapılmalıdır. </a:t>
            </a:r>
            <a:r>
              <a:rPr lang="tr-TR" sz="1200" b="1" i="1" dirty="0" err="1"/>
              <a:t>Örn</a:t>
            </a:r>
            <a:r>
              <a:rPr lang="tr-TR" sz="1200" b="1" i="1" dirty="0"/>
              <a:t>. Takım eğer uçuş kontrol bilgisayarında basınç sensörü verisi ile </a:t>
            </a:r>
            <a:r>
              <a:rPr lang="en-US" sz="1200" b="1" i="1" dirty="0" err="1"/>
              <a:t>irtifa</a:t>
            </a:r>
            <a:r>
              <a:rPr lang="tr-TR" sz="1200" b="1" i="1" dirty="0"/>
              <a:t> hesaplayarak tepe noktası tayini yapıyor ve düşüşü algılandığında kurtarma sistemini tetikliyor ise test sırasında basınç sensörü verisi ile sistem tetiklemesi yapılmalıdır. Basınç sensörünün verilerinin yükselişi algılaması sağlanmalı (</a:t>
            </a:r>
            <a:r>
              <a:rPr lang="tr-TR" sz="1200" b="1" i="1" dirty="0" err="1"/>
              <a:t>örn</a:t>
            </a:r>
            <a:r>
              <a:rPr lang="tr-TR" sz="1200" b="1" i="1" dirty="0"/>
              <a:t>. Vakum odası kullanılarak basıncın düşürülmesi) irtifa yükselişi bitip düşüş başlayınca düşüşün başladığı gösterilmeli ve düşüşün sağlandığı noktada kurtarma sisteminin tetiklemesinin yapıldığı kanıtlanmalıdır.</a:t>
            </a:r>
          </a:p>
          <a:p>
            <a:pPr marL="742950" lvl="1" indent="-285750" algn="just">
              <a:buFont typeface="Arial" panose="020B0604020202020204" pitchFamily="34" charset="0"/>
              <a:buChar char="•"/>
            </a:pPr>
            <a:r>
              <a:rPr lang="tr-TR" sz="1200" b="1" dirty="0"/>
              <a:t>Kart  Fonksiyonellik Testleri: </a:t>
            </a:r>
            <a:r>
              <a:rPr lang="tr-TR" sz="1200" dirty="0"/>
              <a:t>Bu test kapsamında takımların uçuş kontrol bilgisayarlarında anlatımını yaptıkları tüm fonksiyonları kullanabildiklerini kanıtlamaları gerekmektedir. </a:t>
            </a:r>
            <a:r>
              <a:rPr lang="tr-TR" sz="1200" b="1" i="1" dirty="0" err="1"/>
              <a:t>Örn</a:t>
            </a:r>
            <a:r>
              <a:rPr lang="tr-TR" sz="1200" b="1" i="1" dirty="0"/>
              <a:t>. Takımın uçuş kontrol bilgisayarı içerisinde GYRO sensörü barındırıyor ise takım, bu sensörün çalıştığını sensörden aldığı verileri görselleştirerek göstermelidir.</a:t>
            </a:r>
          </a:p>
          <a:p>
            <a:pPr marL="285750" indent="-285750">
              <a:buFont typeface="Arial" panose="020B0604020202020204" pitchFamily="34" charset="0"/>
              <a:buChar char="•"/>
            </a:pPr>
            <a:r>
              <a:rPr lang="tr-TR" sz="1200" dirty="0"/>
              <a:t>Testlerin süreleri:</a:t>
            </a:r>
          </a:p>
          <a:p>
            <a:pPr marL="742950" lvl="1" indent="-285750">
              <a:buFont typeface="Arial" panose="020B0604020202020204" pitchFamily="34" charset="0"/>
              <a:buChar char="•"/>
            </a:pPr>
            <a:r>
              <a:rPr lang="tr-TR" sz="1200" dirty="0"/>
              <a:t>Algoritma Testleri için </a:t>
            </a:r>
            <a:r>
              <a:rPr lang="tr-TR" sz="1200" b="1" dirty="0"/>
              <a:t>30 </a:t>
            </a:r>
            <a:r>
              <a:rPr lang="en-US" sz="1200" b="1" dirty="0"/>
              <a:t>s</a:t>
            </a:r>
            <a:r>
              <a:rPr lang="tr-TR" sz="1200" b="1" dirty="0"/>
              <a:t>aniye</a:t>
            </a:r>
            <a:r>
              <a:rPr lang="tr-TR" sz="1200" dirty="0"/>
              <a:t>,</a:t>
            </a:r>
          </a:p>
          <a:p>
            <a:pPr marL="742950" lvl="1" indent="-285750">
              <a:buFont typeface="Arial" panose="020B0604020202020204" pitchFamily="34" charset="0"/>
              <a:buChar char="•"/>
            </a:pPr>
            <a:r>
              <a:rPr lang="tr-TR" sz="1200" dirty="0"/>
              <a:t>Kart Fonksiyonellik Testleri için </a:t>
            </a:r>
            <a:r>
              <a:rPr lang="tr-TR" sz="1200" b="1" dirty="0"/>
              <a:t>30 </a:t>
            </a:r>
            <a:r>
              <a:rPr lang="en-US" sz="1200" b="1" dirty="0"/>
              <a:t>s</a:t>
            </a:r>
            <a:r>
              <a:rPr lang="tr-TR" sz="1200" b="1" dirty="0"/>
              <a:t>aniye</a:t>
            </a:r>
            <a:r>
              <a:rPr lang="tr-TR" sz="1200" dirty="0"/>
              <a:t>,</a:t>
            </a:r>
            <a:r>
              <a:rPr lang="en-US" sz="1200" dirty="0"/>
              <a:t> </a:t>
            </a:r>
          </a:p>
          <a:p>
            <a:pPr marL="742950" lvl="1" indent="-285750">
              <a:buFont typeface="Arial" panose="020B0604020202020204" pitchFamily="34" charset="0"/>
              <a:buChar char="•"/>
            </a:pPr>
            <a:r>
              <a:rPr lang="en-US" sz="1200" dirty="0" err="1"/>
              <a:t>Testler</a:t>
            </a:r>
            <a:r>
              <a:rPr lang="en-US" sz="1200" dirty="0"/>
              <a:t> </a:t>
            </a:r>
            <a:r>
              <a:rPr lang="en-US" sz="1200" dirty="0" err="1"/>
              <a:t>tek</a:t>
            </a:r>
            <a:r>
              <a:rPr lang="en-US" sz="1200" dirty="0"/>
              <a:t> </a:t>
            </a:r>
            <a:r>
              <a:rPr lang="en-US" sz="1200" dirty="0" err="1"/>
              <a:t>bir</a:t>
            </a:r>
            <a:r>
              <a:rPr lang="en-US" sz="1200" dirty="0"/>
              <a:t> </a:t>
            </a:r>
            <a:r>
              <a:rPr lang="en-US" sz="1200" dirty="0" err="1"/>
              <a:t>videoda</a:t>
            </a:r>
            <a:r>
              <a:rPr lang="en-US" sz="1200" dirty="0"/>
              <a:t> </a:t>
            </a:r>
            <a:r>
              <a:rPr lang="en-US" sz="1200" dirty="0" err="1"/>
              <a:t>birleştirilmelidir</a:t>
            </a:r>
            <a:r>
              <a:rPr lang="en-US" sz="1200" dirty="0"/>
              <a:t>.</a:t>
            </a:r>
          </a:p>
          <a:p>
            <a:pPr marL="742950" lvl="1" indent="-285750">
              <a:buFont typeface="Arial" panose="020B0604020202020204" pitchFamily="34" charset="0"/>
              <a:buChar char="•"/>
            </a:pPr>
            <a:endParaRPr lang="en-US" sz="1200" dirty="0"/>
          </a:p>
          <a:p>
            <a:pPr marL="742950" lvl="1" indent="-285750">
              <a:buFont typeface="Arial" panose="020B0604020202020204" pitchFamily="34" charset="0"/>
              <a:buChar char="•"/>
            </a:pPr>
            <a:endParaRPr lang="en-US" sz="1200" dirty="0"/>
          </a:p>
          <a:p>
            <a:pPr marL="628650" lvl="1" indent="-171450">
              <a:buFont typeface="Arial" panose="020B0604020202020204" pitchFamily="34" charset="0"/>
              <a:buChar char="•"/>
            </a:pPr>
            <a:r>
              <a:rPr lang="en-US" sz="1200" dirty="0" err="1"/>
              <a:t>Testler</a:t>
            </a:r>
            <a:r>
              <a:rPr lang="en-US" sz="1200" dirty="0"/>
              <a:t> </a:t>
            </a:r>
            <a:r>
              <a:rPr lang="en-US" sz="1200" dirty="0" err="1"/>
              <a:t>sadece</a:t>
            </a:r>
            <a:r>
              <a:rPr lang="en-US" sz="1200" dirty="0"/>
              <a:t> </a:t>
            </a:r>
            <a:r>
              <a:rPr lang="en-US" sz="1200" dirty="0" err="1"/>
              <a:t>özgün</a:t>
            </a:r>
            <a:r>
              <a:rPr lang="en-US" sz="1200" dirty="0"/>
              <a:t> UKB </a:t>
            </a:r>
            <a:r>
              <a:rPr lang="en-US" sz="1200" dirty="0" err="1"/>
              <a:t>için</a:t>
            </a:r>
            <a:r>
              <a:rPr lang="en-US" sz="1200" dirty="0"/>
              <a:t> </a:t>
            </a:r>
            <a:r>
              <a:rPr lang="en-US" sz="1200" dirty="0" err="1"/>
              <a:t>yapılmalıdır</a:t>
            </a:r>
            <a:r>
              <a:rPr lang="en-US" sz="1200" dirty="0"/>
              <a:t>. Haberleşme </a:t>
            </a:r>
            <a:r>
              <a:rPr lang="en-US" sz="1200" dirty="0" err="1"/>
              <a:t>bilgisayarları</a:t>
            </a:r>
            <a:r>
              <a:rPr lang="en-US" sz="1200" dirty="0"/>
              <a:t> ve </a:t>
            </a:r>
            <a:r>
              <a:rPr lang="en-US" sz="1200" dirty="0" err="1"/>
              <a:t>ticari</a:t>
            </a:r>
            <a:r>
              <a:rPr lang="en-US" sz="1200" dirty="0"/>
              <a:t> </a:t>
            </a:r>
            <a:r>
              <a:rPr lang="en-US" sz="1200" dirty="0" err="1"/>
              <a:t>UKB’ler</a:t>
            </a:r>
            <a:r>
              <a:rPr lang="en-US" sz="1200" dirty="0"/>
              <a:t> </a:t>
            </a:r>
            <a:r>
              <a:rPr lang="en-US" sz="1200" dirty="0" err="1"/>
              <a:t>için</a:t>
            </a:r>
            <a:r>
              <a:rPr lang="en-US" sz="1200" dirty="0"/>
              <a:t> </a:t>
            </a:r>
            <a:r>
              <a:rPr lang="en-US" sz="1200" dirty="0" err="1"/>
              <a:t>yapılmamalıdır</a:t>
            </a:r>
            <a:r>
              <a:rPr lang="en-US" sz="1200" dirty="0"/>
              <a:t>. </a:t>
            </a:r>
            <a:r>
              <a:rPr lang="en-US" sz="1200" dirty="0" err="1"/>
              <a:t>Özgün</a:t>
            </a:r>
            <a:r>
              <a:rPr lang="en-US" sz="1200" dirty="0"/>
              <a:t> UKB </a:t>
            </a:r>
            <a:r>
              <a:rPr lang="en-US" sz="1200" dirty="0" err="1"/>
              <a:t>kullanmayan</a:t>
            </a:r>
            <a:r>
              <a:rPr lang="en-US" sz="1200" dirty="0"/>
              <a:t> A1 </a:t>
            </a:r>
            <a:r>
              <a:rPr lang="en-US" sz="1200" dirty="0" err="1"/>
              <a:t>kategorisi</a:t>
            </a:r>
            <a:r>
              <a:rPr lang="en-US" sz="1200" dirty="0"/>
              <a:t> </a:t>
            </a:r>
            <a:r>
              <a:rPr lang="en-US" sz="1200" dirty="0" err="1"/>
              <a:t>yarışmacıları</a:t>
            </a:r>
            <a:r>
              <a:rPr lang="en-US" sz="1200" dirty="0"/>
              <a:t> </a:t>
            </a:r>
            <a:r>
              <a:rPr lang="en-US" sz="1200" dirty="0" err="1"/>
              <a:t>bu</a:t>
            </a:r>
            <a:r>
              <a:rPr lang="en-US" sz="1200" dirty="0"/>
              <a:t> </a:t>
            </a:r>
            <a:r>
              <a:rPr lang="en-US" sz="1200" dirty="0" err="1"/>
              <a:t>testi</a:t>
            </a:r>
            <a:r>
              <a:rPr lang="en-US" sz="1200" dirty="0"/>
              <a:t> </a:t>
            </a:r>
            <a:r>
              <a:rPr lang="en-US" sz="1200" dirty="0" err="1"/>
              <a:t>yapmak</a:t>
            </a:r>
            <a:r>
              <a:rPr lang="en-US" sz="1200" dirty="0"/>
              <a:t> </a:t>
            </a:r>
            <a:r>
              <a:rPr lang="en-US" sz="1200" dirty="0" err="1"/>
              <a:t>zorunda</a:t>
            </a:r>
            <a:r>
              <a:rPr lang="en-US" sz="1200" dirty="0"/>
              <a:t> </a:t>
            </a:r>
            <a:r>
              <a:rPr lang="en-US" sz="1200" dirty="0" err="1"/>
              <a:t>değildir</a:t>
            </a:r>
            <a:r>
              <a:rPr lang="en-US" sz="1200" dirty="0"/>
              <a:t>.</a:t>
            </a:r>
            <a:endParaRPr lang="tr-TR" sz="1200" dirty="0"/>
          </a:p>
          <a:p>
            <a:endParaRPr lang="en-US" sz="1200" dirty="0"/>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tr-TR" sz="1200" dirty="0"/>
          </a:p>
          <a:p>
            <a:pPr marL="285750" indent="-285750">
              <a:buFont typeface="Arial" panose="020B0604020202020204" pitchFamily="34" charset="0"/>
              <a:buChar char="•"/>
            </a:pPr>
            <a:endParaRPr lang="tr-TR" sz="1200" dirty="0"/>
          </a:p>
          <a:p>
            <a:endParaRPr lang="tr-TR" sz="1200" dirty="0"/>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2" name="Title 1">
            <a:extLst>
              <a:ext uri="{FF2B5EF4-FFF2-40B4-BE49-F238E27FC236}">
                <a16:creationId xmlns:a16="http://schemas.microsoft.com/office/drawing/2014/main" id="{BF18F8AA-7BF4-E00B-401B-A1B3223CA507}"/>
              </a:ext>
            </a:extLst>
          </p:cNvPr>
          <p:cNvSpPr txBox="1">
            <a:spLocks/>
          </p:cNvSpPr>
          <p:nvPr/>
        </p:nvSpPr>
        <p:spPr>
          <a:xfrm>
            <a:off x="1408090" y="249215"/>
            <a:ext cx="9571750" cy="750956"/>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4400" b="1" dirty="0">
                <a:solidFill>
                  <a:srgbClr val="0070C0"/>
                </a:solidFill>
                <a:latin typeface="Times New Roman" panose="02020603050405020304" pitchFamily="18" charset="0"/>
                <a:cs typeface="Times New Roman" panose="02020603050405020304" pitchFamily="18" charset="0"/>
              </a:rPr>
              <a:t>Aviyonik – Algoritma &amp; </a:t>
            </a:r>
            <a:r>
              <a:rPr lang="tr-TR" sz="4400" b="1" dirty="0" err="1">
                <a:solidFill>
                  <a:srgbClr val="0070C0"/>
                </a:solidFill>
                <a:latin typeface="Times New Roman" panose="02020603050405020304" pitchFamily="18" charset="0"/>
                <a:cs typeface="Times New Roman" panose="02020603050405020304" pitchFamily="18" charset="0"/>
              </a:rPr>
              <a:t>Fonsiyonellik</a:t>
            </a:r>
            <a:r>
              <a:rPr lang="en-US" sz="4400" b="1" dirty="0">
                <a:solidFill>
                  <a:srgbClr val="0070C0"/>
                </a:solidFill>
                <a:latin typeface="Times New Roman" panose="02020603050405020304" pitchFamily="18" charset="0"/>
                <a:cs typeface="Times New Roman" panose="02020603050405020304" pitchFamily="18" charset="0"/>
              </a:rPr>
              <a:t> </a:t>
            </a:r>
            <a:r>
              <a:rPr lang="tr-TR" sz="4400" b="1" dirty="0">
                <a:solidFill>
                  <a:srgbClr val="0070C0"/>
                </a:solidFill>
                <a:latin typeface="Times New Roman" panose="02020603050405020304" pitchFamily="18" charset="0"/>
                <a:cs typeface="Times New Roman" panose="02020603050405020304" pitchFamily="18" charset="0"/>
              </a:rPr>
              <a:t>Testi</a:t>
            </a:r>
          </a:p>
        </p:txBody>
      </p:sp>
      <p:sp>
        <p:nvSpPr>
          <p:cNvPr id="2" name="Footer Placeholder 8">
            <a:extLst>
              <a:ext uri="{FF2B5EF4-FFF2-40B4-BE49-F238E27FC236}">
                <a16:creationId xmlns:a16="http://schemas.microsoft.com/office/drawing/2014/main" id="{802EFD35-91FF-4AE3-E54A-932D4F480A7A}"/>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310644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29</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7248" y="1259071"/>
            <a:ext cx="12184752" cy="2862322"/>
          </a:xfrm>
          <a:prstGeom prst="rect">
            <a:avLst/>
          </a:prstGeom>
          <a:noFill/>
        </p:spPr>
        <p:txBody>
          <a:bodyPr wrap="square" rtlCol="0">
            <a:spAutoFit/>
          </a:bodyPr>
          <a:lstStyle/>
          <a:p>
            <a:pPr marL="285750" indent="-285750">
              <a:buFont typeface="Arial" panose="020B0604020202020204" pitchFamily="34" charset="0"/>
              <a:buChar char="•"/>
            </a:pPr>
            <a:r>
              <a:rPr lang="tr-TR" dirty="0">
                <a:solidFill>
                  <a:prstClr val="black"/>
                </a:solidFill>
              </a:rPr>
              <a:t>Hakem Yer İstasyonu Testi: Takımlardan, yarışma şartnamesinin «EK-</a:t>
            </a:r>
            <a:r>
              <a:rPr lang="en-US" dirty="0">
                <a:solidFill>
                  <a:prstClr val="black"/>
                </a:solidFill>
              </a:rPr>
              <a:t>7</a:t>
            </a:r>
            <a:r>
              <a:rPr lang="tr-TR" dirty="0">
                <a:solidFill>
                  <a:prstClr val="black"/>
                </a:solidFill>
              </a:rPr>
              <a:t> ROKET YARIŞMASI HAKEM YER İSTASYONU BİLGİLENDİRME DOKÜMANI»  adlı ekinde yer alan «HAKEM YER İSTASYONU PAKET TEST ARAYÜZÜ» başlığı altında ayrıntıları aktarılmış olan test arayüzü ile iletişim/haberleşme testi yapmaları beklenmektedir.</a:t>
            </a:r>
            <a:endParaRPr lang="en-US" dirty="0">
              <a:solidFill>
                <a:prstClr val="black"/>
              </a:solidFill>
            </a:endParaRPr>
          </a:p>
          <a:p>
            <a:pPr marL="285750" indent="-285750">
              <a:buFont typeface="Arial" panose="020B0604020202020204" pitchFamily="34" charset="0"/>
              <a:buChar char="•"/>
            </a:pPr>
            <a:r>
              <a:rPr lang="en-US" dirty="0">
                <a:solidFill>
                  <a:prstClr val="black"/>
                </a:solidFill>
              </a:rPr>
              <a:t>Test </a:t>
            </a:r>
            <a:r>
              <a:rPr lang="en-US" dirty="0" err="1">
                <a:solidFill>
                  <a:prstClr val="black"/>
                </a:solidFill>
              </a:rPr>
              <a:t>videosu</a:t>
            </a:r>
            <a:r>
              <a:rPr lang="en-US" dirty="0">
                <a:solidFill>
                  <a:prstClr val="black"/>
                </a:solidFill>
              </a:rPr>
              <a:t> </a:t>
            </a:r>
            <a:r>
              <a:rPr lang="en-US" dirty="0" err="1">
                <a:solidFill>
                  <a:prstClr val="black"/>
                </a:solidFill>
              </a:rPr>
              <a:t>içerisinde</a:t>
            </a:r>
            <a:r>
              <a:rPr lang="en-US" dirty="0">
                <a:solidFill>
                  <a:prstClr val="black"/>
                </a:solidFill>
              </a:rPr>
              <a:t> </a:t>
            </a:r>
            <a:r>
              <a:rPr lang="en-US" dirty="0" err="1">
                <a:solidFill>
                  <a:prstClr val="black"/>
                </a:solidFill>
              </a:rPr>
              <a:t>yarışmacıların</a:t>
            </a:r>
            <a:r>
              <a:rPr lang="en-US" dirty="0">
                <a:solidFill>
                  <a:prstClr val="black"/>
                </a:solidFill>
              </a:rPr>
              <a:t> </a:t>
            </a:r>
            <a:r>
              <a:rPr lang="en-US" dirty="0" err="1">
                <a:solidFill>
                  <a:prstClr val="black"/>
                </a:solidFill>
              </a:rPr>
              <a:t>yer</a:t>
            </a:r>
            <a:r>
              <a:rPr lang="en-US" dirty="0">
                <a:solidFill>
                  <a:prstClr val="black"/>
                </a:solidFill>
              </a:rPr>
              <a:t> </a:t>
            </a:r>
            <a:r>
              <a:rPr lang="en-US" dirty="0" err="1">
                <a:solidFill>
                  <a:prstClr val="black"/>
                </a:solidFill>
              </a:rPr>
              <a:t>istasyonu</a:t>
            </a:r>
            <a:r>
              <a:rPr lang="en-US" dirty="0">
                <a:solidFill>
                  <a:prstClr val="black"/>
                </a:solidFill>
              </a:rPr>
              <a:t> </a:t>
            </a:r>
            <a:r>
              <a:rPr lang="en-US" dirty="0" err="1">
                <a:solidFill>
                  <a:prstClr val="black"/>
                </a:solidFill>
              </a:rPr>
              <a:t>ekranı</a:t>
            </a:r>
            <a:r>
              <a:rPr lang="en-US" dirty="0">
                <a:solidFill>
                  <a:prstClr val="black"/>
                </a:solidFill>
              </a:rPr>
              <a:t> ve HYI test </a:t>
            </a:r>
            <a:r>
              <a:rPr lang="en-US" dirty="0" err="1">
                <a:solidFill>
                  <a:prstClr val="black"/>
                </a:solidFill>
              </a:rPr>
              <a:t>ekranı</a:t>
            </a:r>
            <a:r>
              <a:rPr lang="en-US" dirty="0">
                <a:solidFill>
                  <a:prstClr val="black"/>
                </a:solidFill>
              </a:rPr>
              <a:t> </a:t>
            </a:r>
            <a:r>
              <a:rPr lang="en-US" dirty="0" err="1">
                <a:solidFill>
                  <a:prstClr val="black"/>
                </a:solidFill>
              </a:rPr>
              <a:t>gösterilmeli</a:t>
            </a:r>
            <a:r>
              <a:rPr lang="en-US" dirty="0">
                <a:solidFill>
                  <a:prstClr val="black"/>
                </a:solidFill>
              </a:rPr>
              <a:t>. </a:t>
            </a:r>
            <a:r>
              <a:rPr lang="en-US" dirty="0" err="1">
                <a:solidFill>
                  <a:prstClr val="black"/>
                </a:solidFill>
              </a:rPr>
              <a:t>Verilerin</a:t>
            </a:r>
            <a:r>
              <a:rPr lang="en-US" dirty="0">
                <a:solidFill>
                  <a:prstClr val="black"/>
                </a:solidFill>
              </a:rPr>
              <a:t> test </a:t>
            </a:r>
            <a:r>
              <a:rPr lang="en-US" dirty="0" err="1">
                <a:solidFill>
                  <a:prstClr val="black"/>
                </a:solidFill>
              </a:rPr>
              <a:t>yazılımına</a:t>
            </a:r>
            <a:r>
              <a:rPr lang="en-US" dirty="0">
                <a:solidFill>
                  <a:prstClr val="black"/>
                </a:solidFill>
              </a:rPr>
              <a:t> </a:t>
            </a:r>
            <a:r>
              <a:rPr lang="en-US" dirty="0" err="1">
                <a:solidFill>
                  <a:prstClr val="black"/>
                </a:solidFill>
              </a:rPr>
              <a:t>ulaştığı</a:t>
            </a:r>
            <a:r>
              <a:rPr lang="en-US" dirty="0">
                <a:solidFill>
                  <a:prstClr val="black"/>
                </a:solidFill>
              </a:rPr>
              <a:t> </a:t>
            </a:r>
            <a:r>
              <a:rPr lang="en-US" dirty="0" err="1">
                <a:solidFill>
                  <a:prstClr val="black"/>
                </a:solidFill>
              </a:rPr>
              <a:t>kanıtlanmalıdır</a:t>
            </a:r>
            <a:r>
              <a:rPr lang="en-US" dirty="0">
                <a:solidFill>
                  <a:prstClr val="black"/>
                </a:solidFill>
              </a:rPr>
              <a:t>.</a:t>
            </a:r>
          </a:p>
          <a:p>
            <a:pPr marL="285750" indent="-285750">
              <a:buFont typeface="Arial" panose="020B0604020202020204" pitchFamily="34" charset="0"/>
              <a:buChar char="•"/>
            </a:pPr>
            <a:r>
              <a:rPr lang="en-US" dirty="0">
                <a:solidFill>
                  <a:prstClr val="black"/>
                </a:solidFill>
              </a:rPr>
              <a:t>HYI Test </a:t>
            </a:r>
            <a:r>
              <a:rPr lang="en-US" dirty="0" err="1">
                <a:solidFill>
                  <a:prstClr val="black"/>
                </a:solidFill>
              </a:rPr>
              <a:t>ekranında</a:t>
            </a:r>
            <a:r>
              <a:rPr lang="en-US" dirty="0">
                <a:solidFill>
                  <a:prstClr val="black"/>
                </a:solidFill>
              </a:rPr>
              <a:t> </a:t>
            </a:r>
            <a:r>
              <a:rPr lang="en-US" dirty="0" err="1">
                <a:solidFill>
                  <a:prstClr val="black"/>
                </a:solidFill>
              </a:rPr>
              <a:t>anlamlı</a:t>
            </a:r>
            <a:r>
              <a:rPr lang="en-US" dirty="0">
                <a:solidFill>
                  <a:prstClr val="black"/>
                </a:solidFill>
              </a:rPr>
              <a:t> </a:t>
            </a:r>
            <a:r>
              <a:rPr lang="en-US" dirty="0" err="1">
                <a:solidFill>
                  <a:prstClr val="black"/>
                </a:solidFill>
              </a:rPr>
              <a:t>aviyonik</a:t>
            </a:r>
            <a:r>
              <a:rPr lang="en-US" dirty="0">
                <a:solidFill>
                  <a:prstClr val="black"/>
                </a:solidFill>
              </a:rPr>
              <a:t> </a:t>
            </a:r>
            <a:r>
              <a:rPr lang="en-US" dirty="0" err="1">
                <a:solidFill>
                  <a:prstClr val="black"/>
                </a:solidFill>
              </a:rPr>
              <a:t>verisi</a:t>
            </a:r>
            <a:r>
              <a:rPr lang="en-US" dirty="0">
                <a:solidFill>
                  <a:prstClr val="black"/>
                </a:solidFill>
              </a:rPr>
              <a:t> </a:t>
            </a:r>
            <a:r>
              <a:rPr lang="en-US" dirty="0" err="1">
                <a:solidFill>
                  <a:prstClr val="black"/>
                </a:solidFill>
              </a:rPr>
              <a:t>gösterilememesi</a:t>
            </a:r>
            <a:r>
              <a:rPr lang="en-US" dirty="0">
                <a:solidFill>
                  <a:prstClr val="black"/>
                </a:solidFill>
              </a:rPr>
              <a:t> </a:t>
            </a:r>
            <a:r>
              <a:rPr lang="en-US" dirty="0" err="1">
                <a:solidFill>
                  <a:prstClr val="black"/>
                </a:solidFill>
              </a:rPr>
              <a:t>diskalifiye</a:t>
            </a:r>
            <a:r>
              <a:rPr lang="en-US" dirty="0">
                <a:solidFill>
                  <a:prstClr val="black"/>
                </a:solidFill>
              </a:rPr>
              <a:t> </a:t>
            </a:r>
            <a:r>
              <a:rPr lang="en-US" dirty="0" err="1">
                <a:solidFill>
                  <a:prstClr val="black"/>
                </a:solidFill>
              </a:rPr>
              <a:t>sebebidir</a:t>
            </a:r>
            <a:r>
              <a:rPr lang="en-US" dirty="0">
                <a:solidFill>
                  <a:prstClr val="black"/>
                </a:solidFill>
              </a:rPr>
              <a:t>.</a:t>
            </a:r>
            <a:endParaRPr lang="tr-TR" dirty="0">
              <a:solidFill>
                <a:prstClr val="black"/>
              </a:solidFill>
            </a:endParaRPr>
          </a:p>
          <a:p>
            <a:pPr marL="285750" indent="-285750">
              <a:buFont typeface="Arial" panose="020B0604020202020204" pitchFamily="34" charset="0"/>
              <a:buChar char="•"/>
            </a:pPr>
            <a:r>
              <a:rPr lang="tr-TR" dirty="0"/>
              <a:t>Hakem yer istasyonu testinin süresi </a:t>
            </a:r>
            <a:r>
              <a:rPr lang="tr-TR" b="1" dirty="0"/>
              <a:t>30 </a:t>
            </a:r>
            <a:r>
              <a:rPr lang="en-US" b="1" dirty="0"/>
              <a:t>s</a:t>
            </a:r>
            <a:r>
              <a:rPr lang="tr-TR" b="1" dirty="0"/>
              <a:t>aniye </a:t>
            </a:r>
            <a:r>
              <a:rPr lang="tr-TR" dirty="0"/>
              <a:t>olmalıdır.</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endParaRPr lang="tr-TR" dirty="0"/>
          </a:p>
          <a:p>
            <a:endParaRPr lang="tr-TR" dirty="0"/>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4" name="Title 1">
            <a:extLst>
              <a:ext uri="{FF2B5EF4-FFF2-40B4-BE49-F238E27FC236}">
                <a16:creationId xmlns:a16="http://schemas.microsoft.com/office/drawing/2014/main" id="{4C8C3E91-A3F3-7480-3D21-130001B63EB4}"/>
              </a:ext>
            </a:extLst>
          </p:cNvPr>
          <p:cNvSpPr>
            <a:spLocks noGrp="1"/>
          </p:cNvSpPr>
          <p:nvPr>
            <p:ph type="ctrTitle"/>
          </p:nvPr>
        </p:nvSpPr>
        <p:spPr>
          <a:xfrm>
            <a:off x="1408090" y="249215"/>
            <a:ext cx="9144000" cy="750956"/>
          </a:xfrm>
        </p:spPr>
        <p:txBody>
          <a:bodyPr>
            <a:normAutofit fontScale="90000"/>
          </a:bodyPr>
          <a:lstStyle/>
          <a:p>
            <a:r>
              <a:rPr lang="tr-TR" sz="4400" b="1">
                <a:solidFill>
                  <a:srgbClr val="0070C0"/>
                </a:solidFill>
                <a:latin typeface="Times New Roman" panose="02020603050405020304" pitchFamily="18" charset="0"/>
                <a:cs typeface="Times New Roman" panose="02020603050405020304" pitchFamily="18" charset="0"/>
              </a:rPr>
              <a:t>Aviyonik – Hakem Yer İstasyonu Testi</a:t>
            </a:r>
            <a:endParaRPr lang="tr-TR" b="1">
              <a:solidFill>
                <a:srgbClr val="0070C0"/>
              </a:solidFill>
              <a:latin typeface="Times New Roman" panose="02020603050405020304" pitchFamily="18" charset="0"/>
              <a:cs typeface="Times New Roman" panose="02020603050405020304" pitchFamily="18" charset="0"/>
            </a:endParaRPr>
          </a:p>
        </p:txBody>
      </p:sp>
      <p:sp>
        <p:nvSpPr>
          <p:cNvPr id="2" name="Footer Placeholder 8">
            <a:extLst>
              <a:ext uri="{FF2B5EF4-FFF2-40B4-BE49-F238E27FC236}">
                <a16:creationId xmlns:a16="http://schemas.microsoft.com/office/drawing/2014/main" id="{35639AF6-7632-1AD8-2487-F9D53BC808C5}"/>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610310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30</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sp>
        <p:nvSpPr>
          <p:cNvPr id="10" name="TextBox 9"/>
          <p:cNvSpPr txBox="1"/>
          <p:nvPr/>
        </p:nvSpPr>
        <p:spPr>
          <a:xfrm>
            <a:off x="18134" y="1259071"/>
            <a:ext cx="12184752" cy="4524315"/>
          </a:xfrm>
          <a:prstGeom prst="rect">
            <a:avLst/>
          </a:prstGeom>
          <a:noFill/>
        </p:spPr>
        <p:txBody>
          <a:bodyPr wrap="square" rtlCol="0">
            <a:spAutoFit/>
          </a:bodyPr>
          <a:lstStyle/>
          <a:p>
            <a:pPr marL="285750" indent="-285750">
              <a:buFont typeface="Arial" panose="020B0604020202020204" pitchFamily="34" charset="0"/>
              <a:buChar char="•"/>
            </a:pPr>
            <a:r>
              <a:rPr lang="tr-TR" dirty="0">
                <a:solidFill>
                  <a:prstClr val="black"/>
                </a:solidFill>
              </a:rPr>
              <a:t>Takımlardan, yarışma şartnamesinin «EK-</a:t>
            </a:r>
            <a:r>
              <a:rPr lang="en-US" dirty="0">
                <a:solidFill>
                  <a:prstClr val="black"/>
                </a:solidFill>
              </a:rPr>
              <a:t>6</a:t>
            </a:r>
            <a:r>
              <a:rPr lang="tr-TR" dirty="0">
                <a:solidFill>
                  <a:prstClr val="black"/>
                </a:solidFill>
              </a:rPr>
              <a:t> Özgün Uçuş Kontrol Bilgisayarlarının TEKNOFEST Roket Yarışması Finallerinde Test Edilmesi»  adlı ekinde yer alan ayrıntıları aktarılmış olan test arayüzü ile iletişim/haberleşme testi yapmaları beklenmektedir.</a:t>
            </a:r>
          </a:p>
          <a:p>
            <a:pPr marL="285750" indent="-285750">
              <a:buFont typeface="Arial" panose="020B0604020202020204" pitchFamily="34" charset="0"/>
              <a:buChar char="•"/>
            </a:pPr>
            <a:r>
              <a:rPr lang="tr-TR" dirty="0">
                <a:solidFill>
                  <a:prstClr val="black"/>
                </a:solidFill>
              </a:rPr>
              <a:t>Testler video kaydı ile kayıt altına alınmalıdır. </a:t>
            </a:r>
          </a:p>
          <a:p>
            <a:pPr marL="285750" indent="-285750">
              <a:buFont typeface="Arial" panose="020B0604020202020204" pitchFamily="34" charset="0"/>
              <a:buChar char="•"/>
            </a:pPr>
            <a:r>
              <a:rPr lang="tr-TR" dirty="0">
                <a:solidFill>
                  <a:prstClr val="black"/>
                </a:solidFill>
              </a:rPr>
              <a:t>Testleri gerçekleştirebilmek için gerekenler: Test yazılımı, RS232 den USB dönüştürücü, 2 adet LED ve Ö-UKB.</a:t>
            </a:r>
          </a:p>
          <a:p>
            <a:pPr marL="285750" indent="-285750">
              <a:buFont typeface="Arial" panose="020B0604020202020204" pitchFamily="34" charset="0"/>
              <a:buChar char="•"/>
            </a:pPr>
            <a:r>
              <a:rPr lang="tr-TR" dirty="0">
                <a:solidFill>
                  <a:prstClr val="black"/>
                </a:solidFill>
              </a:rPr>
              <a:t>Ö-UKB </a:t>
            </a:r>
            <a:r>
              <a:rPr lang="tr-TR" dirty="0" err="1">
                <a:solidFill>
                  <a:prstClr val="black"/>
                </a:solidFill>
              </a:rPr>
              <a:t>nin</a:t>
            </a:r>
            <a:r>
              <a:rPr lang="tr-TR" dirty="0">
                <a:solidFill>
                  <a:prstClr val="black"/>
                </a:solidFill>
              </a:rPr>
              <a:t> RS232 bağlantı arayüzü ile dönüştürücü arayüzleri birbirlerine bağlanır ve bilgisayar ile bağlantısı yapılır. </a:t>
            </a:r>
          </a:p>
          <a:p>
            <a:pPr marL="285750" indent="-285750">
              <a:buFont typeface="Arial" panose="020B0604020202020204" pitchFamily="34" charset="0"/>
              <a:buChar char="•"/>
            </a:pPr>
            <a:r>
              <a:rPr lang="tr-TR" dirty="0">
                <a:solidFill>
                  <a:prstClr val="black"/>
                </a:solidFill>
              </a:rPr>
              <a:t>Fünye çıkışları için belirlenen portlara birer LED bağlanır. (</a:t>
            </a:r>
            <a:r>
              <a:rPr lang="tr-TR" i="1" dirty="0">
                <a:solidFill>
                  <a:prstClr val="black"/>
                </a:solidFill>
              </a:rPr>
              <a:t>SUT testi esnasında </a:t>
            </a:r>
            <a:r>
              <a:rPr lang="tr-TR" i="1" dirty="0" err="1">
                <a:solidFill>
                  <a:prstClr val="black"/>
                </a:solidFill>
              </a:rPr>
              <a:t>LEDler</a:t>
            </a:r>
            <a:r>
              <a:rPr lang="tr-TR" i="1" dirty="0">
                <a:solidFill>
                  <a:prstClr val="black"/>
                </a:solidFill>
              </a:rPr>
              <a:t> görülebilir olmak zorundadır</a:t>
            </a:r>
            <a:r>
              <a:rPr lang="tr-TR" dirty="0">
                <a:solidFill>
                  <a:prstClr val="black"/>
                </a:solidFill>
              </a:rPr>
              <a:t>)</a:t>
            </a:r>
          </a:p>
          <a:p>
            <a:pPr marL="285750" indent="-285750">
              <a:buFont typeface="Arial" panose="020B0604020202020204" pitchFamily="34" charset="0"/>
              <a:buChar char="•"/>
            </a:pPr>
            <a:r>
              <a:rPr lang="tr-TR" dirty="0">
                <a:solidFill>
                  <a:prstClr val="black"/>
                </a:solidFill>
              </a:rPr>
              <a:t>Test yazılımı üzerinden uygun port seçilir bağlantı sağlanır.</a:t>
            </a:r>
          </a:p>
          <a:p>
            <a:pPr marL="285750" indent="-285750">
              <a:buFont typeface="Arial" panose="020B0604020202020204" pitchFamily="34" charset="0"/>
              <a:buChar char="•"/>
            </a:pPr>
            <a:r>
              <a:rPr lang="tr-TR" dirty="0">
                <a:solidFill>
                  <a:prstClr val="black"/>
                </a:solidFill>
              </a:rPr>
              <a:t>SİT testi başlatılır ve Ö-UKB’nin gönderdiği verilerin izlenmesi sağlanır. </a:t>
            </a:r>
            <a:r>
              <a:rPr lang="tr-TR" dirty="0"/>
              <a:t>Bu esnada cihaz, sırasıyla tüm eksenlerde el ile yaklaşık 90° döndürülerek test yazılımı arayüzünde açı, ivme verilerini doğru şekilde ölçülüp aktarıldığı gösterilir. Ardından “Durdur” butonuna basılarak test sonlandırılır.</a:t>
            </a:r>
            <a:endParaRPr lang="tr-TR" dirty="0">
              <a:solidFill>
                <a:prstClr val="black"/>
              </a:solidFill>
            </a:endParaRPr>
          </a:p>
          <a:p>
            <a:pPr marL="285750" indent="-285750">
              <a:buFont typeface="Arial" panose="020B0604020202020204" pitchFamily="34" charset="0"/>
              <a:buChar char="•"/>
            </a:pPr>
            <a:r>
              <a:rPr lang="tr-TR" dirty="0">
                <a:solidFill>
                  <a:prstClr val="black"/>
                </a:solidFill>
              </a:rPr>
              <a:t>SUT testi başlatılır ve Ö-</a:t>
            </a:r>
            <a:r>
              <a:rPr lang="tr-TR" dirty="0" err="1">
                <a:solidFill>
                  <a:prstClr val="black"/>
                </a:solidFill>
              </a:rPr>
              <a:t>UKB’nin</a:t>
            </a:r>
            <a:r>
              <a:rPr lang="tr-TR" dirty="0">
                <a:solidFill>
                  <a:prstClr val="black"/>
                </a:solidFill>
              </a:rPr>
              <a:t> doğru algoritma ile gelen verileri kabul ederek ayrılma sinyalleri (</a:t>
            </a:r>
            <a:r>
              <a:rPr lang="tr-TR" i="1" dirty="0">
                <a:solidFill>
                  <a:prstClr val="black"/>
                </a:solidFill>
              </a:rPr>
              <a:t>LED ışıkları ile</a:t>
            </a:r>
            <a:r>
              <a:rPr lang="tr-TR" dirty="0">
                <a:solidFill>
                  <a:prstClr val="black"/>
                </a:solidFill>
              </a:rPr>
              <a:t>) ve durum bayraklarını doğru noktalarda sağladığı gösterilmelidir. Test arayüzü veri seti tamamlandığında otomatik olarak durdur komutu iletecektir.</a:t>
            </a:r>
          </a:p>
          <a:p>
            <a:pPr marL="285750" indent="-285750">
              <a:buFont typeface="Arial" panose="020B0604020202020204" pitchFamily="34" charset="0"/>
              <a:buChar char="•"/>
            </a:pPr>
            <a:r>
              <a:rPr lang="tr-TR" dirty="0"/>
              <a:t>Testler sırasında bağlantı kabloları ve tüm işlemler net bir şekilde görülebilir olmak zorundadır.</a:t>
            </a:r>
          </a:p>
          <a:p>
            <a:pPr marL="285750" indent="-285750">
              <a:buFont typeface="Arial" panose="020B0604020202020204" pitchFamily="34" charset="0"/>
              <a:buChar char="•"/>
            </a:pPr>
            <a:r>
              <a:rPr lang="en-US" dirty="0"/>
              <a:t>Bu test </a:t>
            </a:r>
            <a:r>
              <a:rPr lang="en-US" dirty="0" err="1"/>
              <a:t>videosunun</a:t>
            </a:r>
            <a:r>
              <a:rPr lang="en-US" dirty="0"/>
              <a:t> </a:t>
            </a:r>
            <a:r>
              <a:rPr lang="en-US" dirty="0" err="1"/>
              <a:t>süresi</a:t>
            </a:r>
            <a:r>
              <a:rPr lang="en-US" dirty="0"/>
              <a:t> </a:t>
            </a:r>
            <a:r>
              <a:rPr lang="en-US" b="1" dirty="0"/>
              <a:t>9</a:t>
            </a:r>
            <a:r>
              <a:rPr lang="tr-TR" b="1" dirty="0"/>
              <a:t>0 </a:t>
            </a:r>
            <a:r>
              <a:rPr lang="en-US" b="1" dirty="0"/>
              <a:t>s</a:t>
            </a:r>
            <a:r>
              <a:rPr lang="tr-TR" b="1" dirty="0" err="1"/>
              <a:t>aniy</a:t>
            </a:r>
            <a:r>
              <a:rPr lang="en-US" b="1" dirty="0" err="1"/>
              <a:t>e’yi</a:t>
            </a:r>
            <a:r>
              <a:rPr lang="en-US" b="1" dirty="0"/>
              <a:t> </a:t>
            </a:r>
            <a:r>
              <a:rPr lang="en-US" b="1" dirty="0" err="1"/>
              <a:t>geçmemelidir</a:t>
            </a:r>
            <a:r>
              <a:rPr lang="en-US" b="1" dirty="0"/>
              <a:t>. </a:t>
            </a:r>
            <a:r>
              <a:rPr lang="en-US" dirty="0" err="1"/>
              <a:t>Bekleme</a:t>
            </a:r>
            <a:r>
              <a:rPr lang="en-US" dirty="0"/>
              <a:t> </a:t>
            </a:r>
            <a:r>
              <a:rPr lang="en-US" dirty="0" err="1"/>
              <a:t>süreleri</a:t>
            </a:r>
            <a:r>
              <a:rPr lang="en-US" dirty="0"/>
              <a:t> </a:t>
            </a:r>
            <a:r>
              <a:rPr lang="en-US" dirty="0" err="1"/>
              <a:t>hızlandırılarak</a:t>
            </a:r>
            <a:r>
              <a:rPr lang="en-US" dirty="0"/>
              <a:t> </a:t>
            </a:r>
            <a:r>
              <a:rPr lang="en-US" dirty="0" err="1"/>
              <a:t>geçilmelidir</a:t>
            </a:r>
            <a:r>
              <a:rPr lang="en-US"/>
              <a:t>.</a:t>
            </a:r>
            <a:endParaRPr lang="tr-TR" dirty="0">
              <a:solidFill>
                <a:prstClr val="black"/>
              </a:solidFill>
            </a:endParaRPr>
          </a:p>
          <a:p>
            <a:pPr marL="285750" indent="-285750">
              <a:buFont typeface="Arial" panose="020B0604020202020204" pitchFamily="34" charset="0"/>
              <a:buChar char="•"/>
            </a:pPr>
            <a:endParaRPr lang="en-US" dirty="0">
              <a:solidFill>
                <a:prstClr val="black"/>
              </a:solidFill>
            </a:endParaRP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4" name="Title 1">
            <a:extLst>
              <a:ext uri="{FF2B5EF4-FFF2-40B4-BE49-F238E27FC236}">
                <a16:creationId xmlns:a16="http://schemas.microsoft.com/office/drawing/2014/main" id="{4C8C3E91-A3F3-7480-3D21-130001B63EB4}"/>
              </a:ext>
            </a:extLst>
          </p:cNvPr>
          <p:cNvSpPr>
            <a:spLocks noGrp="1"/>
          </p:cNvSpPr>
          <p:nvPr>
            <p:ph type="ctrTitle"/>
          </p:nvPr>
        </p:nvSpPr>
        <p:spPr>
          <a:xfrm>
            <a:off x="1408090" y="249215"/>
            <a:ext cx="9144000" cy="750956"/>
          </a:xfrm>
        </p:spPr>
        <p:txBody>
          <a:bodyPr>
            <a:noAutofit/>
          </a:bodyPr>
          <a:lstStyle/>
          <a:p>
            <a:r>
              <a:rPr lang="tr-TR" sz="3200" b="1" dirty="0" err="1">
                <a:solidFill>
                  <a:srgbClr val="FF0000"/>
                </a:solidFill>
                <a:latin typeface="Times New Roman" panose="02020603050405020304" pitchFamily="18" charset="0"/>
                <a:cs typeface="Times New Roman" panose="02020603050405020304" pitchFamily="18" charset="0"/>
              </a:rPr>
              <a:t>Aviyonik</a:t>
            </a:r>
            <a:r>
              <a:rPr lang="tr-TR" sz="3200" b="1" dirty="0">
                <a:solidFill>
                  <a:srgbClr val="FF0000"/>
                </a:solidFill>
                <a:latin typeface="Times New Roman" panose="02020603050405020304" pitchFamily="18" charset="0"/>
                <a:cs typeface="Times New Roman" panose="02020603050405020304" pitchFamily="18" charset="0"/>
              </a:rPr>
              <a:t> – Özgün UKB Test Sistemi Bağlantı Testi</a:t>
            </a:r>
            <a:endParaRPr lang="tr-TR" sz="4400" b="1" dirty="0">
              <a:solidFill>
                <a:srgbClr val="FF0000"/>
              </a:solidFill>
              <a:latin typeface="Times New Roman" panose="02020603050405020304" pitchFamily="18" charset="0"/>
              <a:cs typeface="Times New Roman" panose="02020603050405020304" pitchFamily="18" charset="0"/>
            </a:endParaRPr>
          </a:p>
        </p:txBody>
      </p:sp>
      <p:sp>
        <p:nvSpPr>
          <p:cNvPr id="2" name="Footer Placeholder 8">
            <a:extLst>
              <a:ext uri="{FF2B5EF4-FFF2-40B4-BE49-F238E27FC236}">
                <a16:creationId xmlns:a16="http://schemas.microsoft.com/office/drawing/2014/main" id="{35639AF6-7632-1AD8-2487-F9D53BC808C5}"/>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415655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Autofit/>
          </a:bodyPr>
          <a:lstStyle/>
          <a:p>
            <a:r>
              <a:rPr lang="tr-TR" sz="4000" b="1">
                <a:solidFill>
                  <a:srgbClr val="0070C0"/>
                </a:solidFill>
                <a:latin typeface="Times New Roman" panose="02020603050405020304" pitchFamily="18" charset="0"/>
                <a:cs typeface="Times New Roman" panose="02020603050405020304" pitchFamily="18" charset="0"/>
              </a:rPr>
              <a:t>Kademe Ayırma Sistemi</a:t>
            </a:r>
            <a:r>
              <a:rPr lang="en-US" sz="4000" b="1">
                <a:solidFill>
                  <a:srgbClr val="0070C0"/>
                </a:solidFill>
                <a:latin typeface="Times New Roman" panose="02020603050405020304" pitchFamily="18" charset="0"/>
                <a:cs typeface="Times New Roman" panose="02020603050405020304" pitchFamily="18" charset="0"/>
              </a:rPr>
              <a:t> </a:t>
            </a:r>
            <a:r>
              <a:rPr lang="tr-TR" sz="4000" b="1">
                <a:solidFill>
                  <a:srgbClr val="0070C0"/>
                </a:solidFill>
                <a:latin typeface="Times New Roman" panose="02020603050405020304" pitchFamily="18" charset="0"/>
                <a:cs typeface="Times New Roman" panose="02020603050405020304" pitchFamily="18" charset="0"/>
              </a:rPr>
              <a:t>Testleri </a:t>
            </a: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31</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5" name="TextBox 9">
            <a:extLst>
              <a:ext uri="{FF2B5EF4-FFF2-40B4-BE49-F238E27FC236}">
                <a16:creationId xmlns:a16="http://schemas.microsoft.com/office/drawing/2014/main" id="{B6978151-5A32-A066-4E72-F23C468D583E}"/>
              </a:ext>
            </a:extLst>
          </p:cNvPr>
          <p:cNvSpPr txBox="1"/>
          <p:nvPr/>
        </p:nvSpPr>
        <p:spPr>
          <a:xfrm>
            <a:off x="77190" y="1090323"/>
            <a:ext cx="12184752" cy="1754326"/>
          </a:xfrm>
          <a:prstGeom prst="rect">
            <a:avLst/>
          </a:prstGeom>
          <a:noFill/>
        </p:spPr>
        <p:txBody>
          <a:bodyPr wrap="square" rtlCol="0">
            <a:spAutoFit/>
          </a:bodyPr>
          <a:lstStyle/>
          <a:p>
            <a:pPr lvl="2"/>
            <a:endParaRPr lang="en-US" b="1" dirty="0"/>
          </a:p>
          <a:p>
            <a:pPr marL="285750" indent="-285750">
              <a:buFont typeface="Arial" panose="020B0604020202020204" pitchFamily="34" charset="0"/>
              <a:buChar char="•"/>
            </a:pPr>
            <a:r>
              <a:rPr lang="tr-TR" dirty="0"/>
              <a:t>Bu testte kademe ayırma sisteminin uçuş sırasında sorunsuz çalışacağı gösterilmelidir. Bu test sistemin uçuş sırasında kullanılacağı konfigürasyonda (Uçuşta kullanılacak paraşütler, tüm yükler, burun konisi, ayrılacak tüm gövdeler, aviyonik sistemler, roketin tüm kademeleri) yapılmalıdır.</a:t>
            </a:r>
          </a:p>
          <a:p>
            <a:pPr marL="285750" indent="-285750">
              <a:buFont typeface="Arial" panose="020B0604020202020204" pitchFamily="34" charset="0"/>
              <a:buChar char="•"/>
            </a:pPr>
            <a:r>
              <a:rPr lang="tr-TR" dirty="0"/>
              <a:t>Kademe Ayırma Sistemi Testlerinin süresi</a:t>
            </a:r>
            <a:r>
              <a:rPr lang="en-US" dirty="0"/>
              <a:t> </a:t>
            </a:r>
            <a:r>
              <a:rPr lang="en-US" dirty="0" err="1"/>
              <a:t>en</a:t>
            </a:r>
            <a:r>
              <a:rPr lang="en-US" dirty="0"/>
              <a:t> </a:t>
            </a:r>
            <a:r>
              <a:rPr lang="en-US" dirty="0" err="1"/>
              <a:t>fazla</a:t>
            </a:r>
            <a:r>
              <a:rPr lang="tr-TR" dirty="0"/>
              <a:t> </a:t>
            </a:r>
            <a:r>
              <a:rPr lang="tr-TR" b="1" dirty="0"/>
              <a:t>60 Saniye </a:t>
            </a:r>
            <a:r>
              <a:rPr lang="tr-TR" dirty="0"/>
              <a:t>olmalıdır.</a:t>
            </a:r>
          </a:p>
          <a:p>
            <a:endParaRPr lang="tr-TR" dirty="0"/>
          </a:p>
        </p:txBody>
      </p:sp>
      <p:sp>
        <p:nvSpPr>
          <p:cNvPr id="7" name="Footer Placeholder 8">
            <a:extLst>
              <a:ext uri="{FF2B5EF4-FFF2-40B4-BE49-F238E27FC236}">
                <a16:creationId xmlns:a16="http://schemas.microsoft.com/office/drawing/2014/main" id="{D2273D43-C06D-2268-FCDA-3B7BFAA3A50C}"/>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248327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215"/>
            <a:ext cx="9144000" cy="750956"/>
          </a:xfrm>
        </p:spPr>
        <p:txBody>
          <a:bodyPr anchor="ctr">
            <a:normAutofit/>
          </a:bodyPr>
          <a:lstStyle/>
          <a:p>
            <a:r>
              <a:rPr lang="en-US" sz="4000" b="1" dirty="0" err="1">
                <a:solidFill>
                  <a:srgbClr val="0070C0"/>
                </a:solidFill>
                <a:latin typeface="Times New Roman" panose="02020603050405020304" pitchFamily="18" charset="0"/>
                <a:cs typeface="Times New Roman" panose="02020603050405020304" pitchFamily="18" charset="0"/>
              </a:rPr>
              <a:t>Özgün</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dirty="0" err="1">
                <a:solidFill>
                  <a:srgbClr val="0070C0"/>
                </a:solidFill>
                <a:latin typeface="Times New Roman" panose="02020603050405020304" pitchFamily="18" charset="0"/>
                <a:cs typeface="Times New Roman" panose="02020603050405020304" pitchFamily="18" charset="0"/>
              </a:rPr>
              <a:t>İtki</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dirty="0" err="1">
                <a:solidFill>
                  <a:srgbClr val="0070C0"/>
                </a:solidFill>
                <a:latin typeface="Times New Roman" panose="02020603050405020304" pitchFamily="18" charset="0"/>
                <a:cs typeface="Times New Roman" panose="02020603050405020304" pitchFamily="18" charset="0"/>
              </a:rPr>
              <a:t>Sistemi</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dirty="0" err="1">
                <a:solidFill>
                  <a:srgbClr val="0070C0"/>
                </a:solidFill>
                <a:latin typeface="Times New Roman" panose="02020603050405020304" pitchFamily="18" charset="0"/>
                <a:cs typeface="Times New Roman" panose="02020603050405020304" pitchFamily="18" charset="0"/>
              </a:rPr>
              <a:t>Testleri</a:t>
            </a:r>
            <a:endParaRPr lang="tr-TR" sz="4000" b="1" dirty="0">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BEDC82-49FF-42E3-B7EA-26FF728940D5}" type="slidenum">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DD7EE19-348B-4A60-8810-E2854B3ED486}" type="datetime2">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Temmuz 2025 Pazartesi</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5" name="TextBox 14"/>
          <p:cNvSpPr txBox="1"/>
          <p:nvPr/>
        </p:nvSpPr>
        <p:spPr>
          <a:xfrm>
            <a:off x="264000" y="1332000"/>
            <a:ext cx="11664000" cy="5186035"/>
          </a:xfrm>
          <a:prstGeom prst="rect">
            <a:avLst/>
          </a:prstGeom>
          <a:noFill/>
        </p:spPr>
        <p:txBody>
          <a:bodyPr wrap="square" rtlCol="0">
            <a:spAutoFit/>
          </a:bodyPr>
          <a:lstStyle/>
          <a:p>
            <a:pPr marL="285750" lvl="0" indent="-285750" algn="just">
              <a:spcAft>
                <a:spcPts val="600"/>
              </a:spcAft>
              <a:buFont typeface="Arial" panose="020B0604020202020204" pitchFamily="34" charset="0"/>
              <a:buChar char="•"/>
            </a:pPr>
            <a:r>
              <a:rPr lang="tr-TR" dirty="0">
                <a:solidFill>
                  <a:prstClr val="black"/>
                </a:solidFill>
              </a:rPr>
              <a:t>Takımların bu kısımda 4 aşamalı bir video hazırla</a:t>
            </a:r>
            <a:r>
              <a:rPr lang="en-US" dirty="0" err="1">
                <a:solidFill>
                  <a:prstClr val="black"/>
                </a:solidFill>
              </a:rPr>
              <a:t>ması</a:t>
            </a:r>
            <a:r>
              <a:rPr lang="en-US" dirty="0">
                <a:solidFill>
                  <a:prstClr val="black"/>
                </a:solidFill>
              </a:rPr>
              <a:t> </a:t>
            </a:r>
            <a:r>
              <a:rPr lang="en-US" dirty="0" err="1">
                <a:solidFill>
                  <a:prstClr val="black"/>
                </a:solidFill>
              </a:rPr>
              <a:t>beklenmektedir</a:t>
            </a:r>
            <a:r>
              <a:rPr lang="tr-TR" dirty="0">
                <a:solidFill>
                  <a:prstClr val="black"/>
                </a:solidFill>
              </a:rPr>
              <a:t>. Bu aşamalar:</a:t>
            </a:r>
          </a:p>
          <a:p>
            <a:pPr marL="742950" lvl="1" indent="-285750" algn="just">
              <a:spcAft>
                <a:spcPts val="600"/>
              </a:spcAft>
              <a:buFont typeface="Arial" panose="020B0604020202020204" pitchFamily="34" charset="0"/>
              <a:buChar char="•"/>
            </a:pPr>
            <a:r>
              <a:rPr lang="tr-TR" b="1" dirty="0">
                <a:solidFill>
                  <a:prstClr val="black"/>
                </a:solidFill>
              </a:rPr>
              <a:t>İtki Sistemi Montajı: </a:t>
            </a:r>
            <a:r>
              <a:rPr lang="tr-TR" dirty="0">
                <a:solidFill>
                  <a:prstClr val="black"/>
                </a:solidFill>
              </a:rPr>
              <a:t>Bu kısımda takımlardan roketin tüm alt sistemlerinin montajının yapılabilir olduğu, yarışmanın ilk günü montaj sırasında herhangi bir sıkıntı çıkmayacağını kanıtlayan bir video beklenmektedir. Ateşleyici montajı detaylıca açıklanmalıdır. </a:t>
            </a:r>
          </a:p>
          <a:p>
            <a:pPr marL="742950" lvl="1" indent="-285750" algn="just">
              <a:spcAft>
                <a:spcPts val="600"/>
              </a:spcAft>
              <a:buFont typeface="Arial" panose="020B0604020202020204" pitchFamily="34" charset="0"/>
              <a:buChar char="•"/>
            </a:pPr>
            <a:r>
              <a:rPr lang="tr-TR" b="1" dirty="0">
                <a:solidFill>
                  <a:prstClr val="black"/>
                </a:solidFill>
              </a:rPr>
              <a:t>Dolum: </a:t>
            </a:r>
            <a:r>
              <a:rPr lang="tr-TR" dirty="0">
                <a:solidFill>
                  <a:prstClr val="black"/>
                </a:solidFill>
              </a:rPr>
              <a:t>Bu Roket içerisine tamamen entegre edilmiş itki sisteminin nasıl doldurulduğu gösterilmelidir. Test için oksitleyici tankına dolum yapılmalıdır. Bu test kapsamında oksitleyici olarak N2/CO2/N20 kullanılabilir.  Dolum sistemi tanıtılmalı, acil durum senaryoları açıklanmalıdır.</a:t>
            </a:r>
          </a:p>
          <a:p>
            <a:pPr marL="742950" lvl="1" indent="-285750" algn="just">
              <a:spcAft>
                <a:spcPts val="600"/>
              </a:spcAft>
              <a:buFont typeface="Arial" panose="020B0604020202020204" pitchFamily="34" charset="0"/>
              <a:buChar char="•"/>
            </a:pPr>
            <a:r>
              <a:rPr lang="tr-TR" b="1" dirty="0">
                <a:solidFill>
                  <a:prstClr val="black"/>
                </a:solidFill>
              </a:rPr>
              <a:t>Soğuk Akış Testi: </a:t>
            </a:r>
            <a:r>
              <a:rPr lang="tr-TR" dirty="0">
                <a:solidFill>
                  <a:prstClr val="black"/>
                </a:solidFill>
              </a:rPr>
              <a:t>Statik ateşleme sisteminde soğuk akış testi yapılmalı ve sonuçlar yorumlanmalıdır. Test sistemi detaylıca tanıtılmalıdır. </a:t>
            </a:r>
          </a:p>
          <a:p>
            <a:pPr marL="742950" lvl="1" indent="-285750" algn="just">
              <a:spcAft>
                <a:spcPts val="600"/>
              </a:spcAft>
              <a:buFont typeface="Arial" panose="020B0604020202020204" pitchFamily="34" charset="0"/>
              <a:buChar char="•"/>
            </a:pPr>
            <a:r>
              <a:rPr lang="tr-TR" b="1" dirty="0">
                <a:solidFill>
                  <a:prstClr val="black"/>
                </a:solidFill>
              </a:rPr>
              <a:t>Sıcak Akış (Ateşleme) Testi: </a:t>
            </a:r>
            <a:r>
              <a:rPr lang="tr-TR" dirty="0">
                <a:solidFill>
                  <a:prstClr val="black"/>
                </a:solidFill>
              </a:rPr>
              <a:t>Statik ateşleme sisteminde sıcak akış testi yapılmalı ve sonuçlar yorumlanmalıdır. Test sistemi detaylıca tanıtılmalıdır. </a:t>
            </a:r>
            <a:endParaRPr lang="en-US" b="1" dirty="0">
              <a:solidFill>
                <a:prstClr val="black"/>
              </a:solidFill>
            </a:endParaRPr>
          </a:p>
          <a:p>
            <a:pPr marL="285750" indent="-285750">
              <a:buFont typeface="Arial" panose="020B0604020202020204" pitchFamily="34" charset="0"/>
              <a:buChar char="•"/>
            </a:pPr>
            <a:r>
              <a:rPr lang="tr-TR" dirty="0"/>
              <a:t>Testlerin süreleri:</a:t>
            </a:r>
          </a:p>
          <a:p>
            <a:pPr marL="742950" lvl="1" indent="-285750">
              <a:buFont typeface="Arial" panose="020B0604020202020204" pitchFamily="34" charset="0"/>
              <a:buChar char="•"/>
            </a:pPr>
            <a:r>
              <a:rPr lang="tr-TR" dirty="0"/>
              <a:t>İtki Sistemi Montajı için </a:t>
            </a:r>
            <a:r>
              <a:rPr lang="en-US" dirty="0" err="1"/>
              <a:t>en</a:t>
            </a:r>
            <a:r>
              <a:rPr lang="en-US" dirty="0"/>
              <a:t> </a:t>
            </a:r>
            <a:r>
              <a:rPr lang="en-US" dirty="0" err="1"/>
              <a:t>fazla</a:t>
            </a:r>
            <a:r>
              <a:rPr lang="en-US" dirty="0"/>
              <a:t> </a:t>
            </a:r>
            <a:r>
              <a:rPr lang="tr-TR" b="1" dirty="0"/>
              <a:t>100 </a:t>
            </a:r>
            <a:r>
              <a:rPr lang="en-US" b="1" dirty="0"/>
              <a:t>s</a:t>
            </a:r>
            <a:r>
              <a:rPr lang="tr-TR" b="1" dirty="0"/>
              <a:t>aniye</a:t>
            </a:r>
            <a:endParaRPr lang="tr-TR" dirty="0"/>
          </a:p>
          <a:p>
            <a:pPr marL="742950" lvl="1" indent="-285750">
              <a:buFont typeface="Arial" panose="020B0604020202020204" pitchFamily="34" charset="0"/>
              <a:buChar char="•"/>
            </a:pPr>
            <a:r>
              <a:rPr lang="tr-TR" dirty="0"/>
              <a:t>Dolum için</a:t>
            </a:r>
            <a:r>
              <a:rPr lang="en-US" dirty="0"/>
              <a:t> </a:t>
            </a:r>
            <a:r>
              <a:rPr lang="en-US" dirty="0" err="1"/>
              <a:t>en</a:t>
            </a:r>
            <a:r>
              <a:rPr lang="en-US" dirty="0"/>
              <a:t> </a:t>
            </a:r>
            <a:r>
              <a:rPr lang="en-US" dirty="0" err="1"/>
              <a:t>fazla</a:t>
            </a:r>
            <a:r>
              <a:rPr lang="tr-TR" dirty="0"/>
              <a:t> </a:t>
            </a:r>
            <a:r>
              <a:rPr lang="tr-TR" b="1" dirty="0"/>
              <a:t>150 </a:t>
            </a:r>
            <a:r>
              <a:rPr lang="en-US" b="1" dirty="0"/>
              <a:t>s</a:t>
            </a:r>
            <a:r>
              <a:rPr lang="tr-TR" b="1" dirty="0"/>
              <a:t>aniye</a:t>
            </a:r>
            <a:r>
              <a:rPr lang="tr-TR" dirty="0"/>
              <a:t>,</a:t>
            </a:r>
          </a:p>
          <a:p>
            <a:pPr marL="742950" lvl="1" indent="-285750">
              <a:buFont typeface="Arial" panose="020B0604020202020204" pitchFamily="34" charset="0"/>
              <a:buChar char="•"/>
            </a:pPr>
            <a:r>
              <a:rPr lang="tr-TR" dirty="0"/>
              <a:t>Soğuk Akış testi için </a:t>
            </a:r>
            <a:r>
              <a:rPr lang="en-US" dirty="0" err="1"/>
              <a:t>en</a:t>
            </a:r>
            <a:r>
              <a:rPr lang="en-US" dirty="0"/>
              <a:t> </a:t>
            </a:r>
            <a:r>
              <a:rPr lang="en-US" dirty="0" err="1"/>
              <a:t>fazla</a:t>
            </a:r>
            <a:r>
              <a:rPr lang="en-US" dirty="0"/>
              <a:t> </a:t>
            </a:r>
            <a:r>
              <a:rPr lang="tr-TR" b="1" dirty="0"/>
              <a:t>300 </a:t>
            </a:r>
            <a:r>
              <a:rPr lang="en-US" b="1" dirty="0"/>
              <a:t>s</a:t>
            </a:r>
            <a:r>
              <a:rPr lang="tr-TR" b="1" dirty="0"/>
              <a:t>aniye,</a:t>
            </a:r>
          </a:p>
          <a:p>
            <a:pPr marL="742950" lvl="1" indent="-285750">
              <a:buFont typeface="Arial" panose="020B0604020202020204" pitchFamily="34" charset="0"/>
              <a:buChar char="•"/>
            </a:pPr>
            <a:r>
              <a:rPr lang="tr-TR" dirty="0"/>
              <a:t>Sıcak Akış (Ateşleme) Testi için </a:t>
            </a:r>
            <a:r>
              <a:rPr lang="en-US" dirty="0" err="1"/>
              <a:t>en</a:t>
            </a:r>
            <a:r>
              <a:rPr lang="en-US" dirty="0"/>
              <a:t> </a:t>
            </a:r>
            <a:r>
              <a:rPr lang="en-US" dirty="0" err="1"/>
              <a:t>fazla</a:t>
            </a:r>
            <a:r>
              <a:rPr lang="en-US" dirty="0"/>
              <a:t> </a:t>
            </a:r>
            <a:r>
              <a:rPr lang="tr-TR" b="1" dirty="0"/>
              <a:t>400 </a:t>
            </a:r>
            <a:r>
              <a:rPr lang="en-US" b="1" dirty="0"/>
              <a:t>s</a:t>
            </a:r>
            <a:r>
              <a:rPr lang="tr-TR" b="1" dirty="0"/>
              <a:t>aniye,</a:t>
            </a:r>
          </a:p>
          <a:p>
            <a:endParaRPr lang="tr-TR" dirty="0"/>
          </a:p>
        </p:txBody>
      </p:sp>
      <p:sp>
        <p:nvSpPr>
          <p:cNvPr id="16" name="TextBox 15"/>
          <p:cNvSpPr txBox="1"/>
          <p:nvPr/>
        </p:nvSpPr>
        <p:spPr>
          <a:xfrm>
            <a:off x="54592" y="57258"/>
            <a:ext cx="1171978" cy="1116000"/>
          </a:xfrm>
          <a:prstGeom prst="rect">
            <a:avLst/>
          </a:prstGeom>
          <a:noFill/>
          <a:ln>
            <a:solidFill>
              <a:schemeClr val="tx1"/>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a:ln>
                  <a:noFill/>
                </a:ln>
                <a:solidFill>
                  <a:prstClr val="black"/>
                </a:solidFill>
                <a:effectLst/>
                <a:uLnTx/>
                <a:uFillTx/>
                <a:latin typeface="Calibri Light" panose="020F0302020204030204"/>
                <a:ea typeface="+mn-ea"/>
                <a:cs typeface="Times New Roman" panose="02020603050405020304" pitchFamily="18" charset="0"/>
              </a:rPr>
              <a:t>Takım Logosu</a:t>
            </a:r>
          </a:p>
        </p:txBody>
      </p:sp>
      <p:sp>
        <p:nvSpPr>
          <p:cNvPr id="7" name="Footer Placeholder 8">
            <a:extLst>
              <a:ext uri="{FF2B5EF4-FFF2-40B4-BE49-F238E27FC236}">
                <a16:creationId xmlns:a16="http://schemas.microsoft.com/office/drawing/2014/main" id="{C008D492-B30C-0947-9E07-A8DD36D59741}"/>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1366374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215"/>
            <a:ext cx="9144000" cy="750956"/>
          </a:xfrm>
        </p:spPr>
        <p:txBody>
          <a:bodyPr anchor="ctr">
            <a:normAutofit/>
          </a:bodyPr>
          <a:lstStyle/>
          <a:p>
            <a:r>
              <a:rPr lang="en-US" sz="4000" b="1">
                <a:solidFill>
                  <a:srgbClr val="0070C0"/>
                </a:solidFill>
                <a:latin typeface="Times New Roman" panose="02020603050405020304" pitchFamily="18" charset="0"/>
                <a:cs typeface="Times New Roman" panose="02020603050405020304" pitchFamily="18" charset="0"/>
              </a:rPr>
              <a:t>Test </a:t>
            </a:r>
            <a:r>
              <a:rPr lang="en-US" sz="4000" b="1" err="1">
                <a:solidFill>
                  <a:srgbClr val="0070C0"/>
                </a:solidFill>
                <a:latin typeface="Times New Roman" panose="02020603050405020304" pitchFamily="18" charset="0"/>
                <a:cs typeface="Times New Roman" panose="02020603050405020304" pitchFamily="18" charset="0"/>
              </a:rPr>
              <a:t>Videoları</a:t>
            </a:r>
            <a:r>
              <a:rPr lang="en-US" sz="4000" b="1">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Özet</a:t>
            </a:r>
            <a:r>
              <a:rPr lang="en-US" sz="4000" b="1">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Tablosu</a:t>
            </a:r>
            <a:endParaRPr lang="tr-TR" sz="4000" b="1">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7BEDC82-49FF-42E3-B7EA-26FF728940D5}" type="slidenum">
              <a:rPr lang="tr-TR" smtClean="0"/>
              <a:t>33</a:t>
            </a:fld>
            <a:endParaRPr lang="tr-TR"/>
          </a:p>
        </p:txBody>
      </p:sp>
      <p:pic>
        <p:nvPicPr>
          <p:cNvPr id="14" name="Picture 13"/>
          <p:cNvPicPr>
            <a:picLocks noChangeAspect="1"/>
          </p:cNvPicPr>
          <p:nvPr/>
        </p:nvPicPr>
        <p:blipFill rotWithShape="1">
          <a:blip r:embed="rId3"/>
          <a:srcRect l="15894"/>
          <a:stretch/>
        </p:blipFill>
        <p:spPr>
          <a:xfrm>
            <a:off x="10753658" y="57790"/>
            <a:ext cx="1377714" cy="1116000"/>
          </a:xfrm>
          <a:prstGeom prst="rect">
            <a:avLst/>
          </a:prstGeom>
        </p:spPr>
      </p:pic>
      <p:sp>
        <p:nvSpPr>
          <p:cNvPr id="16" name="Date Placeholder 3"/>
          <p:cNvSpPr>
            <a:spLocks noGrp="1"/>
          </p:cNvSpPr>
          <p:nvPr>
            <p:ph type="dt" sz="half" idx="10"/>
          </p:nvPr>
        </p:nvSpPr>
        <p:spPr>
          <a:xfrm>
            <a:off x="838200" y="6356350"/>
            <a:ext cx="2743200" cy="365125"/>
          </a:xfrm>
        </p:spPr>
        <p:txBody>
          <a:bodyPr/>
          <a:lstStyle/>
          <a:p>
            <a:fld id="{EDD7EE19-348B-4A60-8810-E2854B3ED486}" type="datetime2">
              <a:rPr lang="tr-TR" smtClean="0"/>
              <a:t>7 Temmuz 2025 Pazartesi</a:t>
            </a:fld>
            <a:endParaRPr lang="tr-TR"/>
          </a:p>
        </p:txBody>
      </p:sp>
      <p:sp>
        <p:nvSpPr>
          <p:cNvPr id="19" name="TextBox 18"/>
          <p:cNvSpPr txBox="1"/>
          <p:nvPr/>
        </p:nvSpPr>
        <p:spPr>
          <a:xfrm>
            <a:off x="54592" y="57258"/>
            <a:ext cx="1171978" cy="1116000"/>
          </a:xfrm>
          <a:prstGeom prst="rect">
            <a:avLst/>
          </a:prstGeom>
          <a:noFill/>
          <a:ln>
            <a:solidFill>
              <a:schemeClr val="tx1"/>
            </a:solidFill>
          </a:ln>
        </p:spPr>
        <p:txBody>
          <a:bodyPr wrap="square" rtlCol="0" anchor="ctr">
            <a:spAutoFit/>
          </a:bodyPr>
          <a:lstStyle/>
          <a:p>
            <a:pPr algn="ctr"/>
            <a:r>
              <a:rPr lang="tr-TR">
                <a:latin typeface="+mj-lt"/>
                <a:cs typeface="Times New Roman" panose="02020603050405020304" pitchFamily="18" charset="0"/>
              </a:rPr>
              <a:t>Takım Logosu</a:t>
            </a:r>
          </a:p>
        </p:txBody>
      </p:sp>
      <p:sp>
        <p:nvSpPr>
          <p:cNvPr id="11" name="TextBox 9">
            <a:extLst>
              <a:ext uri="{FF2B5EF4-FFF2-40B4-BE49-F238E27FC236}">
                <a16:creationId xmlns:a16="http://schemas.microsoft.com/office/drawing/2014/main" id="{EA34E886-12F2-49E0-9BD3-D71B870D914E}"/>
              </a:ext>
            </a:extLst>
          </p:cNvPr>
          <p:cNvSpPr txBox="1"/>
          <p:nvPr/>
        </p:nvSpPr>
        <p:spPr>
          <a:xfrm>
            <a:off x="10417625" y="1332000"/>
            <a:ext cx="1872345" cy="2585323"/>
          </a:xfrm>
          <a:prstGeom prst="rect">
            <a:avLst/>
          </a:prstGeom>
          <a:noFill/>
        </p:spPr>
        <p:txBody>
          <a:bodyPr wrap="square" rtlCol="0">
            <a:spAutoFit/>
          </a:bodyPr>
          <a:lstStyle/>
          <a:p>
            <a:pPr algn="just">
              <a:spcAft>
                <a:spcPts val="600"/>
              </a:spcAft>
            </a:pPr>
            <a:r>
              <a:rPr lang="en-US" dirty="0" err="1"/>
              <a:t>Şablonun</a:t>
            </a:r>
            <a:r>
              <a:rPr lang="en-US" dirty="0"/>
              <a:t> </a:t>
            </a:r>
            <a:r>
              <a:rPr lang="en-US" dirty="0" err="1"/>
              <a:t>önceki</a:t>
            </a:r>
            <a:r>
              <a:rPr lang="en-US" dirty="0"/>
              <a:t> </a:t>
            </a:r>
            <a:r>
              <a:rPr lang="en-US" dirty="0" err="1"/>
              <a:t>bölümlerinde</a:t>
            </a:r>
            <a:r>
              <a:rPr lang="en-US" dirty="0"/>
              <a:t> </a:t>
            </a:r>
            <a:r>
              <a:rPr lang="en-US" dirty="0" err="1"/>
              <a:t>detaylıca</a:t>
            </a:r>
            <a:r>
              <a:rPr lang="en-US" dirty="0"/>
              <a:t> </a:t>
            </a:r>
            <a:r>
              <a:rPr lang="en-US" dirty="0" err="1"/>
              <a:t>açıklanmış</a:t>
            </a:r>
            <a:r>
              <a:rPr lang="en-US" dirty="0"/>
              <a:t> </a:t>
            </a:r>
            <a:r>
              <a:rPr lang="en-US" dirty="0" err="1"/>
              <a:t>olan</a:t>
            </a:r>
            <a:r>
              <a:rPr lang="en-US" dirty="0"/>
              <a:t> </a:t>
            </a:r>
            <a:r>
              <a:rPr lang="en-US" dirty="0" err="1"/>
              <a:t>testlerin</a:t>
            </a:r>
            <a:r>
              <a:rPr lang="en-US" dirty="0"/>
              <a:t> hangi </a:t>
            </a:r>
            <a:r>
              <a:rPr lang="en-US" dirty="0" err="1"/>
              <a:t>kategoriler</a:t>
            </a:r>
            <a:r>
              <a:rPr lang="en-US" dirty="0"/>
              <a:t> </a:t>
            </a:r>
            <a:r>
              <a:rPr lang="en-US" dirty="0" err="1"/>
              <a:t>için</a:t>
            </a:r>
            <a:r>
              <a:rPr lang="en-US" dirty="0"/>
              <a:t> </a:t>
            </a:r>
            <a:r>
              <a:rPr lang="en-US" dirty="0" err="1"/>
              <a:t>zorunlu</a:t>
            </a:r>
            <a:r>
              <a:rPr lang="en-US" dirty="0"/>
              <a:t>/</a:t>
            </a:r>
            <a:r>
              <a:rPr lang="en-US" dirty="0" err="1"/>
              <a:t>olduğu</a:t>
            </a:r>
            <a:r>
              <a:rPr lang="en-US" dirty="0"/>
              <a:t> </a:t>
            </a:r>
            <a:r>
              <a:rPr lang="en-US" dirty="0" err="1"/>
              <a:t>bilgisi</a:t>
            </a:r>
            <a:r>
              <a:rPr lang="en-US" dirty="0"/>
              <a:t> </a:t>
            </a:r>
            <a:r>
              <a:rPr lang="en-US" dirty="0" err="1"/>
              <a:t>özet</a:t>
            </a:r>
            <a:r>
              <a:rPr lang="en-US" dirty="0"/>
              <a:t> </a:t>
            </a:r>
            <a:r>
              <a:rPr lang="en-US" dirty="0" err="1"/>
              <a:t>tablo</a:t>
            </a:r>
            <a:r>
              <a:rPr lang="en-US" dirty="0"/>
              <a:t> </a:t>
            </a:r>
            <a:r>
              <a:rPr lang="en-US" dirty="0" err="1"/>
              <a:t>ile</a:t>
            </a:r>
            <a:r>
              <a:rPr lang="en-US" dirty="0"/>
              <a:t> </a:t>
            </a:r>
            <a:r>
              <a:rPr lang="en-US" dirty="0" err="1"/>
              <a:t>sunulmuştur</a:t>
            </a:r>
            <a:r>
              <a:rPr lang="en-US" dirty="0"/>
              <a:t>. </a:t>
            </a:r>
            <a:endParaRPr lang="tr-TR" dirty="0"/>
          </a:p>
        </p:txBody>
      </p:sp>
      <p:sp>
        <p:nvSpPr>
          <p:cNvPr id="12" name="Rectangle 3">
            <a:extLst>
              <a:ext uri="{FF2B5EF4-FFF2-40B4-BE49-F238E27FC236}">
                <a16:creationId xmlns:a16="http://schemas.microsoft.com/office/drawing/2014/main" id="{0EADFC7C-AF83-4572-9FBB-84CBA7658D2E}"/>
              </a:ext>
            </a:extLst>
          </p:cNvPr>
          <p:cNvSpPr/>
          <p:nvPr/>
        </p:nvSpPr>
        <p:spPr>
          <a:xfrm>
            <a:off x="3443703" y="5816050"/>
            <a:ext cx="5304594" cy="369332"/>
          </a:xfrm>
          <a:prstGeom prst="rect">
            <a:avLst/>
          </a:prstGeom>
        </p:spPr>
        <p:txBody>
          <a:bodyPr wrap="none">
            <a:spAutoFit/>
          </a:bodyPr>
          <a:lstStyle/>
          <a:p>
            <a:pPr algn="ctr"/>
            <a:r>
              <a:rPr lang="en-US">
                <a:solidFill>
                  <a:srgbClr val="FF0000"/>
                </a:solidFill>
              </a:rPr>
              <a:t>Bu </a:t>
            </a:r>
            <a:r>
              <a:rPr lang="en-US" err="1">
                <a:solidFill>
                  <a:srgbClr val="FF0000"/>
                </a:solidFill>
              </a:rPr>
              <a:t>sayfa</a:t>
            </a:r>
            <a:r>
              <a:rPr lang="en-US">
                <a:solidFill>
                  <a:srgbClr val="FF0000"/>
                </a:solidFill>
              </a:rPr>
              <a:t> </a:t>
            </a:r>
            <a:r>
              <a:rPr lang="en-US" err="1">
                <a:solidFill>
                  <a:srgbClr val="FF0000"/>
                </a:solidFill>
              </a:rPr>
              <a:t>bilgi</a:t>
            </a:r>
            <a:r>
              <a:rPr lang="en-US">
                <a:solidFill>
                  <a:srgbClr val="FF0000"/>
                </a:solidFill>
              </a:rPr>
              <a:t> </a:t>
            </a:r>
            <a:r>
              <a:rPr lang="en-US" err="1">
                <a:solidFill>
                  <a:srgbClr val="FF0000"/>
                </a:solidFill>
              </a:rPr>
              <a:t>amaçlıdır</a:t>
            </a:r>
            <a:r>
              <a:rPr lang="en-US">
                <a:solidFill>
                  <a:srgbClr val="FF0000"/>
                </a:solidFill>
              </a:rPr>
              <a:t>. </a:t>
            </a:r>
            <a:r>
              <a:rPr lang="en-US" err="1">
                <a:solidFill>
                  <a:srgbClr val="FF0000"/>
                </a:solidFill>
              </a:rPr>
              <a:t>Takımlar</a:t>
            </a:r>
            <a:r>
              <a:rPr lang="en-US">
                <a:solidFill>
                  <a:srgbClr val="FF0000"/>
                </a:solidFill>
              </a:rPr>
              <a:t> </a:t>
            </a:r>
            <a:r>
              <a:rPr lang="en-US" err="1">
                <a:solidFill>
                  <a:srgbClr val="FF0000"/>
                </a:solidFill>
              </a:rPr>
              <a:t>tarafından</a:t>
            </a:r>
            <a:r>
              <a:rPr lang="en-US">
                <a:solidFill>
                  <a:srgbClr val="FF0000"/>
                </a:solidFill>
              </a:rPr>
              <a:t> </a:t>
            </a:r>
            <a:r>
              <a:rPr lang="en-US" err="1">
                <a:solidFill>
                  <a:srgbClr val="FF0000"/>
                </a:solidFill>
              </a:rPr>
              <a:t>silinmelidir</a:t>
            </a:r>
            <a:r>
              <a:rPr lang="en-US">
                <a:solidFill>
                  <a:srgbClr val="FF0000"/>
                </a:solidFill>
              </a:rPr>
              <a:t>.</a:t>
            </a:r>
            <a:endParaRPr lang="tr-TR">
              <a:solidFill>
                <a:srgbClr val="FF0000"/>
              </a:solidFill>
            </a:endParaRPr>
          </a:p>
        </p:txBody>
      </p:sp>
      <p:graphicFrame>
        <p:nvGraphicFramePr>
          <p:cNvPr id="13" name="Tablo 6">
            <a:extLst>
              <a:ext uri="{FF2B5EF4-FFF2-40B4-BE49-F238E27FC236}">
                <a16:creationId xmlns:a16="http://schemas.microsoft.com/office/drawing/2014/main" id="{F9E6308C-5E74-4270-BA3A-B668A44C9C15}"/>
              </a:ext>
            </a:extLst>
          </p:cNvPr>
          <p:cNvGraphicFramePr>
            <a:graphicFrameLocks noGrp="1"/>
          </p:cNvGraphicFramePr>
          <p:nvPr>
            <p:extLst>
              <p:ext uri="{D42A27DB-BD31-4B8C-83A1-F6EECF244321}">
                <p14:modId xmlns:p14="http://schemas.microsoft.com/office/powerpoint/2010/main" val="2421605658"/>
              </p:ext>
            </p:extLst>
          </p:nvPr>
        </p:nvGraphicFramePr>
        <p:xfrm>
          <a:off x="244273" y="1343228"/>
          <a:ext cx="10173353" cy="4462044"/>
        </p:xfrm>
        <a:graphic>
          <a:graphicData uri="http://schemas.openxmlformats.org/drawingml/2006/table">
            <a:tbl>
              <a:tblPr firstRow="1" bandRow="1">
                <a:tableStyleId>{5C22544A-7EE6-4342-B048-85BDC9FD1C3A}</a:tableStyleId>
              </a:tblPr>
              <a:tblGrid>
                <a:gridCol w="2536102">
                  <a:extLst>
                    <a:ext uri="{9D8B030D-6E8A-4147-A177-3AD203B41FA5}">
                      <a16:colId xmlns:a16="http://schemas.microsoft.com/office/drawing/2014/main" val="3063261857"/>
                    </a:ext>
                  </a:extLst>
                </a:gridCol>
                <a:gridCol w="1232310">
                  <a:extLst>
                    <a:ext uri="{9D8B030D-6E8A-4147-A177-3AD203B41FA5}">
                      <a16:colId xmlns:a16="http://schemas.microsoft.com/office/drawing/2014/main" val="3553572562"/>
                    </a:ext>
                  </a:extLst>
                </a:gridCol>
                <a:gridCol w="1256001">
                  <a:extLst>
                    <a:ext uri="{9D8B030D-6E8A-4147-A177-3AD203B41FA5}">
                      <a16:colId xmlns:a16="http://schemas.microsoft.com/office/drawing/2014/main" val="1544958665"/>
                    </a:ext>
                  </a:extLst>
                </a:gridCol>
                <a:gridCol w="1295399">
                  <a:extLst>
                    <a:ext uri="{9D8B030D-6E8A-4147-A177-3AD203B41FA5}">
                      <a16:colId xmlns:a16="http://schemas.microsoft.com/office/drawing/2014/main" val="2366627080"/>
                    </a:ext>
                  </a:extLst>
                </a:gridCol>
                <a:gridCol w="1284805">
                  <a:extLst>
                    <a:ext uri="{9D8B030D-6E8A-4147-A177-3AD203B41FA5}">
                      <a16:colId xmlns:a16="http://schemas.microsoft.com/office/drawing/2014/main" val="3828458724"/>
                    </a:ext>
                  </a:extLst>
                </a:gridCol>
                <a:gridCol w="1284368">
                  <a:extLst>
                    <a:ext uri="{9D8B030D-6E8A-4147-A177-3AD203B41FA5}">
                      <a16:colId xmlns:a16="http://schemas.microsoft.com/office/drawing/2014/main" val="221791239"/>
                    </a:ext>
                  </a:extLst>
                </a:gridCol>
                <a:gridCol w="1284368">
                  <a:extLst>
                    <a:ext uri="{9D8B030D-6E8A-4147-A177-3AD203B41FA5}">
                      <a16:colId xmlns:a16="http://schemas.microsoft.com/office/drawing/2014/main" val="2923551920"/>
                    </a:ext>
                  </a:extLst>
                </a:gridCol>
              </a:tblGrid>
              <a:tr h="452915">
                <a:tc>
                  <a:txBody>
                    <a:bodyPr/>
                    <a:lstStyle/>
                    <a:p>
                      <a:pPr algn="ctr"/>
                      <a:r>
                        <a:rPr lang="en-US" sz="1200" dirty="0"/>
                        <a:t>Test / Video</a:t>
                      </a:r>
                      <a:endParaRPr lang="tr-TR" sz="1200" dirty="0"/>
                    </a:p>
                  </a:txBody>
                  <a:tcPr anchor="ctr"/>
                </a:tc>
                <a:tc>
                  <a:txBody>
                    <a:bodyPr/>
                    <a:lstStyle/>
                    <a:p>
                      <a:pPr algn="ctr"/>
                      <a:r>
                        <a:rPr lang="en-US" sz="1200" dirty="0"/>
                        <a:t>A1</a:t>
                      </a:r>
                      <a:br>
                        <a:rPr lang="en-US" sz="1200" dirty="0"/>
                      </a:br>
                      <a:r>
                        <a:rPr lang="en-US" sz="1200" dirty="0"/>
                        <a:t>(Lise)</a:t>
                      </a:r>
                      <a:endParaRPr lang="tr-TR" sz="1200" dirty="0"/>
                    </a:p>
                  </a:txBody>
                  <a:tcPr anchor="ctr"/>
                </a:tc>
                <a:tc>
                  <a:txBody>
                    <a:bodyPr/>
                    <a:lstStyle/>
                    <a:p>
                      <a:pPr algn="ctr"/>
                      <a:r>
                        <a:rPr lang="en-US" sz="1200" dirty="0"/>
                        <a:t>A2</a:t>
                      </a:r>
                      <a:br>
                        <a:rPr lang="en-US" sz="1200" dirty="0"/>
                      </a:br>
                      <a:r>
                        <a:rPr lang="en-US" sz="1200" dirty="0"/>
                        <a:t>(</a:t>
                      </a:r>
                      <a:r>
                        <a:rPr lang="en-US" sz="1200" dirty="0" err="1"/>
                        <a:t>Orta</a:t>
                      </a:r>
                      <a:r>
                        <a:rPr lang="en-US" sz="1200" dirty="0"/>
                        <a:t> </a:t>
                      </a:r>
                      <a:r>
                        <a:rPr lang="en-US" sz="1200" dirty="0" err="1"/>
                        <a:t>İrtifa</a:t>
                      </a:r>
                      <a:r>
                        <a:rPr lang="en-US" sz="1200" dirty="0"/>
                        <a:t>)</a:t>
                      </a:r>
                      <a:endParaRPr lang="tr-TR" sz="1200" dirty="0"/>
                    </a:p>
                  </a:txBody>
                  <a:tcPr anchor="ctr"/>
                </a:tc>
                <a:tc>
                  <a:txBody>
                    <a:bodyPr/>
                    <a:lstStyle/>
                    <a:p>
                      <a:pPr algn="ctr"/>
                      <a:r>
                        <a:rPr lang="en-US" sz="1200" dirty="0"/>
                        <a:t>A3</a:t>
                      </a:r>
                      <a:br>
                        <a:rPr lang="en-US" sz="1200" dirty="0"/>
                      </a:br>
                      <a:r>
                        <a:rPr lang="en-US" sz="1200" dirty="0"/>
                        <a:t>(</a:t>
                      </a:r>
                      <a:r>
                        <a:rPr lang="en-US" sz="1200" dirty="0" err="1"/>
                        <a:t>Yüksek</a:t>
                      </a:r>
                      <a:r>
                        <a:rPr lang="en-US" sz="1200" dirty="0"/>
                        <a:t> </a:t>
                      </a:r>
                      <a:r>
                        <a:rPr lang="en-US" sz="1200" dirty="0" err="1"/>
                        <a:t>İrtifa</a:t>
                      </a:r>
                      <a:r>
                        <a:rPr lang="en-US" sz="1200" dirty="0"/>
                        <a:t>)</a:t>
                      </a:r>
                      <a:endParaRPr lang="tr-TR" sz="1200" dirty="0"/>
                    </a:p>
                  </a:txBody>
                  <a:tcPr anchor="ctr"/>
                </a:tc>
                <a:tc>
                  <a:txBody>
                    <a:bodyPr/>
                    <a:lstStyle/>
                    <a:p>
                      <a:pPr algn="ctr"/>
                      <a:r>
                        <a:rPr lang="en-US" sz="1200" dirty="0"/>
                        <a:t>A4</a:t>
                      </a:r>
                      <a:br>
                        <a:rPr lang="en-US" sz="1200" dirty="0"/>
                      </a:br>
                      <a:r>
                        <a:rPr lang="en-US" sz="1200" dirty="0"/>
                        <a:t>(</a:t>
                      </a:r>
                      <a:r>
                        <a:rPr lang="en-US" sz="1200" dirty="0" err="1"/>
                        <a:t>Uluslararası</a:t>
                      </a:r>
                      <a:r>
                        <a:rPr lang="en-US" sz="1200" dirty="0"/>
                        <a:t>)</a:t>
                      </a:r>
                      <a:endParaRPr lang="tr-TR" sz="1200" dirty="0"/>
                    </a:p>
                  </a:txBody>
                  <a:tcPr anchor="ctr"/>
                </a:tc>
                <a:tc>
                  <a:txBody>
                    <a:bodyPr/>
                    <a:lstStyle/>
                    <a:p>
                      <a:pPr algn="ctr"/>
                      <a:r>
                        <a:rPr lang="en-US" sz="1200" dirty="0"/>
                        <a:t>A5</a:t>
                      </a:r>
                      <a:br>
                        <a:rPr lang="en-US" sz="1200" dirty="0"/>
                      </a:br>
                      <a:r>
                        <a:rPr lang="en-US" sz="1200" dirty="0"/>
                        <a:t>(</a:t>
                      </a:r>
                      <a:r>
                        <a:rPr lang="en-US" sz="1200" dirty="0" err="1"/>
                        <a:t>Zorlu</a:t>
                      </a:r>
                      <a:r>
                        <a:rPr lang="en-US" sz="1200" dirty="0"/>
                        <a:t> </a:t>
                      </a:r>
                      <a:r>
                        <a:rPr lang="en-US" sz="1200" dirty="0" err="1"/>
                        <a:t>Görev</a:t>
                      </a:r>
                      <a:r>
                        <a:rPr lang="en-US" sz="1200" dirty="0"/>
                        <a:t>)</a:t>
                      </a:r>
                      <a:endParaRPr lang="tr-TR" sz="1200" dirty="0"/>
                    </a:p>
                  </a:txBody>
                  <a:tcPr anchor="ctr"/>
                </a:tc>
                <a:tc>
                  <a:txBody>
                    <a:bodyPr/>
                    <a:lstStyle/>
                    <a:p>
                      <a:pPr algn="ctr"/>
                      <a:r>
                        <a:rPr lang="en-US" sz="1200" dirty="0"/>
                        <a:t>A6</a:t>
                      </a:r>
                      <a:br>
                        <a:rPr lang="en-US" sz="1200" dirty="0"/>
                      </a:br>
                      <a:r>
                        <a:rPr lang="en-US" sz="1200" dirty="0"/>
                        <a:t>(</a:t>
                      </a:r>
                      <a:r>
                        <a:rPr lang="en-US" sz="1200" dirty="0" err="1"/>
                        <a:t>Özgün</a:t>
                      </a:r>
                      <a:r>
                        <a:rPr lang="en-US" sz="1200" dirty="0"/>
                        <a:t> Motor)</a:t>
                      </a:r>
                      <a:endParaRPr lang="tr-TR" sz="1200" dirty="0"/>
                    </a:p>
                  </a:txBody>
                  <a:tcPr anchor="ctr"/>
                </a:tc>
                <a:extLst>
                  <a:ext uri="{0D108BD9-81ED-4DB2-BD59-A6C34878D82A}">
                    <a16:rowId xmlns:a16="http://schemas.microsoft.com/office/drawing/2014/main" val="204161749"/>
                  </a:ext>
                </a:extLst>
              </a:tr>
              <a:tr h="452915">
                <a:tc>
                  <a:txBody>
                    <a:bodyPr/>
                    <a:lstStyle/>
                    <a:p>
                      <a:pPr algn="ctr"/>
                      <a:r>
                        <a:rPr lang="en-US" sz="1200" dirty="0" err="1"/>
                        <a:t>Kurtarma</a:t>
                      </a:r>
                      <a:r>
                        <a:rPr lang="en-US" sz="1200" dirty="0"/>
                        <a:t> </a:t>
                      </a:r>
                      <a:r>
                        <a:rPr lang="en-US" sz="1200" dirty="0" err="1"/>
                        <a:t>Sistemi</a:t>
                      </a:r>
                      <a:r>
                        <a:rPr lang="en-US" sz="1200" dirty="0"/>
                        <a:t> – </a:t>
                      </a:r>
                      <a:r>
                        <a:rPr lang="en-US" sz="1200" dirty="0" err="1"/>
                        <a:t>Roket</a:t>
                      </a:r>
                      <a:r>
                        <a:rPr lang="en-US" sz="1200" dirty="0"/>
                        <a:t> </a:t>
                      </a:r>
                      <a:r>
                        <a:rPr lang="en-US" sz="1200" dirty="0" err="1"/>
                        <a:t>Ayırma</a:t>
                      </a:r>
                      <a:r>
                        <a:rPr lang="en-US" sz="1200" dirty="0"/>
                        <a:t> </a:t>
                      </a:r>
                      <a:r>
                        <a:rPr lang="en-US" sz="1200" dirty="0" err="1"/>
                        <a:t>Testi</a:t>
                      </a:r>
                      <a:endParaRPr lang="tr-TR" sz="1200" dirty="0"/>
                    </a:p>
                  </a:txBody>
                  <a:tcPr anchor="ctr"/>
                </a:tc>
                <a:tc>
                  <a:txBody>
                    <a:bodyPr/>
                    <a:lstStyle/>
                    <a:p>
                      <a:pPr lvl="0" algn="ctr">
                        <a:lnSpc>
                          <a:spcPct val="100000"/>
                        </a:lnSpc>
                      </a:pPr>
                      <a:r>
                        <a:rPr lang="en-US" sz="1200" err="1">
                          <a:solidFill>
                            <a:srgbClr val="00B050"/>
                          </a:solidFill>
                        </a:rPr>
                        <a:t>Zorunlu</a:t>
                      </a:r>
                      <a:endParaRPr lang="tr-TR" sz="1200">
                        <a:solidFill>
                          <a:srgbClr val="00B050"/>
                        </a:solidFill>
                      </a:endParaRPr>
                    </a:p>
                  </a:txBody>
                  <a:tcPr anchor="ctr"/>
                </a:tc>
                <a:tc>
                  <a:txBody>
                    <a:bodyPr/>
                    <a:lstStyle/>
                    <a:p>
                      <a:pPr lvl="0" algn="ctr">
                        <a:lnSpc>
                          <a:spcPct val="100000"/>
                        </a:lnSpc>
                      </a:pPr>
                      <a:r>
                        <a:rPr lang="en-US" sz="1200" err="1">
                          <a:solidFill>
                            <a:srgbClr val="00B050"/>
                          </a:solidFill>
                        </a:rPr>
                        <a:t>Zorunlu</a:t>
                      </a:r>
                      <a:endParaRPr lang="tr-TR" sz="120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err="1">
                          <a:solidFill>
                            <a:srgbClr val="00B050"/>
                          </a:solidFill>
                        </a:rPr>
                        <a:t>Zorunlu</a:t>
                      </a:r>
                      <a:endParaRPr lang="tr-TR" sz="120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extLst>
                  <a:ext uri="{0D108BD9-81ED-4DB2-BD59-A6C34878D82A}">
                    <a16:rowId xmlns:a16="http://schemas.microsoft.com/office/drawing/2014/main" val="712624947"/>
                  </a:ext>
                </a:extLst>
              </a:tr>
              <a:tr h="152399">
                <a:tc>
                  <a:txBody>
                    <a:bodyPr/>
                    <a:lstStyle/>
                    <a:p>
                      <a:pPr algn="ctr"/>
                      <a:r>
                        <a:rPr lang="en-US" sz="1200" err="1"/>
                        <a:t>Kurtarma</a:t>
                      </a:r>
                      <a:r>
                        <a:rPr lang="en-US" sz="1200"/>
                        <a:t> </a:t>
                      </a:r>
                      <a:r>
                        <a:rPr lang="en-US" sz="1200" err="1"/>
                        <a:t>Sistemi</a:t>
                      </a:r>
                      <a:r>
                        <a:rPr lang="en-US" sz="1200"/>
                        <a:t> – </a:t>
                      </a:r>
                      <a:r>
                        <a:rPr lang="en-US" sz="1200" err="1"/>
                        <a:t>Paraşüt</a:t>
                      </a:r>
                      <a:r>
                        <a:rPr lang="en-US" sz="1200"/>
                        <a:t> </a:t>
                      </a:r>
                      <a:r>
                        <a:rPr lang="en-US" sz="1200" err="1"/>
                        <a:t>Testi</a:t>
                      </a:r>
                      <a:endParaRPr lang="tr-TR"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00B050"/>
                          </a:solidFill>
                        </a:rPr>
                        <a:t>Zorunlu</a:t>
                      </a:r>
                      <a:endParaRPr lang="tr-TR" sz="1200" dirty="0">
                        <a:solidFill>
                          <a:srgbClr val="00B050"/>
                        </a:solidFill>
                      </a:endParaRPr>
                    </a:p>
                  </a:txBody>
                  <a:tcPr anchor="ctr"/>
                </a:tc>
                <a:extLst>
                  <a:ext uri="{0D108BD9-81ED-4DB2-BD59-A6C34878D82A}">
                    <a16:rowId xmlns:a16="http://schemas.microsoft.com/office/drawing/2014/main" val="1196279941"/>
                  </a:ext>
                </a:extLst>
              </a:tr>
              <a:tr h="131836">
                <a:tc>
                  <a:txBody>
                    <a:bodyPr/>
                    <a:lstStyle/>
                    <a:p>
                      <a:pPr algn="ctr"/>
                      <a:r>
                        <a:rPr lang="en-US" sz="1200" dirty="0" err="1"/>
                        <a:t>Yapısal</a:t>
                      </a:r>
                      <a:r>
                        <a:rPr lang="en-US" sz="1200" dirty="0"/>
                        <a:t> – </a:t>
                      </a:r>
                      <a:r>
                        <a:rPr lang="en-US" sz="1200" dirty="0" err="1"/>
                        <a:t>Dayanım</a:t>
                      </a:r>
                      <a:r>
                        <a:rPr lang="en-US" sz="1200" dirty="0"/>
                        <a:t> </a:t>
                      </a:r>
                      <a:r>
                        <a:rPr lang="en-US" sz="1200" dirty="0" err="1"/>
                        <a:t>Testi</a:t>
                      </a:r>
                      <a:endParaRPr lang="tr-TR" sz="1200" dirty="0"/>
                    </a:p>
                  </a:txBody>
                  <a:tcPr anchor="ctr"/>
                </a:tc>
                <a:tc>
                  <a:txBody>
                    <a:bodyPr/>
                    <a:lstStyle/>
                    <a:p>
                      <a:pPr lvl="0" algn="ctr">
                        <a:lnSpc>
                          <a:spcPct val="100000"/>
                        </a:lnSpc>
                      </a:pPr>
                      <a:r>
                        <a:rPr lang="en-US" sz="1200" dirty="0" err="1">
                          <a:solidFill>
                            <a:srgbClr val="00B050"/>
                          </a:solidFill>
                        </a:rPr>
                        <a:t>Zorunlu</a:t>
                      </a:r>
                      <a:endParaRPr lang="tr-TR" sz="1200"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err="1">
                          <a:solidFill>
                            <a:srgbClr val="00B050"/>
                          </a:solidFill>
                          <a:latin typeface="+mn-lt"/>
                          <a:ea typeface="+mn-ea"/>
                          <a:cs typeface="+mn-cs"/>
                        </a:rPr>
                        <a:t>Zorunlu</a:t>
                      </a:r>
                      <a:endParaRPr lang="tr-TR" sz="1200" kern="120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err="1">
                          <a:solidFill>
                            <a:srgbClr val="00B050"/>
                          </a:solidFill>
                          <a:latin typeface="+mn-lt"/>
                          <a:ea typeface="+mn-ea"/>
                          <a:cs typeface="+mn-cs"/>
                        </a:rPr>
                        <a:t>Zorunlu</a:t>
                      </a:r>
                      <a:endParaRPr lang="tr-TR" sz="1200" kern="120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1136336347"/>
                  </a:ext>
                </a:extLst>
              </a:tr>
              <a:tr h="333103">
                <a:tc>
                  <a:txBody>
                    <a:bodyPr/>
                    <a:lstStyle/>
                    <a:p>
                      <a:pPr algn="ctr"/>
                      <a:r>
                        <a:rPr lang="en-US" sz="1200" dirty="0" err="1"/>
                        <a:t>Roket</a:t>
                      </a:r>
                      <a:r>
                        <a:rPr lang="en-US" sz="1200" dirty="0"/>
                        <a:t> </a:t>
                      </a:r>
                      <a:r>
                        <a:rPr lang="en-US" sz="1200" dirty="0" err="1"/>
                        <a:t>Genel</a:t>
                      </a:r>
                      <a:r>
                        <a:rPr lang="en-US" sz="1200" dirty="0"/>
                        <a:t> </a:t>
                      </a:r>
                      <a:r>
                        <a:rPr lang="en-US" sz="1200" dirty="0" err="1"/>
                        <a:t>Montaj</a:t>
                      </a:r>
                      <a:r>
                        <a:rPr lang="en-US" sz="1200" dirty="0"/>
                        <a:t> &amp; </a:t>
                      </a:r>
                      <a:r>
                        <a:rPr lang="en-US" sz="1200" dirty="0" err="1"/>
                        <a:t>Atışa</a:t>
                      </a:r>
                      <a:r>
                        <a:rPr lang="en-US" sz="1200" dirty="0"/>
                        <a:t> </a:t>
                      </a:r>
                      <a:r>
                        <a:rPr lang="en-US" sz="1200" dirty="0" err="1"/>
                        <a:t>Hazırlık</a:t>
                      </a:r>
                      <a:endParaRPr lang="tr-TR"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err="1">
                          <a:solidFill>
                            <a:srgbClr val="00B050"/>
                          </a:solidFill>
                          <a:latin typeface="+mn-lt"/>
                          <a:ea typeface="+mn-ea"/>
                          <a:cs typeface="+mn-cs"/>
                        </a:rPr>
                        <a:t>Zorunlu</a:t>
                      </a:r>
                      <a:endParaRPr lang="tr-TR" sz="1200" kern="120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err="1">
                          <a:solidFill>
                            <a:srgbClr val="00B050"/>
                          </a:solidFill>
                          <a:latin typeface="+mn-lt"/>
                          <a:ea typeface="+mn-ea"/>
                          <a:cs typeface="+mn-cs"/>
                        </a:rPr>
                        <a:t>Zorunlu</a:t>
                      </a:r>
                      <a:endParaRPr lang="tr-TR" sz="1200" kern="120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2950926112"/>
                  </a:ext>
                </a:extLst>
              </a:tr>
              <a:tr h="424543">
                <a:tc>
                  <a:txBody>
                    <a:bodyPr/>
                    <a:lstStyle/>
                    <a:p>
                      <a:pPr algn="ctr"/>
                      <a:r>
                        <a:rPr lang="en-US" sz="1200" dirty="0" err="1"/>
                        <a:t>Aviyonik</a:t>
                      </a:r>
                      <a:r>
                        <a:rPr lang="en-US" sz="1200" dirty="0"/>
                        <a:t> – </a:t>
                      </a:r>
                      <a:r>
                        <a:rPr lang="en-US" sz="1200" dirty="0" err="1"/>
                        <a:t>Haberleşme</a:t>
                      </a:r>
                      <a:r>
                        <a:rPr lang="en-US" sz="1200" dirty="0"/>
                        <a:t> </a:t>
                      </a:r>
                      <a:r>
                        <a:rPr lang="en-US" sz="1200" dirty="0" err="1"/>
                        <a:t>Testi</a:t>
                      </a:r>
                      <a:endParaRPr lang="tr-TR"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err="1">
                          <a:solidFill>
                            <a:srgbClr val="00B050"/>
                          </a:solidFill>
                          <a:latin typeface="+mn-lt"/>
                          <a:ea typeface="+mn-ea"/>
                          <a:cs typeface="+mn-cs"/>
                        </a:rPr>
                        <a:t>Zorunlu</a:t>
                      </a:r>
                      <a:endParaRPr lang="tr-TR" sz="1200" kern="120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err="1">
                          <a:solidFill>
                            <a:srgbClr val="00B050"/>
                          </a:solidFill>
                          <a:latin typeface="+mn-lt"/>
                          <a:ea typeface="+mn-ea"/>
                          <a:cs typeface="+mn-cs"/>
                        </a:rPr>
                        <a:t>Zorunlu</a:t>
                      </a:r>
                      <a:endParaRPr lang="tr-TR" sz="1200" kern="120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2504110176"/>
                  </a:ext>
                </a:extLst>
              </a:tr>
              <a:tr h="424542">
                <a:tc>
                  <a:txBody>
                    <a:bodyPr/>
                    <a:lstStyle/>
                    <a:p>
                      <a:pPr algn="ctr"/>
                      <a:r>
                        <a:rPr lang="en-US" sz="1200" dirty="0" err="1"/>
                        <a:t>Aviyonik</a:t>
                      </a:r>
                      <a:r>
                        <a:rPr lang="en-US" sz="1200" dirty="0"/>
                        <a:t> – </a:t>
                      </a:r>
                      <a:r>
                        <a:rPr lang="en-US" sz="1200" dirty="0" err="1"/>
                        <a:t>Algoritma</a:t>
                      </a:r>
                      <a:r>
                        <a:rPr lang="en-US" sz="1200" dirty="0"/>
                        <a:t> &amp; </a:t>
                      </a:r>
                      <a:r>
                        <a:rPr lang="en-US" sz="1200" dirty="0" err="1"/>
                        <a:t>Fonsiyonellik</a:t>
                      </a:r>
                      <a:r>
                        <a:rPr lang="en-US" sz="1200" dirty="0"/>
                        <a:t> </a:t>
                      </a:r>
                      <a:r>
                        <a:rPr lang="en-US" sz="1200" dirty="0" err="1"/>
                        <a:t>Testi</a:t>
                      </a:r>
                      <a:endParaRPr lang="tr-TR" sz="1200" dirty="0"/>
                    </a:p>
                  </a:txBody>
                  <a:tcPr anchor="ctr"/>
                </a:tc>
                <a:tc>
                  <a:txBody>
                    <a:bodyPr/>
                    <a:lstStyle/>
                    <a:p>
                      <a:pPr marL="0" lvl="0" algn="ctr" defTabSz="914400" rtl="0" eaLnBrk="1" latinLnBrk="0" hangingPunct="1">
                        <a:lnSpc>
                          <a:spcPct val="100000"/>
                        </a:lnSpc>
                      </a:pPr>
                      <a:r>
                        <a:rPr lang="en-US" sz="1200" kern="1200" dirty="0" err="1">
                          <a:solidFill>
                            <a:srgbClr val="FFC000"/>
                          </a:solidFill>
                          <a:latin typeface="+mn-lt"/>
                          <a:ea typeface="+mn-ea"/>
                          <a:cs typeface="+mn-cs"/>
                        </a:rPr>
                        <a:t>Opsiyonel</a:t>
                      </a:r>
                      <a:endParaRPr lang="tr-TR" sz="1200" kern="1200" dirty="0">
                        <a:solidFill>
                          <a:srgbClr val="FFC000"/>
                        </a:solidFill>
                        <a:latin typeface="+mn-lt"/>
                        <a:ea typeface="+mn-ea"/>
                        <a:cs typeface="+mn-cs"/>
                      </a:endParaRPr>
                    </a:p>
                  </a:txBody>
                  <a:tcPr anchor="ctr"/>
                </a:tc>
                <a:tc>
                  <a:txBody>
                    <a:bodyPr/>
                    <a:lstStyle/>
                    <a:p>
                      <a:pPr marL="0" lvl="0" algn="ctr" defTabSz="914400" rtl="0" eaLnBrk="1" latinLnBrk="0" hangingPunct="1">
                        <a:lnSpc>
                          <a:spcPct val="100000"/>
                        </a:lnSpc>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1633439325"/>
                  </a:ext>
                </a:extLst>
              </a:tr>
              <a:tr h="4251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t>Aviyonik</a:t>
                      </a:r>
                      <a:r>
                        <a:rPr lang="en-US" sz="1200" dirty="0"/>
                        <a:t> – </a:t>
                      </a:r>
                      <a:r>
                        <a:rPr lang="en-US" sz="1200" dirty="0" err="1"/>
                        <a:t>Hakem</a:t>
                      </a:r>
                      <a:r>
                        <a:rPr lang="en-US" sz="1200" dirty="0"/>
                        <a:t> </a:t>
                      </a:r>
                      <a:r>
                        <a:rPr lang="en-US" sz="1200" dirty="0" err="1"/>
                        <a:t>Yer</a:t>
                      </a:r>
                      <a:r>
                        <a:rPr lang="en-US" sz="1200" dirty="0"/>
                        <a:t> </a:t>
                      </a:r>
                      <a:r>
                        <a:rPr lang="en-US" sz="1200" dirty="0" err="1"/>
                        <a:t>İstasyonu</a:t>
                      </a:r>
                      <a:r>
                        <a:rPr lang="en-US" sz="1200" dirty="0"/>
                        <a:t> </a:t>
                      </a:r>
                      <a:r>
                        <a:rPr lang="en-US" sz="1200" dirty="0" err="1"/>
                        <a:t>Testi</a:t>
                      </a:r>
                      <a:endParaRPr lang="tr-TR"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4179276257"/>
                  </a:ext>
                </a:extLst>
              </a:tr>
              <a:tr h="5148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200" dirty="0" err="1"/>
                        <a:t>Aviyonik</a:t>
                      </a:r>
                      <a:r>
                        <a:rPr lang="tr-TR" sz="1200" dirty="0"/>
                        <a:t> – Özgün UKB Test Sistemi Haberleşme Testi</a:t>
                      </a:r>
                    </a:p>
                  </a:txBody>
                  <a:tcPr anchor="ctr"/>
                </a:tc>
                <a:tc>
                  <a:txBody>
                    <a:bodyPr/>
                    <a:lstStyle/>
                    <a:p>
                      <a:pPr marL="0" lvl="0" algn="ctr" defTabSz="914400" rtl="0" eaLnBrk="1" latinLnBrk="0" hangingPunct="1">
                        <a:lnSpc>
                          <a:spcPct val="100000"/>
                        </a:lnSpc>
                      </a:pPr>
                      <a:r>
                        <a:rPr lang="en-US" sz="1200" kern="1200" dirty="0" err="1">
                          <a:solidFill>
                            <a:srgbClr val="FFC000"/>
                          </a:solidFill>
                          <a:latin typeface="+mn-lt"/>
                          <a:ea typeface="+mn-ea"/>
                          <a:cs typeface="+mn-cs"/>
                        </a:rPr>
                        <a:t>Opsiyonel</a:t>
                      </a:r>
                      <a:endParaRPr lang="tr-TR" sz="1200" kern="1200" dirty="0">
                        <a:solidFill>
                          <a:srgbClr val="FFC000"/>
                        </a:solidFill>
                        <a:latin typeface="+mn-lt"/>
                        <a:ea typeface="+mn-ea"/>
                        <a:cs typeface="+mn-cs"/>
                      </a:endParaRPr>
                    </a:p>
                  </a:txBody>
                  <a:tcPr anchor="ctr"/>
                </a:tc>
                <a:tc>
                  <a:txBody>
                    <a:bodyPr/>
                    <a:lstStyle/>
                    <a:p>
                      <a:pPr marL="0" lvl="0" algn="ctr" defTabSz="914400" rtl="0" eaLnBrk="1" latinLnBrk="0" hangingPunct="1">
                        <a:lnSpc>
                          <a:spcPct val="100000"/>
                        </a:lnSpc>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1253082930"/>
                  </a:ext>
                </a:extLst>
              </a:tr>
              <a:tr h="3336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t>Kademe</a:t>
                      </a:r>
                      <a:r>
                        <a:rPr lang="en-US" sz="1200" dirty="0"/>
                        <a:t> </a:t>
                      </a:r>
                      <a:r>
                        <a:rPr lang="en-US" sz="1200" dirty="0" err="1"/>
                        <a:t>Ayırma</a:t>
                      </a:r>
                      <a:r>
                        <a:rPr lang="en-US" sz="1200" dirty="0"/>
                        <a:t> </a:t>
                      </a:r>
                      <a:r>
                        <a:rPr lang="en-US" sz="1200" dirty="0" err="1"/>
                        <a:t>Sistemi</a:t>
                      </a:r>
                      <a:endParaRPr lang="tr-TR" sz="1200" dirty="0"/>
                    </a:p>
                  </a:txBody>
                  <a:tcPr anchor="ctr"/>
                </a:tc>
                <a:tc>
                  <a:txBody>
                    <a:bodyPr/>
                    <a:lstStyle/>
                    <a:p>
                      <a:pPr marL="0" lvl="0" algn="ctr" defTabSz="914400" rtl="0" eaLnBrk="1" latinLnBrk="0" hangingPunct="1">
                        <a:lnSpc>
                          <a:spcPct val="100000"/>
                        </a:lnSpc>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lvl="0" algn="ctr" defTabSz="914400" rtl="0" eaLnBrk="1" latinLnBrk="0" hangingPunct="1">
                        <a:lnSpc>
                          <a:spcPct val="100000"/>
                        </a:lnSpc>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extLst>
                  <a:ext uri="{0D108BD9-81ED-4DB2-BD59-A6C34878D82A}">
                    <a16:rowId xmlns:a16="http://schemas.microsoft.com/office/drawing/2014/main" val="3575785907"/>
                  </a:ext>
                </a:extLst>
              </a:tr>
              <a:tr h="5148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200" dirty="0"/>
                        <a:t>Özgün İtki Sistemi Testleri</a:t>
                      </a:r>
                    </a:p>
                  </a:txBody>
                  <a:tcPr anchor="ctr"/>
                </a:tc>
                <a:tc>
                  <a:txBody>
                    <a:bodyPr/>
                    <a:lstStyle/>
                    <a:p>
                      <a:pPr marL="0" lvl="0" algn="ctr" defTabSz="914400" rtl="0" eaLnBrk="1" latinLnBrk="0" hangingPunct="1">
                        <a:lnSpc>
                          <a:spcPct val="100000"/>
                        </a:lnSpc>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lvl="0" algn="ctr" defTabSz="914400" rtl="0" eaLnBrk="1" latinLnBrk="0" hangingPunct="1">
                        <a:lnSpc>
                          <a:spcPct val="100000"/>
                        </a:lnSpc>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FF0000"/>
                          </a:solidFill>
                          <a:latin typeface="+mn-lt"/>
                          <a:ea typeface="+mn-ea"/>
                          <a:cs typeface="+mn-cs"/>
                        </a:rPr>
                        <a:t>Paylaşılmayacak</a:t>
                      </a:r>
                      <a:endParaRPr lang="tr-TR" sz="12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err="1">
                          <a:solidFill>
                            <a:srgbClr val="00B050"/>
                          </a:solidFill>
                          <a:latin typeface="+mn-lt"/>
                          <a:ea typeface="+mn-ea"/>
                          <a:cs typeface="+mn-cs"/>
                        </a:rPr>
                        <a:t>Zorunlu</a:t>
                      </a:r>
                      <a:endParaRPr lang="tr-TR" sz="1200" kern="1200" dirty="0">
                        <a:solidFill>
                          <a:srgbClr val="00B050"/>
                        </a:solidFill>
                        <a:latin typeface="+mn-lt"/>
                        <a:ea typeface="+mn-ea"/>
                        <a:cs typeface="+mn-cs"/>
                      </a:endParaRPr>
                    </a:p>
                  </a:txBody>
                  <a:tcPr anchor="ctr"/>
                </a:tc>
                <a:extLst>
                  <a:ext uri="{0D108BD9-81ED-4DB2-BD59-A6C34878D82A}">
                    <a16:rowId xmlns:a16="http://schemas.microsoft.com/office/drawing/2014/main" val="1675324794"/>
                  </a:ext>
                </a:extLst>
              </a:tr>
            </a:tbl>
          </a:graphicData>
        </a:graphic>
      </p:graphicFrame>
      <p:sp>
        <p:nvSpPr>
          <p:cNvPr id="4" name="Footer Placeholder 8">
            <a:extLst>
              <a:ext uri="{FF2B5EF4-FFF2-40B4-BE49-F238E27FC236}">
                <a16:creationId xmlns:a16="http://schemas.microsoft.com/office/drawing/2014/main" id="{F4B8F29C-8C43-C9C7-653E-5FE4F8FF1563}"/>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450835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090" y="249215"/>
            <a:ext cx="9144000" cy="750956"/>
          </a:xfrm>
        </p:spPr>
        <p:txBody>
          <a:bodyPr>
            <a:normAutofit/>
          </a:bodyPr>
          <a:lstStyle/>
          <a:p>
            <a:r>
              <a:rPr lang="en-US" sz="4000" b="1" err="1">
                <a:solidFill>
                  <a:srgbClr val="0070C0"/>
                </a:solidFill>
                <a:latin typeface="Times New Roman" panose="02020603050405020304" pitchFamily="18" charset="0"/>
                <a:cs typeface="Times New Roman" panose="02020603050405020304" pitchFamily="18" charset="0"/>
              </a:rPr>
              <a:t>Ekler</a:t>
            </a:r>
            <a:endParaRPr lang="tr-TR" sz="4000" b="1">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V="1">
            <a:off x="0" y="1227317"/>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0440"/>
            <a:ext cx="12192000" cy="257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48" y="306044"/>
            <a:ext cx="1171978" cy="646331"/>
          </a:xfrm>
          <a:prstGeom prst="rect">
            <a:avLst/>
          </a:prstGeom>
          <a:noFill/>
          <a:ln>
            <a:solidFill>
              <a:schemeClr val="tx1"/>
            </a:solidFill>
          </a:ln>
        </p:spPr>
        <p:txBody>
          <a:bodyPr wrap="square" rtlCol="0">
            <a:spAutoFit/>
          </a:bodyPr>
          <a:lstStyle/>
          <a:p>
            <a:pPr algn="ctr"/>
            <a:r>
              <a:rPr lang="tr-T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34</a:t>
            </a:fld>
            <a:endParaRPr lang="tr-TR"/>
          </a:p>
        </p:txBody>
      </p:sp>
      <p:sp>
        <p:nvSpPr>
          <p:cNvPr id="4" name="Date Placeholder 3"/>
          <p:cNvSpPr>
            <a:spLocks noGrp="1"/>
          </p:cNvSpPr>
          <p:nvPr>
            <p:ph type="dt" sz="half" idx="10"/>
          </p:nvPr>
        </p:nvSpPr>
        <p:spPr/>
        <p:txBody>
          <a:bodyPr/>
          <a:lstStyle/>
          <a:p>
            <a:fld id="{EDD7EE19-348B-4A60-8810-E2854B3ED486}" type="datetime2">
              <a:rPr lang="tr-TR" smtClean="0"/>
              <a:t>7 Temmuz 2025 Pazartesi</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10979840" y="0"/>
            <a:ext cx="1212160" cy="1212160"/>
          </a:xfrm>
          <a:prstGeom prst="rect">
            <a:avLst/>
          </a:prstGeom>
        </p:spPr>
      </p:pic>
      <p:sp>
        <p:nvSpPr>
          <p:cNvPr id="12" name="TextBox 9">
            <a:extLst>
              <a:ext uri="{FF2B5EF4-FFF2-40B4-BE49-F238E27FC236}">
                <a16:creationId xmlns:a16="http://schemas.microsoft.com/office/drawing/2014/main" id="{3CD0DDAB-7119-84F6-7E4A-148C37B613A5}"/>
              </a:ext>
            </a:extLst>
          </p:cNvPr>
          <p:cNvSpPr txBox="1"/>
          <p:nvPr/>
        </p:nvSpPr>
        <p:spPr>
          <a:xfrm>
            <a:off x="77190" y="1090323"/>
            <a:ext cx="12184752" cy="3139321"/>
          </a:xfrm>
          <a:prstGeom prst="rect">
            <a:avLst/>
          </a:prstGeom>
          <a:noFill/>
        </p:spPr>
        <p:txBody>
          <a:bodyPr wrap="square" rtlCol="0">
            <a:spAutoFit/>
          </a:bodyPr>
          <a:lstStyle/>
          <a:p>
            <a:endParaRPr lang="en-US" b="1" dirty="0"/>
          </a:p>
          <a:p>
            <a:pPr marL="285750" indent="-285750">
              <a:buFont typeface="Arial" panose="020B0604020202020204" pitchFamily="34" charset="0"/>
              <a:buChar char="•"/>
            </a:pPr>
            <a:r>
              <a:rPr lang="en-US" dirty="0">
                <a:solidFill>
                  <a:prstClr val="black"/>
                </a:solidFill>
              </a:rPr>
              <a:t>AHR </a:t>
            </a:r>
            <a:r>
              <a:rPr lang="en-US" dirty="0" err="1">
                <a:solidFill>
                  <a:prstClr val="black"/>
                </a:solidFill>
              </a:rPr>
              <a:t>ile</a:t>
            </a:r>
            <a:r>
              <a:rPr lang="en-US" dirty="0">
                <a:solidFill>
                  <a:prstClr val="black"/>
                </a:solidFill>
              </a:rPr>
              <a:t> </a:t>
            </a:r>
            <a:r>
              <a:rPr lang="en-US" dirty="0" err="1">
                <a:solidFill>
                  <a:prstClr val="black"/>
                </a:solidFill>
              </a:rPr>
              <a:t>birlikte</a:t>
            </a:r>
            <a:r>
              <a:rPr lang="en-US" dirty="0">
                <a:solidFill>
                  <a:prstClr val="black"/>
                </a:solidFill>
              </a:rPr>
              <a:t> </a:t>
            </a:r>
            <a:r>
              <a:rPr lang="en-US" dirty="0" err="1">
                <a:solidFill>
                  <a:prstClr val="black"/>
                </a:solidFill>
              </a:rPr>
              <a:t>takımlar</a:t>
            </a:r>
            <a:r>
              <a:rPr lang="en-US" dirty="0">
                <a:solidFill>
                  <a:prstClr val="black"/>
                </a:solidFill>
              </a:rPr>
              <a:t> PDF </a:t>
            </a:r>
            <a:r>
              <a:rPr lang="en-US" dirty="0" err="1">
                <a:solidFill>
                  <a:prstClr val="black"/>
                </a:solidFill>
              </a:rPr>
              <a:t>formatında</a:t>
            </a:r>
            <a:r>
              <a:rPr lang="en-US" dirty="0">
                <a:solidFill>
                  <a:prstClr val="black"/>
                </a:solidFill>
              </a:rPr>
              <a:t> </a:t>
            </a:r>
            <a:r>
              <a:rPr lang="en-US" dirty="0" err="1">
                <a:solidFill>
                  <a:prstClr val="black"/>
                </a:solidFill>
              </a:rPr>
              <a:t>bir</a:t>
            </a:r>
            <a:r>
              <a:rPr lang="en-US" dirty="0">
                <a:solidFill>
                  <a:prstClr val="black"/>
                </a:solidFill>
              </a:rPr>
              <a:t> poster </a:t>
            </a:r>
            <a:r>
              <a:rPr lang="en-US" dirty="0" err="1">
                <a:solidFill>
                  <a:prstClr val="black"/>
                </a:solidFill>
              </a:rPr>
              <a:t>hazırlamalı</a:t>
            </a:r>
            <a:r>
              <a:rPr lang="en-US" dirty="0">
                <a:solidFill>
                  <a:prstClr val="black"/>
                </a:solidFill>
              </a:rPr>
              <a:t> ve </a:t>
            </a:r>
            <a:r>
              <a:rPr lang="en-US" dirty="0" err="1">
                <a:solidFill>
                  <a:prstClr val="black"/>
                </a:solidFill>
              </a:rPr>
              <a:t>sisteme</a:t>
            </a:r>
            <a:r>
              <a:rPr lang="en-US" dirty="0">
                <a:solidFill>
                  <a:prstClr val="black"/>
                </a:solidFill>
              </a:rPr>
              <a:t> </a:t>
            </a:r>
            <a:r>
              <a:rPr lang="en-US" dirty="0" err="1">
                <a:solidFill>
                  <a:prstClr val="black"/>
                </a:solidFill>
              </a:rPr>
              <a:t>yüklemelidir</a:t>
            </a:r>
            <a:r>
              <a:rPr lang="en-US" dirty="0">
                <a:solidFill>
                  <a:prstClr val="black"/>
                </a:solidFill>
              </a:rPr>
              <a:t>. Poster </a:t>
            </a:r>
            <a:r>
              <a:rPr lang="en-US" dirty="0" err="1">
                <a:solidFill>
                  <a:prstClr val="black"/>
                </a:solidFill>
              </a:rPr>
              <a:t>aşağıdaki</a:t>
            </a:r>
            <a:r>
              <a:rPr lang="en-US" dirty="0">
                <a:solidFill>
                  <a:prstClr val="black"/>
                </a:solidFill>
              </a:rPr>
              <a:t> </a:t>
            </a:r>
            <a:r>
              <a:rPr lang="en-US" dirty="0" err="1">
                <a:solidFill>
                  <a:prstClr val="black"/>
                </a:solidFill>
              </a:rPr>
              <a:t>özellikleri</a:t>
            </a:r>
            <a:r>
              <a:rPr lang="en-US" dirty="0">
                <a:solidFill>
                  <a:prstClr val="black"/>
                </a:solidFill>
              </a:rPr>
              <a:t> </a:t>
            </a:r>
            <a:r>
              <a:rPr lang="en-US" dirty="0" err="1">
                <a:solidFill>
                  <a:prstClr val="black"/>
                </a:solidFill>
              </a:rPr>
              <a:t>taşımalıdır</a:t>
            </a:r>
            <a:r>
              <a:rPr lang="en-US" dirty="0">
                <a:solidFill>
                  <a:prstClr val="black"/>
                </a:solidFill>
              </a:rPr>
              <a:t>.</a:t>
            </a:r>
          </a:p>
          <a:p>
            <a:pPr marL="742950" lvl="1" indent="-285750">
              <a:buFont typeface="Arial" panose="020B0604020202020204" pitchFamily="34" charset="0"/>
              <a:buChar char="•"/>
            </a:pPr>
            <a:r>
              <a:rPr lang="en-US" dirty="0">
                <a:solidFill>
                  <a:prstClr val="black"/>
                </a:solidFill>
              </a:rPr>
              <a:t>Poster A2 </a:t>
            </a:r>
            <a:r>
              <a:rPr lang="en-US" dirty="0" err="1">
                <a:solidFill>
                  <a:prstClr val="black"/>
                </a:solidFill>
              </a:rPr>
              <a:t>ölçülerindea</a:t>
            </a:r>
            <a:r>
              <a:rPr lang="en-US" dirty="0">
                <a:solidFill>
                  <a:prstClr val="black"/>
                </a:solidFill>
              </a:rPr>
              <a:t> </a:t>
            </a:r>
            <a:r>
              <a:rPr lang="en-US" dirty="0" err="1">
                <a:solidFill>
                  <a:prstClr val="black"/>
                </a:solidFill>
              </a:rPr>
              <a:t>olmalıdır</a:t>
            </a:r>
            <a:r>
              <a:rPr lang="en-US" dirty="0">
                <a:solidFill>
                  <a:prstClr val="black"/>
                </a:solidFill>
              </a:rPr>
              <a:t>. </a:t>
            </a:r>
          </a:p>
          <a:p>
            <a:pPr marL="742950" lvl="1" indent="-285750">
              <a:buFont typeface="Arial" panose="020B0604020202020204" pitchFamily="34" charset="0"/>
              <a:buChar char="•"/>
            </a:pPr>
            <a:r>
              <a:rPr lang="en-US" dirty="0" err="1">
                <a:solidFill>
                  <a:prstClr val="black"/>
                </a:solidFill>
              </a:rPr>
              <a:t>Dosya</a:t>
            </a:r>
            <a:r>
              <a:rPr lang="en-US" dirty="0">
                <a:solidFill>
                  <a:prstClr val="black"/>
                </a:solidFill>
              </a:rPr>
              <a:t> </a:t>
            </a:r>
            <a:r>
              <a:rPr lang="en-US" dirty="0" err="1">
                <a:solidFill>
                  <a:prstClr val="black"/>
                </a:solidFill>
              </a:rPr>
              <a:t>boyutu</a:t>
            </a:r>
            <a:r>
              <a:rPr lang="en-US" dirty="0">
                <a:solidFill>
                  <a:prstClr val="black"/>
                </a:solidFill>
              </a:rPr>
              <a:t> 15 M</a:t>
            </a:r>
            <a:r>
              <a:rPr lang="tr-TR" dirty="0">
                <a:solidFill>
                  <a:prstClr val="black"/>
                </a:solidFill>
              </a:rPr>
              <a:t>B </a:t>
            </a:r>
            <a:r>
              <a:rPr lang="en-US" dirty="0" err="1">
                <a:solidFill>
                  <a:prstClr val="black"/>
                </a:solidFill>
              </a:rPr>
              <a:t>geçmemelidir</a:t>
            </a:r>
            <a:r>
              <a:rPr lang="en-US" dirty="0">
                <a:solidFill>
                  <a:prstClr val="black"/>
                </a:solidFill>
              </a:rPr>
              <a:t>.</a:t>
            </a:r>
          </a:p>
          <a:p>
            <a:pPr marL="742950" lvl="1" indent="-285750">
              <a:buFont typeface="Arial" panose="020B0604020202020204" pitchFamily="34" charset="0"/>
              <a:buChar char="•"/>
            </a:pPr>
            <a:r>
              <a:rPr lang="en-US" dirty="0">
                <a:solidFill>
                  <a:prstClr val="black"/>
                </a:solidFill>
              </a:rPr>
              <a:t>Poster </a:t>
            </a:r>
            <a:r>
              <a:rPr lang="en-US" dirty="0" err="1">
                <a:solidFill>
                  <a:prstClr val="black"/>
                </a:solidFill>
              </a:rPr>
              <a:t>roketin</a:t>
            </a:r>
            <a:r>
              <a:rPr lang="en-US" dirty="0">
                <a:solidFill>
                  <a:prstClr val="black"/>
                </a:solidFill>
              </a:rPr>
              <a:t> </a:t>
            </a:r>
            <a:r>
              <a:rPr lang="en-US" dirty="0" err="1">
                <a:solidFill>
                  <a:prstClr val="black"/>
                </a:solidFill>
              </a:rPr>
              <a:t>tasarımını</a:t>
            </a:r>
            <a:r>
              <a:rPr lang="en-US" dirty="0">
                <a:solidFill>
                  <a:prstClr val="black"/>
                </a:solidFill>
              </a:rPr>
              <a:t> </a:t>
            </a:r>
            <a:r>
              <a:rPr lang="en-US" dirty="0" err="1">
                <a:solidFill>
                  <a:prstClr val="black"/>
                </a:solidFill>
              </a:rPr>
              <a:t>anlatan</a:t>
            </a:r>
            <a:r>
              <a:rPr lang="en-US" dirty="0">
                <a:solidFill>
                  <a:prstClr val="black"/>
                </a:solidFill>
              </a:rPr>
              <a:t> </a:t>
            </a:r>
            <a:r>
              <a:rPr lang="en-US" dirty="0" err="1">
                <a:solidFill>
                  <a:prstClr val="black"/>
                </a:solidFill>
              </a:rPr>
              <a:t>tek</a:t>
            </a:r>
            <a:r>
              <a:rPr lang="en-US" dirty="0">
                <a:solidFill>
                  <a:prstClr val="black"/>
                </a:solidFill>
              </a:rPr>
              <a:t> </a:t>
            </a:r>
            <a:r>
              <a:rPr lang="en-US" dirty="0" err="1">
                <a:solidFill>
                  <a:prstClr val="black"/>
                </a:solidFill>
              </a:rPr>
              <a:t>bir</a:t>
            </a:r>
            <a:r>
              <a:rPr lang="en-US" dirty="0">
                <a:solidFill>
                  <a:prstClr val="black"/>
                </a:solidFill>
              </a:rPr>
              <a:t> </a:t>
            </a:r>
            <a:r>
              <a:rPr lang="en-US" dirty="0" err="1">
                <a:solidFill>
                  <a:prstClr val="black"/>
                </a:solidFill>
              </a:rPr>
              <a:t>sayfadan</a:t>
            </a:r>
            <a:r>
              <a:rPr lang="en-US" dirty="0">
                <a:solidFill>
                  <a:prstClr val="black"/>
                </a:solidFill>
              </a:rPr>
              <a:t> </a:t>
            </a:r>
            <a:r>
              <a:rPr lang="en-US" dirty="0" err="1">
                <a:solidFill>
                  <a:prstClr val="black"/>
                </a:solidFill>
              </a:rPr>
              <a:t>oluşmalıdır</a:t>
            </a:r>
            <a:r>
              <a:rPr lang="en-US" dirty="0">
                <a:solidFill>
                  <a:prstClr val="black"/>
                </a:solidFill>
              </a:rPr>
              <a:t>.</a:t>
            </a:r>
          </a:p>
          <a:p>
            <a:pPr marL="742950" lvl="1" indent="-285750">
              <a:buFont typeface="Arial" panose="020B0604020202020204" pitchFamily="34" charset="0"/>
              <a:buChar char="•"/>
            </a:pPr>
            <a:r>
              <a:rPr lang="en-US" dirty="0" err="1">
                <a:solidFill>
                  <a:prstClr val="black"/>
                </a:solidFill>
              </a:rPr>
              <a:t>Postere</a:t>
            </a:r>
            <a:r>
              <a:rPr lang="en-US" dirty="0">
                <a:solidFill>
                  <a:prstClr val="black"/>
                </a:solidFill>
              </a:rPr>
              <a:t> </a:t>
            </a:r>
            <a:r>
              <a:rPr lang="en-US" dirty="0" err="1">
                <a:solidFill>
                  <a:prstClr val="black"/>
                </a:solidFill>
              </a:rPr>
              <a:t>bakan</a:t>
            </a:r>
            <a:r>
              <a:rPr lang="en-US" dirty="0">
                <a:solidFill>
                  <a:prstClr val="black"/>
                </a:solidFill>
              </a:rPr>
              <a:t> </a:t>
            </a:r>
            <a:r>
              <a:rPr lang="en-US" dirty="0" err="1">
                <a:solidFill>
                  <a:prstClr val="black"/>
                </a:solidFill>
              </a:rPr>
              <a:t>bir</a:t>
            </a:r>
            <a:r>
              <a:rPr lang="en-US" dirty="0">
                <a:solidFill>
                  <a:prstClr val="black"/>
                </a:solidFill>
              </a:rPr>
              <a:t> </a:t>
            </a:r>
            <a:r>
              <a:rPr lang="en-US" dirty="0" err="1">
                <a:solidFill>
                  <a:prstClr val="black"/>
                </a:solidFill>
              </a:rPr>
              <a:t>kişi</a:t>
            </a:r>
            <a:r>
              <a:rPr lang="en-US" dirty="0">
                <a:solidFill>
                  <a:prstClr val="black"/>
                </a:solidFill>
              </a:rPr>
              <a:t> </a:t>
            </a:r>
            <a:r>
              <a:rPr lang="en-US" dirty="0" err="1">
                <a:solidFill>
                  <a:prstClr val="black"/>
                </a:solidFill>
              </a:rPr>
              <a:t>roketin</a:t>
            </a:r>
            <a:r>
              <a:rPr lang="en-US" dirty="0">
                <a:solidFill>
                  <a:prstClr val="black"/>
                </a:solidFill>
              </a:rPr>
              <a:t> </a:t>
            </a:r>
            <a:r>
              <a:rPr lang="en-US" dirty="0" err="1">
                <a:solidFill>
                  <a:prstClr val="black"/>
                </a:solidFill>
              </a:rPr>
              <a:t>bütün</a:t>
            </a:r>
            <a:r>
              <a:rPr lang="en-US" dirty="0">
                <a:solidFill>
                  <a:prstClr val="black"/>
                </a:solidFill>
              </a:rPr>
              <a:t> </a:t>
            </a:r>
            <a:r>
              <a:rPr lang="en-US" dirty="0" err="1">
                <a:solidFill>
                  <a:prstClr val="black"/>
                </a:solidFill>
              </a:rPr>
              <a:t>sistemlerini</a:t>
            </a:r>
            <a:r>
              <a:rPr lang="en-US" dirty="0">
                <a:solidFill>
                  <a:prstClr val="black"/>
                </a:solidFill>
              </a:rPr>
              <a:t> </a:t>
            </a:r>
            <a:r>
              <a:rPr lang="en-US" dirty="0" err="1">
                <a:solidFill>
                  <a:prstClr val="black"/>
                </a:solidFill>
              </a:rPr>
              <a:t>tanıyabilmelidir</a:t>
            </a:r>
            <a:r>
              <a:rPr lang="en-US" dirty="0">
                <a:solidFill>
                  <a:prstClr val="black"/>
                </a:solidFill>
              </a:rPr>
              <a:t>.</a:t>
            </a:r>
          </a:p>
          <a:p>
            <a:pPr marL="742950" lvl="1" indent="-285750">
              <a:buFont typeface="Arial" panose="020B0604020202020204" pitchFamily="34" charset="0"/>
              <a:buChar char="•"/>
            </a:pPr>
            <a:r>
              <a:rPr lang="en-US" dirty="0" err="1">
                <a:solidFill>
                  <a:prstClr val="black"/>
                </a:solidFill>
              </a:rPr>
              <a:t>Yarışma</a:t>
            </a:r>
            <a:r>
              <a:rPr lang="en-US" dirty="0">
                <a:solidFill>
                  <a:prstClr val="black"/>
                </a:solidFill>
              </a:rPr>
              <a:t> </a:t>
            </a:r>
            <a:r>
              <a:rPr lang="en-US" dirty="0" err="1">
                <a:solidFill>
                  <a:prstClr val="black"/>
                </a:solidFill>
              </a:rPr>
              <a:t>alanına</a:t>
            </a:r>
            <a:r>
              <a:rPr lang="en-US" dirty="0">
                <a:solidFill>
                  <a:prstClr val="black"/>
                </a:solidFill>
              </a:rPr>
              <a:t> </a:t>
            </a:r>
            <a:r>
              <a:rPr lang="en-US" dirty="0" err="1">
                <a:solidFill>
                  <a:prstClr val="black"/>
                </a:solidFill>
              </a:rPr>
              <a:t>posterin</a:t>
            </a:r>
            <a:r>
              <a:rPr lang="en-US" dirty="0">
                <a:solidFill>
                  <a:prstClr val="black"/>
                </a:solidFill>
              </a:rPr>
              <a:t> </a:t>
            </a:r>
            <a:r>
              <a:rPr lang="en-US" dirty="0" err="1">
                <a:solidFill>
                  <a:prstClr val="black"/>
                </a:solidFill>
              </a:rPr>
              <a:t>basılmış</a:t>
            </a:r>
            <a:r>
              <a:rPr lang="en-US" dirty="0">
                <a:solidFill>
                  <a:prstClr val="black"/>
                </a:solidFill>
              </a:rPr>
              <a:t> </a:t>
            </a:r>
            <a:r>
              <a:rPr lang="en-US" dirty="0" err="1">
                <a:solidFill>
                  <a:prstClr val="black"/>
                </a:solidFill>
              </a:rPr>
              <a:t>hali</a:t>
            </a:r>
            <a:r>
              <a:rPr lang="en-US" dirty="0">
                <a:solidFill>
                  <a:prstClr val="black"/>
                </a:solidFill>
              </a:rPr>
              <a:t> </a:t>
            </a:r>
            <a:r>
              <a:rPr lang="en-US" dirty="0" err="1">
                <a:solidFill>
                  <a:prstClr val="black"/>
                </a:solidFill>
              </a:rPr>
              <a:t>getirilmelidir</a:t>
            </a:r>
            <a:r>
              <a:rPr lang="en-US" dirty="0">
                <a:solidFill>
                  <a:prstClr val="black"/>
                </a:solidFill>
              </a:rPr>
              <a:t>.</a:t>
            </a:r>
          </a:p>
          <a:p>
            <a:pPr lvl="1"/>
            <a:endParaRPr lang="en-US" dirty="0">
              <a:solidFill>
                <a:prstClr val="black"/>
              </a:solidFill>
            </a:endParaRPr>
          </a:p>
          <a:p>
            <a:pPr marL="285750" indent="-285750">
              <a:buFont typeface="Arial" panose="020B0604020202020204" pitchFamily="34" charset="0"/>
              <a:buChar char="•"/>
            </a:pPr>
            <a:r>
              <a:rPr lang="en-US" dirty="0" err="1">
                <a:solidFill>
                  <a:prstClr val="black"/>
                </a:solidFill>
              </a:rPr>
              <a:t>Güncel</a:t>
            </a:r>
            <a:r>
              <a:rPr lang="en-US" dirty="0">
                <a:solidFill>
                  <a:prstClr val="black"/>
                </a:solidFill>
              </a:rPr>
              <a:t> </a:t>
            </a:r>
            <a:r>
              <a:rPr lang="en-US" dirty="0" err="1">
                <a:solidFill>
                  <a:prstClr val="black"/>
                </a:solidFill>
              </a:rPr>
              <a:t>OpenRocket</a:t>
            </a:r>
            <a:r>
              <a:rPr lang="en-US" dirty="0">
                <a:solidFill>
                  <a:prstClr val="black"/>
                </a:solidFill>
              </a:rPr>
              <a:t> </a:t>
            </a:r>
            <a:r>
              <a:rPr lang="en-US" dirty="0" err="1">
                <a:solidFill>
                  <a:prstClr val="black"/>
                </a:solidFill>
              </a:rPr>
              <a:t>dosyası</a:t>
            </a:r>
            <a:r>
              <a:rPr lang="en-US" dirty="0">
                <a:solidFill>
                  <a:prstClr val="black"/>
                </a:solidFill>
              </a:rPr>
              <a:t> </a:t>
            </a:r>
            <a:r>
              <a:rPr lang="en-US" dirty="0" err="1">
                <a:solidFill>
                  <a:prstClr val="black"/>
                </a:solidFill>
              </a:rPr>
              <a:t>paylaşılmalıdır</a:t>
            </a:r>
            <a:r>
              <a:rPr lang="en-US" dirty="0">
                <a:solidFill>
                  <a:prstClr val="black"/>
                </a:solidFill>
              </a:rPr>
              <a:t>.</a:t>
            </a:r>
          </a:p>
          <a:p>
            <a:endParaRPr lang="tr-TR" dirty="0">
              <a:solidFill>
                <a:prstClr val="black"/>
              </a:solidFill>
            </a:endParaRPr>
          </a:p>
          <a:p>
            <a:endParaRPr lang="tr-TR" dirty="0"/>
          </a:p>
        </p:txBody>
      </p:sp>
      <p:sp>
        <p:nvSpPr>
          <p:cNvPr id="7" name="Footer Placeholder 8">
            <a:extLst>
              <a:ext uri="{FF2B5EF4-FFF2-40B4-BE49-F238E27FC236}">
                <a16:creationId xmlns:a16="http://schemas.microsoft.com/office/drawing/2014/main" id="{DAEC6902-2EB6-B3A8-5020-568E325AD29B}"/>
              </a:ext>
            </a:extLst>
          </p:cNvPr>
          <p:cNvSpPr>
            <a:spLocks noGrp="1"/>
          </p:cNvSpPr>
          <p:nvPr>
            <p:ph type="ftr" sz="quarter" idx="11"/>
          </p:nvPr>
        </p:nvSpPr>
        <p:spPr>
          <a:xfrm>
            <a:off x="2533935" y="6356350"/>
            <a:ext cx="7124131" cy="365125"/>
          </a:xfrm>
        </p:spPr>
        <p:txBody>
          <a:bodyPr/>
          <a:lstStyle/>
          <a:p>
            <a:r>
              <a:rPr lang="tr-TR" dirty="0"/>
              <a:t>TEKNOFEST </a:t>
            </a:r>
            <a:r>
              <a:rPr lang="en-US" dirty="0"/>
              <a:t>2025 </a:t>
            </a:r>
            <a:r>
              <a:rPr lang="tr-TR" dirty="0"/>
              <a:t>ROKET YARIŞMASI </a:t>
            </a:r>
            <a:r>
              <a:rPr lang="en-US" dirty="0"/>
              <a:t>ATIŞA HAZIRLIK </a:t>
            </a:r>
            <a:r>
              <a:rPr lang="tr-TR" dirty="0"/>
              <a:t>RAPORU (</a:t>
            </a:r>
            <a:r>
              <a:rPr lang="en-US" dirty="0"/>
              <a:t>AHR</a:t>
            </a:r>
            <a:r>
              <a:rPr lang="tr-TR" dirty="0"/>
              <a:t>)</a:t>
            </a:r>
          </a:p>
        </p:txBody>
      </p:sp>
    </p:spTree>
    <p:extLst>
      <p:ext uri="{BB962C8B-B14F-4D97-AF65-F5344CB8AC3E}">
        <p14:creationId xmlns:p14="http://schemas.microsoft.com/office/powerpoint/2010/main" val="3585501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61b51cf-fae4-4b8b-9079-6f1d3d578e1c">
      <Terms xmlns="http://schemas.microsoft.com/office/infopath/2007/PartnerControls"/>
    </lcf76f155ced4ddcb4097134ff3c332f>
    <TaxCatchAll xmlns="032345de-d3c7-4adb-be82-da5257eb009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Belge" ma:contentTypeID="0x010100D470C76E1B2F514D9D930B6B0DCD220C" ma:contentTypeVersion="19" ma:contentTypeDescription="Yeni belge oluşturun." ma:contentTypeScope="" ma:versionID="ffdacd64e6534a5e5b66342426402cd5">
  <xsd:schema xmlns:xsd="http://www.w3.org/2001/XMLSchema" xmlns:xs="http://www.w3.org/2001/XMLSchema" xmlns:p="http://schemas.microsoft.com/office/2006/metadata/properties" xmlns:ns2="461b51cf-fae4-4b8b-9079-6f1d3d578e1c" xmlns:ns3="032345de-d3c7-4adb-be82-da5257eb0095" targetNamespace="http://schemas.microsoft.com/office/2006/metadata/properties" ma:root="true" ma:fieldsID="2fbe7514ac5167ed826c5b14262ef020" ns2:_="" ns3:_="">
    <xsd:import namespace="461b51cf-fae4-4b8b-9079-6f1d3d578e1c"/>
    <xsd:import namespace="032345de-d3c7-4adb-be82-da5257eb00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1b51cf-fae4-4b8b-9079-6f1d3d578e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Resim Etiketleri" ma:readOnly="false" ma:fieldId="{5cf76f15-5ced-4ddc-b409-7134ff3c332f}" ma:taxonomyMulti="true" ma:sspId="bdb4ad91-825d-4c05-aaca-780a7ecb51f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32345de-d3c7-4adb-be82-da5257eb0095" elementFormDefault="qualified">
    <xsd:import namespace="http://schemas.microsoft.com/office/2006/documentManagement/types"/>
    <xsd:import namespace="http://schemas.microsoft.com/office/infopath/2007/PartnerControls"/>
    <xsd:element name="SharedWithUsers" ma:index="17" nillable="true" ma:displayName="Paylaşılanla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Ayrıntıları ile Paylaşıldı" ma:internalName="SharedWithDetails" ma:readOnly="true">
      <xsd:simpleType>
        <xsd:restriction base="dms:Note">
          <xsd:maxLength value="255"/>
        </xsd:restriction>
      </xsd:simpleType>
    </xsd:element>
    <xsd:element name="TaxCatchAll" ma:index="23" nillable="true" ma:displayName="Taxonomy Catch All Column" ma:hidden="true" ma:list="{1c0fb8eb-6259-4744-843d-a9c21058576c}" ma:internalName="TaxCatchAll" ma:showField="CatchAllData" ma:web="032345de-d3c7-4adb-be82-da5257eb00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805C14-D00C-4E76-AD8D-B250903F149A}">
  <ds:schemaRefs>
    <ds:schemaRef ds:uri="http://schemas.microsoft.com/office/2006/documentManagement/types"/>
    <ds:schemaRef ds:uri="032345de-d3c7-4adb-be82-da5257eb0095"/>
    <ds:schemaRef ds:uri="http://purl.org/dc/dcmitype/"/>
    <ds:schemaRef ds:uri="461b51cf-fae4-4b8b-9079-6f1d3d578e1c"/>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E83058BD-A0CD-470A-8D56-E175B799EC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1b51cf-fae4-4b8b-9079-6f1d3d578e1c"/>
    <ds:schemaRef ds:uri="032345de-d3c7-4adb-be82-da5257eb00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68348-835B-4846-8DB5-B0263AB4AB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361</TotalTime>
  <Words>3573</Words>
  <Application>Microsoft Office PowerPoint</Application>
  <PresentationFormat>Widescreen</PresentationFormat>
  <Paragraphs>570</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Calibri Light</vt:lpstr>
      <vt:lpstr>Mangal</vt:lpstr>
      <vt:lpstr>Microsoft Sans Serif</vt:lpstr>
      <vt:lpstr>Times New Roman</vt:lpstr>
      <vt:lpstr>Wingdings</vt:lpstr>
      <vt:lpstr>Office Theme</vt:lpstr>
      <vt:lpstr>UYARI  - 1</vt:lpstr>
      <vt:lpstr>UYARI - 2</vt:lpstr>
      <vt:lpstr>TEKNOFEST 2025 ROKET YARIŞMASI (YARIŞMA KATEGORİSİ) Atışa Hazırlık Raporu (AHR) Sunuşu (TAKIM ADI)</vt:lpstr>
      <vt:lpstr>OpenRocket / Roket Tasarımı Genel Görünüm</vt:lpstr>
      <vt:lpstr>Statik Marjin / Son Simulasyon </vt:lpstr>
      <vt:lpstr>Roket Alt Sistemleri Mekanik Görünümleri ve Detayları </vt:lpstr>
      <vt:lpstr>Kurtarma Sistemi Mekanik Görünüm </vt:lpstr>
      <vt:lpstr>Kurtarma Sistemi Mekanik Görünüm </vt:lpstr>
      <vt:lpstr>Görev Yükü Mekanik Görünüm</vt:lpstr>
      <vt:lpstr>Kademe Ayırma Sistemi Mekanik Görünüm </vt:lpstr>
      <vt:lpstr>Özgün Hibrit İtki Sistemi Mekanik Görünüm </vt:lpstr>
      <vt:lpstr>PowerPoint Presentation</vt:lpstr>
      <vt:lpstr>PowerPoint Presentation</vt:lpstr>
      <vt:lpstr>PowerPoint Presentation</vt:lpstr>
      <vt:lpstr>PowerPoint Presentation</vt:lpstr>
      <vt:lpstr>Burun Konisi Mekanik Görünüm</vt:lpstr>
      <vt:lpstr>Kanatçık Mekanik Görünüm</vt:lpstr>
      <vt:lpstr>Gövde Parçaları &amp; Gövde Montaj Parçaları (YAPISAL) Mekanik Görünüm</vt:lpstr>
      <vt:lpstr>Yapısal – Gövde/Gövde İçi Yapısal Destekler (Entegrasyon Gövdeleri vb.) </vt:lpstr>
      <vt:lpstr>Motor Bölümü Mekanik Görünüm &amp; Detay </vt:lpstr>
      <vt:lpstr>Testler</vt:lpstr>
      <vt:lpstr>Testler Genel Bilgilendirme</vt:lpstr>
      <vt:lpstr>Kurtarma Sistemi – Roket Ayırma Testi</vt:lpstr>
      <vt:lpstr>Kurtarma Sistemi - Paraşüt Testi </vt:lpstr>
      <vt:lpstr>Yapısal – Dayanım Testi</vt:lpstr>
      <vt:lpstr>Roket Genel Montajı ve Atışa Hazırlık</vt:lpstr>
      <vt:lpstr>Aviyonik – Haberleşme Testi</vt:lpstr>
      <vt:lpstr>PowerPoint Presentation</vt:lpstr>
      <vt:lpstr>Aviyonik – Hakem Yer İstasyonu Testi</vt:lpstr>
      <vt:lpstr>Aviyonik – Özgün UKB Test Sistemi Bağlantı Testi</vt:lpstr>
      <vt:lpstr>Kademe Ayırma Sistemi Testleri </vt:lpstr>
      <vt:lpstr>Özgün İtki Sistemi Testleri</vt:lpstr>
      <vt:lpstr>Test Videoları Özet Tablosu</vt:lpstr>
      <vt:lpstr>Ekler</vt:lpstr>
    </vt:vector>
  </TitlesOfParts>
  <Company>Ford Otomotiv San. 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Erdi Coşkunpınar</dc:creator>
  <cp:keywords>Herkese Açık</cp:keywords>
  <cp:lastModifiedBy>Burhan Şahin</cp:lastModifiedBy>
  <cp:revision>11</cp:revision>
  <dcterms:created xsi:type="dcterms:W3CDTF">2018-04-02T10:57:15Z</dcterms:created>
  <dcterms:modified xsi:type="dcterms:W3CDTF">2025-07-07T16:01:42Z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e24b52de-3f7f-4829-ab57-dc337770eac8</vt:lpwstr>
  </property>
  <property fmtid="{D5CDD505-2E9C-101B-9397-08002B2CF9AE}" pid="3" name="Classification">
    <vt:lpwstr>Herkese Açık</vt:lpwstr>
  </property>
  <property fmtid="{D5CDD505-2E9C-101B-9397-08002B2CF9AE}" pid="4" name="ContentTypeId">
    <vt:lpwstr>0x010100D470C76E1B2F514D9D930B6B0DCD220C</vt:lpwstr>
  </property>
  <property fmtid="{D5CDD505-2E9C-101B-9397-08002B2CF9AE}" pid="5" name="MediaServiceImageTags">
    <vt:lpwstr/>
  </property>
</Properties>
</file>