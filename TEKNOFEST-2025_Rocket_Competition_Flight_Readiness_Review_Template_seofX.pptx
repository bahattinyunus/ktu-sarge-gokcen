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401" r:id="rId5"/>
    <p:sldId id="402" r:id="rId6"/>
    <p:sldId id="257" r:id="rId7"/>
    <p:sldId id="306" r:id="rId8"/>
    <p:sldId id="309" r:id="rId9"/>
    <p:sldId id="278" r:id="rId10"/>
    <p:sldId id="310" r:id="rId11"/>
    <p:sldId id="343" r:id="rId12"/>
    <p:sldId id="314" r:id="rId13"/>
    <p:sldId id="319" r:id="rId14"/>
    <p:sldId id="317" r:id="rId15"/>
    <p:sldId id="350" r:id="rId16"/>
    <p:sldId id="349" r:id="rId17"/>
    <p:sldId id="329" r:id="rId18"/>
    <p:sldId id="331" r:id="rId19"/>
    <p:sldId id="333" r:id="rId20"/>
    <p:sldId id="335" r:id="rId21"/>
    <p:sldId id="435" r:id="rId22"/>
    <p:sldId id="438" r:id="rId23"/>
    <p:sldId id="436" r:id="rId24"/>
    <p:sldId id="313" r:id="rId25"/>
    <p:sldId id="431" r:id="rId26"/>
    <p:sldId id="341" r:id="rId27"/>
    <p:sldId id="346" r:id="rId28"/>
    <p:sldId id="328" r:id="rId29"/>
    <p:sldId id="440" r:id="rId30"/>
    <p:sldId id="437" r:id="rId31"/>
    <p:sldId id="442" r:id="rId32"/>
    <p:sldId id="433" r:id="rId33"/>
    <p:sldId id="434" r:id="rId3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tılay Nebi ÇALLI" initials="ANÇ" lastIdx="2" clrIdx="0"/>
  <p:cmAuthor id="1" name="Ömer Uçar" initials="ÖU" lastIdx="7" clrIdx="1">
    <p:extLst>
      <p:ext uri="{19B8F6BF-5375-455C-9EA6-DF929625EA0E}">
        <p15:presenceInfo xmlns:p15="http://schemas.microsoft.com/office/powerpoint/2012/main" userId="S::omer@novartspace.com::56ddcf12-8561-4ea2-b115-5259abf44f6e" providerId="AD"/>
      </p:ext>
    </p:extLst>
  </p:cmAuthor>
  <p:cmAuthor id="2" name="Tegin Berkay Budak" initials="TBB" lastIdx="9" clrIdx="2">
    <p:extLst>
      <p:ext uri="{19B8F6BF-5375-455C-9EA6-DF929625EA0E}">
        <p15:presenceInfo xmlns:p15="http://schemas.microsoft.com/office/powerpoint/2012/main" userId="S::berkay@novartspace.com::f49d29bb-5561-4e6f-b0d2-79201e9303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37"/>
  </p:normalViewPr>
  <p:slideViewPr>
    <p:cSldViewPr snapToGrid="0">
      <p:cViewPr varScale="1">
        <p:scale>
          <a:sx n="79" d="100"/>
          <a:sy n="79" d="100"/>
        </p:scale>
        <p:origin x="86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55DFB-82F2-4C64-93E4-F10510A6B5EA}" type="datetimeFigureOut">
              <a:rPr lang="tr-TR" smtClean="0"/>
              <a:t>7.07.2025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0D787-957A-4C91-9FA2-965885DFC9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203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509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091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0051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7554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104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5864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6403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679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2460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5863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859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8375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8094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4921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8878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6643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4502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8123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587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2040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8834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405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6673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80D787-957A-4C91-9FA2-965885DFC9A9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051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16829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9529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60694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1932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9990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0D787-957A-4C91-9FA2-965885DFC9A9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2346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8CB2-9691-490D-9BE8-156B3BD3EDDA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64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2BE6-88A1-4636-8CD1-5CDE0647BA87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49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EF135-1B39-46F9-B480-EDB3F7E0C68A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827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39CA-2D14-4B38-AF06-14C43CD290E5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291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6FD2-488F-40DF-B568-34DEA0B57C64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346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6831-B416-4B9A-A450-170C5C34286D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733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9507-AD42-41CA-AEC4-E30B5C930225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200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BBE04-BFAD-4AC9-A91E-102D65BDF41E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342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B8DF-9B11-4B50-A31B-88D0FACB57D4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950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13AA-6CA4-4018-AB6A-83696F88837D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635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A6D07-2EAE-4316-B7DB-B0FB13467948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43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93D5B-6D19-4DFF-AD2B-3546E2B8FE94}" type="datetime2">
              <a:rPr lang="tr-TR" smtClean="0"/>
              <a:t>7 Temmuz 2025 Pazartesi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/>
              <a:t>2018 TEKNOFEST ROKET YARIŞMASI ÖNCÜL TASARIM RAPORU (ÖTR)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EDC82-49FF-42E3-B7EA-26FF728940D5}" type="slidenum">
              <a:rPr lang="tr-TR" smtClean="0"/>
              <a:t>‹#›</a:t>
            </a:fld>
            <a:endParaRPr lang="tr-TR"/>
          </a:p>
        </p:txBody>
      </p:sp>
      <p:sp>
        <p:nvSpPr>
          <p:cNvPr id="7" name="fr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endParaRPr lang="tr-TR" sz="850" b="0" i="0" u="none" baseline="0">
              <a:solidFill>
                <a:srgbClr val="FF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r" descr="Herkese Açık | Public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tr-TR" sz="850" b="0" i="0" u="none" baseline="0">
                <a:solidFill>
                  <a:srgbClr val="FF0000"/>
                </a:solidFill>
                <a:latin typeface="Microsoft Sans Serif" panose="020B0604020202020204" pitchFamily="34" charset="0"/>
              </a:rPr>
              <a:t>Herkese Açık | Public</a:t>
            </a:r>
          </a:p>
        </p:txBody>
      </p:sp>
    </p:spTree>
    <p:extLst>
      <p:ext uri="{BB962C8B-B14F-4D97-AF65-F5344CB8AC3E}">
        <p14:creationId xmlns:p14="http://schemas.microsoft.com/office/powerpoint/2010/main" val="1928742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847935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</a:t>
            </a:fld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143379" y="863088"/>
            <a:ext cx="1204862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Report Writing Rules and Formatting Guidelines</a:t>
            </a:r>
          </a:p>
          <a:p>
            <a:r>
              <a:rPr lang="en-US" sz="1200" b="1" dirty="0"/>
              <a:t>FONT AND SIZE</a:t>
            </a:r>
          </a:p>
          <a:p>
            <a:r>
              <a:rPr lang="en-US" sz="1200" b="1" dirty="0"/>
              <a:t>All text</a:t>
            </a:r>
            <a:r>
              <a:rPr lang="en-US" sz="1200" dirty="0"/>
              <a:t> (excluding tables):</a:t>
            </a:r>
          </a:p>
          <a:p>
            <a:pPr lvl="1"/>
            <a:r>
              <a:rPr lang="en-US" sz="1200" b="1" dirty="0"/>
              <a:t>Font:</a:t>
            </a:r>
            <a:r>
              <a:rPr lang="en-US" sz="1200" dirty="0"/>
              <a:t> Calibri</a:t>
            </a:r>
            <a:r>
              <a:rPr lang="tr-TR" sz="1200" dirty="0"/>
              <a:t>, </a:t>
            </a:r>
            <a:r>
              <a:rPr lang="en-US" sz="1200" b="1" dirty="0"/>
              <a:t>Minimum size:</a:t>
            </a:r>
            <a:r>
              <a:rPr lang="en-US" sz="1200" dirty="0"/>
              <a:t> 18 </a:t>
            </a:r>
            <a:r>
              <a:rPr lang="en-US" sz="1200" dirty="0" err="1"/>
              <a:t>pt</a:t>
            </a:r>
            <a:endParaRPr lang="en-US" sz="1200" dirty="0"/>
          </a:p>
          <a:p>
            <a:r>
              <a:rPr lang="en-US" sz="1200" b="1" dirty="0"/>
              <a:t>For tables only:</a:t>
            </a:r>
            <a:endParaRPr lang="en-US" sz="1200" dirty="0"/>
          </a:p>
          <a:p>
            <a:pPr lvl="1"/>
            <a:r>
              <a:rPr lang="en-US" sz="1200" b="1" dirty="0"/>
              <a:t>Font size:</a:t>
            </a:r>
            <a:r>
              <a:rPr lang="en-US" sz="1200" dirty="0"/>
              <a:t> 11 </a:t>
            </a:r>
            <a:r>
              <a:rPr lang="en-US" sz="1200" dirty="0" err="1"/>
              <a:t>pt</a:t>
            </a:r>
            <a:endParaRPr lang="en-US" sz="1200" dirty="0"/>
          </a:p>
          <a:p>
            <a:r>
              <a:rPr lang="en-US" sz="1200" b="1" dirty="0"/>
              <a:t>PROHIBITED FORMATTING</a:t>
            </a:r>
          </a:p>
          <a:p>
            <a:r>
              <a:rPr lang="en-US" sz="1200" b="1" dirty="0"/>
              <a:t>Paragraphs</a:t>
            </a:r>
            <a:r>
              <a:rPr lang="en-US" sz="1200" dirty="0"/>
              <a:t> must </a:t>
            </a:r>
            <a:r>
              <a:rPr lang="en-US" sz="1200" b="1" dirty="0"/>
              <a:t>not</a:t>
            </a:r>
            <a:r>
              <a:rPr lang="en-US" sz="1200" dirty="0"/>
              <a:t> contain:</a:t>
            </a:r>
          </a:p>
          <a:p>
            <a:pPr lvl="1"/>
            <a:r>
              <a:rPr lang="en-US" sz="1200" b="1" dirty="0"/>
              <a:t>Bold</a:t>
            </a:r>
            <a:r>
              <a:rPr lang="en-US" sz="1200" dirty="0"/>
              <a:t> text</a:t>
            </a:r>
            <a:r>
              <a:rPr lang="tr-TR" sz="1200" dirty="0"/>
              <a:t> &amp; </a:t>
            </a:r>
            <a:r>
              <a:rPr lang="en-US" sz="1200" b="1" dirty="0"/>
              <a:t>Highlighted</a:t>
            </a:r>
            <a:r>
              <a:rPr lang="en-US" sz="1200" dirty="0"/>
              <a:t> text</a:t>
            </a:r>
          </a:p>
          <a:p>
            <a:r>
              <a:rPr lang="en-US" sz="1200" b="1" dirty="0"/>
              <a:t>PAGE LAYOUT</a:t>
            </a:r>
          </a:p>
          <a:p>
            <a:r>
              <a:rPr lang="en-US" sz="1200" b="1" dirty="0"/>
              <a:t>The margin settings of the provided report template</a:t>
            </a:r>
            <a:r>
              <a:rPr lang="en-US" sz="1200" dirty="0"/>
              <a:t> must be strictly followed.</a:t>
            </a:r>
          </a:p>
          <a:p>
            <a:r>
              <a:rPr lang="en-US" sz="1200" b="1" dirty="0"/>
              <a:t>📝 Content Requirements and Evaluation</a:t>
            </a:r>
          </a:p>
          <a:p>
            <a:r>
              <a:rPr lang="en-US" sz="1200" b="1" dirty="0"/>
              <a:t>Requested information must be included in the relevant section</a:t>
            </a:r>
            <a:r>
              <a:rPr lang="en-US" sz="1200" dirty="0"/>
              <a:t> of the report.</a:t>
            </a:r>
            <a:endParaRPr lang="tr-TR" sz="1200" dirty="0"/>
          </a:p>
          <a:p>
            <a:r>
              <a:rPr lang="en-US" sz="1200" dirty="0"/>
              <a:t>Including it in another section will </a:t>
            </a:r>
            <a:r>
              <a:rPr lang="en-US" sz="1200" b="1" dirty="0"/>
              <a:t>not be scored.</a:t>
            </a:r>
            <a:endParaRPr lang="en-US" sz="1200" dirty="0"/>
          </a:p>
          <a:p>
            <a:r>
              <a:rPr lang="en-US" sz="1200" dirty="0"/>
              <a:t>According to disqualification criteria, if the </a:t>
            </a:r>
            <a:r>
              <a:rPr lang="en-US" sz="1200" b="1" dirty="0"/>
              <a:t>required information is not correctly reflected on the designated slide</a:t>
            </a:r>
            <a:r>
              <a:rPr lang="en-US" sz="1200" dirty="0"/>
              <a:t>, the team will be </a:t>
            </a:r>
            <a:r>
              <a:rPr lang="en-US" sz="1200" b="1" dirty="0"/>
              <a:t>disqualified</a:t>
            </a:r>
            <a:r>
              <a:rPr lang="en-US" sz="1200" dirty="0"/>
              <a:t>.</a:t>
            </a:r>
          </a:p>
          <a:p>
            <a:r>
              <a:rPr lang="en-US" sz="1200" b="1" dirty="0"/>
              <a:t>📐 Technical Drawings and Measurements</a:t>
            </a:r>
          </a:p>
          <a:p>
            <a:r>
              <a:rPr lang="en-US" sz="1200" b="1" dirty="0"/>
              <a:t>All dimensions provided must be accompanied by visuals</a:t>
            </a:r>
            <a:r>
              <a:rPr lang="en-US" sz="1200" dirty="0"/>
              <a:t> in proper </a:t>
            </a:r>
            <a:r>
              <a:rPr lang="en-US" sz="1200" b="1" dirty="0"/>
              <a:t>technical drawing format</a:t>
            </a:r>
            <a:r>
              <a:rPr lang="en-US" sz="1200" dirty="0"/>
              <a:t>.</a:t>
            </a:r>
          </a:p>
          <a:p>
            <a:r>
              <a:rPr lang="en-US" sz="1200" b="1" dirty="0"/>
              <a:t>All units must comply with the SI (International System of Units)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Measurements without units will </a:t>
            </a:r>
            <a:r>
              <a:rPr lang="en-US" sz="1200" b="1" dirty="0"/>
              <a:t>not be considered</a:t>
            </a:r>
            <a:r>
              <a:rPr lang="en-US" sz="1200" dirty="0"/>
              <a:t>.</a:t>
            </a:r>
          </a:p>
          <a:p>
            <a:r>
              <a:rPr lang="en-US" sz="1200" b="1" dirty="0"/>
              <a:t>📊 Tables and Charts</a:t>
            </a:r>
          </a:p>
          <a:p>
            <a:r>
              <a:rPr lang="en-US" sz="1200" b="1" dirty="0"/>
              <a:t>Table formats</a:t>
            </a:r>
            <a:r>
              <a:rPr lang="en-US" sz="1200" dirty="0"/>
              <a:t> must match the </a:t>
            </a:r>
            <a:r>
              <a:rPr lang="en-US" sz="1200" b="1" dirty="0"/>
              <a:t>format provided in the relevant slide</a:t>
            </a:r>
            <a:r>
              <a:rPr lang="en-US" sz="1200" dirty="0"/>
              <a:t>.</a:t>
            </a:r>
          </a:p>
          <a:p>
            <a:r>
              <a:rPr lang="en-US" sz="1200" b="1" dirty="0"/>
              <a:t>Each table and chart must have a title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Tables or charts </a:t>
            </a:r>
            <a:r>
              <a:rPr lang="en-US" sz="1200" b="1" dirty="0"/>
              <a:t>without a title will not be evaluated</a:t>
            </a:r>
            <a:r>
              <a:rPr lang="en-US" sz="1200" dirty="0"/>
              <a:t>.</a:t>
            </a:r>
          </a:p>
          <a:p>
            <a:r>
              <a:rPr lang="en-US" sz="1200" b="1" dirty="0"/>
              <a:t>Tables and charts</a:t>
            </a:r>
            <a:r>
              <a:rPr lang="en-US" sz="1200" dirty="0"/>
              <a:t> should have sizes </a:t>
            </a:r>
            <a:r>
              <a:rPr lang="en-US" sz="1200" b="1" dirty="0"/>
              <a:t>similar to those in the template</a:t>
            </a:r>
            <a:r>
              <a:rPr lang="en-US" sz="1200" dirty="0"/>
              <a:t>.</a:t>
            </a:r>
          </a:p>
          <a:p>
            <a:r>
              <a:rPr lang="en-US" sz="1200" b="1" dirty="0"/>
              <a:t>🔧 System Descriptions and Visual Aids</a:t>
            </a:r>
          </a:p>
          <a:p>
            <a:r>
              <a:rPr lang="en-US" sz="1200" b="1" dirty="0"/>
              <a:t>System-related descriptions</a:t>
            </a:r>
            <a:r>
              <a:rPr lang="en-US" sz="1200" dirty="0"/>
              <a:t> should be </a:t>
            </a:r>
            <a:r>
              <a:rPr lang="en-US" sz="1200" b="1" dirty="0"/>
              <a:t>brief and clearly understandable</a:t>
            </a:r>
            <a:r>
              <a:rPr lang="en-US" sz="1200" dirty="0"/>
              <a:t>.</a:t>
            </a:r>
          </a:p>
          <a:p>
            <a:r>
              <a:rPr lang="en-US" sz="1200" b="1" dirty="0"/>
              <a:t>Tables and visuals</a:t>
            </a:r>
            <a:r>
              <a:rPr lang="en-US" sz="1200" dirty="0"/>
              <a:t> must be used where needed (e.g., for materials, dimensions, comparisons, etc.).</a:t>
            </a:r>
          </a:p>
          <a:p>
            <a:r>
              <a:rPr lang="en-US" sz="1200" b="1" dirty="0"/>
              <a:t>🟩 Highlighting Selected Elements</a:t>
            </a:r>
          </a:p>
          <a:p>
            <a:r>
              <a:rPr lang="en-US" sz="1200" dirty="0"/>
              <a:t>In </a:t>
            </a:r>
            <a:r>
              <a:rPr lang="en-US" sz="1200" b="1" dirty="0"/>
              <a:t>comparisons</a:t>
            </a:r>
            <a:r>
              <a:rPr lang="en-US" sz="1200" dirty="0"/>
              <a:t>, the selected item must be </a:t>
            </a:r>
            <a:r>
              <a:rPr lang="en-US" sz="1200" b="1" dirty="0"/>
              <a:t>colored green</a:t>
            </a:r>
            <a:r>
              <a:rPr lang="en-US" sz="1200" dirty="0"/>
              <a:t>.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CBE1148-4EA2-4AB0-A9B6-024224A99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6691"/>
            <a:ext cx="9144000" cy="750956"/>
          </a:xfrm>
        </p:spPr>
        <p:txBody>
          <a:bodyPr>
            <a:noAutofit/>
          </a:bodyPr>
          <a:lstStyle/>
          <a:p>
            <a:r>
              <a:rPr lang="tr-T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tr-T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E5D3BD6-CEAB-CF59-8DEF-D07EDA147BD7}"/>
              </a:ext>
            </a:extLst>
          </p:cNvPr>
          <p:cNvSpPr/>
          <p:nvPr/>
        </p:nvSpPr>
        <p:spPr>
          <a:xfrm>
            <a:off x="2458768" y="6220324"/>
            <a:ext cx="6924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page is for informational purposes. It must be deleted by the teams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8248D01-0683-4523-B68C-1BC4CCBB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93AACA65-5E55-406E-A0FD-FB86CA6A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06758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6691"/>
            <a:ext cx="9144000" cy="750956"/>
          </a:xfrm>
        </p:spPr>
        <p:txBody>
          <a:bodyPr>
            <a:noAutofit/>
          </a:bodyPr>
          <a:lstStyle/>
          <a:p>
            <a:r>
              <a:rPr lang="tr-T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- 2</a:t>
            </a:r>
            <a:endParaRPr lang="tr-TR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93547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</a:t>
            </a:fld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0" y="954946"/>
            <a:ext cx="119597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Additional Report Submission Guidelines</a:t>
            </a:r>
          </a:p>
          <a:p>
            <a:r>
              <a:rPr lang="en-US" sz="1600" dirty="0"/>
              <a:t>Information requested multiple times throughout the report </a:t>
            </a:r>
            <a:r>
              <a:rPr lang="en-US" sz="1600" b="1" dirty="0"/>
              <a:t>must be independently and repeatedly explained</a:t>
            </a:r>
            <a:r>
              <a:rPr lang="en-US" sz="1600" dirty="0"/>
              <a:t> on each relevant slide.</a:t>
            </a:r>
            <a:endParaRPr lang="tr-TR" sz="1600" dirty="0"/>
          </a:p>
          <a:p>
            <a:endParaRPr lang="tr-TR" sz="1600" b="1" dirty="0"/>
          </a:p>
          <a:p>
            <a:r>
              <a:rPr lang="en-US" sz="1600" b="1" dirty="0"/>
              <a:t>Even if the information is provided earlier</a:t>
            </a:r>
            <a:r>
              <a:rPr lang="en-US" sz="1600" dirty="0"/>
              <a:t>, it </a:t>
            </a:r>
            <a:r>
              <a:rPr lang="en-US" sz="1600" b="1" dirty="0"/>
              <a:t>will not be scored</a:t>
            </a:r>
            <a:r>
              <a:rPr lang="en-US" sz="1600" dirty="0"/>
              <a:t> if missing from the correct section, and may lead to </a:t>
            </a:r>
            <a:r>
              <a:rPr lang="en-US" sz="1600" b="1" dirty="0"/>
              <a:t>disqualification</a:t>
            </a:r>
            <a:r>
              <a:rPr lang="en-US" sz="1600" dirty="0"/>
              <a:t>.</a:t>
            </a:r>
          </a:p>
          <a:p>
            <a:endParaRPr lang="tr-TR" sz="1600" dirty="0"/>
          </a:p>
          <a:p>
            <a:r>
              <a:rPr lang="en-US" sz="1600" dirty="0"/>
              <a:t>The </a:t>
            </a:r>
            <a:r>
              <a:rPr lang="en-US" sz="1600" b="1" dirty="0"/>
              <a:t>names of documents</a:t>
            </a:r>
            <a:r>
              <a:rPr lang="en-US" sz="1600" dirty="0"/>
              <a:t> (including tables) that are required or allowed to be included in the appendix </a:t>
            </a:r>
            <a:r>
              <a:rPr lang="en-US" sz="1600" b="1" dirty="0"/>
              <a:t>must be clearly stated on the relevant slide</a:t>
            </a:r>
            <a:r>
              <a:rPr lang="en-US" sz="1600" dirty="0"/>
              <a:t>, and these documents </a:t>
            </a:r>
            <a:r>
              <a:rPr lang="en-US" sz="1600" b="1" dirty="0"/>
              <a:t>must be submitted completely along with the </a:t>
            </a:r>
            <a:r>
              <a:rPr lang="tr-TR" sz="1600" b="1" dirty="0"/>
              <a:t>FR</a:t>
            </a:r>
            <a:r>
              <a:rPr lang="en-US" sz="1600" b="1" dirty="0"/>
              <a:t>R</a:t>
            </a:r>
            <a:r>
              <a:rPr lang="en-US" sz="1600" dirty="0"/>
              <a:t>.</a:t>
            </a:r>
          </a:p>
          <a:p>
            <a:endParaRPr lang="tr-TR" sz="1600" b="1" dirty="0"/>
          </a:p>
          <a:p>
            <a:r>
              <a:rPr lang="en-US" sz="1600" b="1" dirty="0"/>
              <a:t>Screenshots of tables</a:t>
            </a:r>
            <a:r>
              <a:rPr lang="en-US" sz="1600" dirty="0"/>
              <a:t> are </a:t>
            </a:r>
            <a:r>
              <a:rPr lang="en-US" sz="1600" b="1" dirty="0"/>
              <a:t>not allowed</a:t>
            </a:r>
            <a:r>
              <a:rPr lang="en-US" sz="1600" dirty="0"/>
              <a:t> in the main report or appendix.</a:t>
            </a:r>
          </a:p>
          <a:p>
            <a:r>
              <a:rPr lang="en-US" sz="1600" b="1" dirty="0"/>
              <a:t>Texts, formulas, equations, and correlations</a:t>
            </a:r>
            <a:r>
              <a:rPr lang="en-US" sz="1600" dirty="0"/>
              <a:t> must </a:t>
            </a:r>
            <a:r>
              <a:rPr lang="en-US" sz="1600" b="1" dirty="0"/>
              <a:t>not be submitted as screenshots</a:t>
            </a:r>
            <a:r>
              <a:rPr lang="en-US" sz="1600" dirty="0"/>
              <a:t>.</a:t>
            </a:r>
            <a:endParaRPr lang="tr-TR" sz="1600" dirty="0"/>
          </a:p>
          <a:p>
            <a:endParaRPr lang="tr-TR" sz="1600" dirty="0"/>
          </a:p>
          <a:p>
            <a:r>
              <a:rPr lang="en-US" sz="1600" dirty="0"/>
              <a:t>Use </a:t>
            </a:r>
            <a:r>
              <a:rPr lang="en-US" sz="1600" b="1" dirty="0"/>
              <a:t>PowerPoint’s built-in formula/equation editor</a:t>
            </a:r>
            <a:r>
              <a:rPr lang="en-US" sz="1600" dirty="0"/>
              <a:t> to present them.</a:t>
            </a:r>
          </a:p>
          <a:p>
            <a:r>
              <a:rPr lang="en-US" sz="1600" b="1" dirty="0"/>
              <a:t>Each page of the report must include the logo</a:t>
            </a:r>
            <a:r>
              <a:rPr lang="en-US" sz="1600" dirty="0"/>
              <a:t>, and </a:t>
            </a:r>
            <a:r>
              <a:rPr lang="en-US" sz="1600" b="1" dirty="0"/>
              <a:t>headings must not be altered</a:t>
            </a:r>
            <a:r>
              <a:rPr lang="en-US" sz="1600" dirty="0"/>
              <a:t>.</a:t>
            </a:r>
          </a:p>
          <a:p>
            <a:r>
              <a:rPr lang="en-US" sz="1600" dirty="0"/>
              <a:t>Do </a:t>
            </a:r>
            <a:r>
              <a:rPr lang="en-US" sz="1600" b="1" dirty="0"/>
              <a:t>not add new or different slides</a:t>
            </a:r>
            <a:r>
              <a:rPr lang="en-US" sz="1600" dirty="0"/>
              <a:t> to the presentation other than those provided in the template shared by the Competition Committee.</a:t>
            </a:r>
          </a:p>
          <a:p>
            <a:r>
              <a:rPr lang="en-US" sz="1600" dirty="0"/>
              <a:t>The report </a:t>
            </a:r>
            <a:r>
              <a:rPr lang="en-US" sz="1600" b="1" dirty="0"/>
              <a:t>must be submitted in PDF format</a:t>
            </a:r>
            <a:r>
              <a:rPr lang="en-US" sz="1600" dirty="0"/>
              <a:t>.</a:t>
            </a:r>
            <a:endParaRPr lang="tr-TR" sz="1600" dirty="0"/>
          </a:p>
          <a:p>
            <a:endParaRPr lang="tr-TR" sz="1600" dirty="0"/>
          </a:p>
          <a:p>
            <a:r>
              <a:rPr lang="en-US" sz="1600" dirty="0"/>
              <a:t>Reports submitted in any other format </a:t>
            </a:r>
            <a:r>
              <a:rPr lang="en-US" sz="1600" b="1" dirty="0"/>
              <a:t>will not be evaluated</a:t>
            </a:r>
            <a:r>
              <a:rPr lang="en-US" sz="1600" dirty="0"/>
              <a:t>.</a:t>
            </a:r>
          </a:p>
          <a:p>
            <a:r>
              <a:rPr lang="en-US" sz="1600" dirty="0"/>
              <a:t>Even if not explicitly stated above, </a:t>
            </a:r>
            <a:r>
              <a:rPr lang="en-US" sz="1600" b="1" dirty="0"/>
              <a:t>any content not aligned with the AHR format will not be considered for evaluation</a:t>
            </a:r>
            <a:r>
              <a:rPr lang="en-US" sz="1600" dirty="0"/>
              <a:t>.</a:t>
            </a:r>
          </a:p>
          <a:p>
            <a:r>
              <a:rPr lang="en-US" sz="1600" b="1" dirty="0"/>
              <a:t>All guiding texts for competitors</a:t>
            </a:r>
            <a:r>
              <a:rPr lang="en-US" sz="1600" dirty="0"/>
              <a:t>, including specification clauses, </a:t>
            </a:r>
            <a:r>
              <a:rPr lang="en-US" sz="1600" b="1" dirty="0"/>
              <a:t>sample visuals</a:t>
            </a:r>
            <a:r>
              <a:rPr lang="en-US" sz="1600" dirty="0"/>
              <a:t>, and </a:t>
            </a:r>
            <a:r>
              <a:rPr lang="en-US" sz="1600" b="1" dirty="0"/>
              <a:t>placeholder boxes</a:t>
            </a:r>
            <a:r>
              <a:rPr lang="en-US" sz="1600" dirty="0"/>
              <a:t>, </a:t>
            </a:r>
            <a:r>
              <a:rPr lang="en-US" sz="1600" b="1" dirty="0"/>
              <a:t>must be deleted from the slides</a:t>
            </a:r>
            <a:r>
              <a:rPr lang="en-US" sz="1600" dirty="0"/>
              <a:t>.</a:t>
            </a:r>
            <a:endParaRPr lang="tr-TR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i="1" dirty="0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24C4F1DC-EA7B-4110-93B2-E4FF26A51DD0}"/>
              </a:ext>
            </a:extLst>
          </p:cNvPr>
          <p:cNvSpPr/>
          <p:nvPr/>
        </p:nvSpPr>
        <p:spPr>
          <a:xfrm>
            <a:off x="2458768" y="6220324"/>
            <a:ext cx="6924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page is for informational purposes. It must be deleted by the teams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68E8FDC-6B0C-468F-90CC-8DA34F9F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9E75A4F4-FD40-4136-9E5A-F7CBAE9A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49867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53658" y="57790"/>
            <a:ext cx="1377714" cy="111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592" y="262910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3</a:t>
            </a:fld>
            <a:endParaRPr lang="tr-TR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F8BD050-6C93-CAF0-20F7-CB96951E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0" y="1625056"/>
            <a:ext cx="9829800" cy="3607888"/>
          </a:xfrm>
        </p:spPr>
        <p:txBody>
          <a:bodyPr>
            <a:normAutofit fontScale="90000"/>
          </a:bodyPr>
          <a:lstStyle/>
          <a:p>
            <a: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TEKNOFEST-202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b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ROCKET COMPETITION</a:t>
            </a:r>
            <a:b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READINESS REVIEW (FRR)</a:t>
            </a:r>
            <a:b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br>
              <a:rPr lang="tr-TR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&amp; NAME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BDDCB6F-DC54-4164-9874-2E786FA6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E98E0473-C3A6-4F1C-86E2-0892D402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54589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4947" y="253731"/>
            <a:ext cx="9642106" cy="750956"/>
          </a:xfrm>
        </p:spPr>
        <p:txBody>
          <a:bodyPr anchor="ctr">
            <a:normAutofit/>
          </a:bodyPr>
          <a:lstStyle/>
          <a:p>
            <a:r>
              <a:rPr lang="tr-TR" sz="36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OpenRocket</a:t>
            </a:r>
            <a:r>
              <a:rPr lang="en-US" sz="36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tr-TR" sz="36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/</a:t>
            </a:r>
            <a:r>
              <a:rPr lang="en-US" sz="36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tr-TR" sz="36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Rocket Design General </a:t>
            </a:r>
            <a:r>
              <a:rPr lang="tr-TR" sz="36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Layout</a:t>
            </a:r>
            <a:endParaRPr lang="tr-TR" sz="3600" b="1" dirty="0">
              <a:solidFill>
                <a:srgbClr val="0070C0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4</a:t>
            </a:fld>
            <a:endParaRPr lang="tr-TR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53658" y="57790"/>
            <a:ext cx="1377714" cy="111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9357" y="5896866"/>
            <a:ext cx="3762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not </a:t>
            </a:r>
            <a:r>
              <a:rPr lang="tr-TR" dirty="0" err="1"/>
              <a:t>exceed</a:t>
            </a:r>
            <a:r>
              <a:rPr lang="tr-TR" dirty="0"/>
              <a:t> 2 </a:t>
            </a:r>
            <a:r>
              <a:rPr lang="tr-TR" dirty="0" err="1"/>
              <a:t>pages</a:t>
            </a:r>
            <a:endParaRPr lang="tr-TR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9295"/>
            <a:ext cx="9391379" cy="26886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53556" y="2036540"/>
            <a:ext cx="5082458" cy="523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View of </a:t>
            </a:r>
            <a:r>
              <a:rPr lang="en-US" dirty="0" err="1"/>
              <a:t>OpenRocket</a:t>
            </a:r>
            <a:r>
              <a:rPr lang="en-US" dirty="0"/>
              <a:t> &amp; CAD After Final Modifications</a:t>
            </a:r>
            <a:endParaRPr lang="tr-TR" dirty="0"/>
          </a:p>
        </p:txBody>
      </p:sp>
      <p:sp>
        <p:nvSpPr>
          <p:cNvPr id="11" name="Rectangle 10"/>
          <p:cNvSpPr/>
          <p:nvPr/>
        </p:nvSpPr>
        <p:spPr>
          <a:xfrm>
            <a:off x="0" y="1263410"/>
            <a:ext cx="121313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tr-TR" altLang="tr-TR" sz="1600" b="1" dirty="0">
                <a:latin typeface="Arial" panose="020B0604020202020204" pitchFamily="34" charset="0"/>
              </a:rPr>
              <a:t>A </a:t>
            </a:r>
            <a:r>
              <a:rPr lang="tr-TR" altLang="tr-TR" sz="1600" b="1" dirty="0" err="1">
                <a:latin typeface="Arial" panose="020B0604020202020204" pitchFamily="34" charset="0"/>
              </a:rPr>
              <a:t>comparison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image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must</a:t>
            </a:r>
            <a:r>
              <a:rPr lang="tr-TR" altLang="tr-TR" sz="1600" b="1" dirty="0">
                <a:latin typeface="Arial" panose="020B0604020202020204" pitchFamily="34" charset="0"/>
              </a:rPr>
              <a:t> be </a:t>
            </a:r>
            <a:r>
              <a:rPr lang="tr-TR" altLang="tr-TR" sz="1600" b="1" dirty="0" err="1">
                <a:latin typeface="Arial" panose="020B0604020202020204" pitchFamily="34" charset="0"/>
              </a:rPr>
              <a:t>provided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between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the</a:t>
            </a:r>
            <a:r>
              <a:rPr lang="tr-TR" altLang="tr-TR" sz="1600" b="1" dirty="0">
                <a:latin typeface="Arial" panose="020B0604020202020204" pitchFamily="34" charset="0"/>
              </a:rPr>
              <a:t> final </a:t>
            </a:r>
            <a:r>
              <a:rPr lang="tr-TR" altLang="tr-TR" sz="1600" b="1" dirty="0" err="1">
                <a:latin typeface="Arial" panose="020B0604020202020204" pitchFamily="34" charset="0"/>
              </a:rPr>
              <a:t>OpenRocket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and</a:t>
            </a:r>
            <a:r>
              <a:rPr lang="tr-TR" altLang="tr-TR" sz="1600" b="1" dirty="0">
                <a:latin typeface="Arial" panose="020B0604020202020204" pitchFamily="34" charset="0"/>
              </a:rPr>
              <a:t> CAD </a:t>
            </a:r>
            <a:r>
              <a:rPr lang="tr-TR" altLang="tr-TR" sz="1600" b="1" dirty="0" err="1">
                <a:latin typeface="Arial" panose="020B0604020202020204" pitchFamily="34" charset="0"/>
              </a:rPr>
              <a:t>models</a:t>
            </a:r>
            <a:r>
              <a:rPr lang="tr-TR" altLang="tr-TR" sz="1600" b="1" dirty="0">
                <a:latin typeface="Arial" panose="020B0604020202020204" pitchFamily="34" charset="0"/>
              </a:rPr>
              <a:t>—</a:t>
            </a:r>
            <a:r>
              <a:rPr lang="tr-TR" altLang="tr-TR" sz="1600" b="1" dirty="0" err="1">
                <a:latin typeface="Arial" panose="020B0604020202020204" pitchFamily="34" charset="0"/>
              </a:rPr>
              <a:t>updated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after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the</a:t>
            </a:r>
            <a:r>
              <a:rPr lang="tr-TR" altLang="tr-TR" sz="1600" b="1" dirty="0">
                <a:latin typeface="Arial" panose="020B0604020202020204" pitchFamily="34" charset="0"/>
              </a:rPr>
              <a:t> CDR—</a:t>
            </a:r>
            <a:r>
              <a:rPr lang="tr-TR" altLang="tr-TR" sz="1600" b="1" dirty="0" err="1">
                <a:latin typeface="Arial" panose="020B0604020202020204" pitchFamily="34" charset="0"/>
              </a:rPr>
              <a:t>and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the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manufactured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rocket</a:t>
            </a:r>
            <a:r>
              <a:rPr lang="tr-TR" altLang="tr-TR" sz="1600" b="1" dirty="0">
                <a:latin typeface="Arial" panose="020B0604020202020204" pitchFamily="34" charset="0"/>
              </a:rPr>
              <a:t>. A </a:t>
            </a:r>
            <a:r>
              <a:rPr lang="tr-TR" altLang="tr-TR" sz="1600" b="1" dirty="0" err="1">
                <a:latin typeface="Arial" panose="020B0604020202020204" pitchFamily="34" charset="0"/>
              </a:rPr>
              <a:t>photo</a:t>
            </a:r>
            <a:r>
              <a:rPr lang="tr-TR" altLang="tr-TR" sz="1600" b="1" dirty="0">
                <a:latin typeface="Arial" panose="020B0604020202020204" pitchFamily="34" charset="0"/>
              </a:rPr>
              <a:t> of </a:t>
            </a:r>
            <a:r>
              <a:rPr lang="tr-TR" altLang="tr-TR" sz="1600" b="1" dirty="0" err="1">
                <a:latin typeface="Arial" panose="020B0604020202020204" pitchFamily="34" charset="0"/>
              </a:rPr>
              <a:t>the</a:t>
            </a:r>
            <a:r>
              <a:rPr lang="tr-TR" altLang="tr-TR" sz="1600" b="1" dirty="0">
                <a:latin typeface="Arial" panose="020B0604020202020204" pitchFamily="34" charset="0"/>
              </a:rPr>
              <a:t> final </a:t>
            </a:r>
            <a:r>
              <a:rPr lang="tr-TR" altLang="tr-TR" sz="1600" b="1" dirty="0" err="1">
                <a:latin typeface="Arial" panose="020B0604020202020204" pitchFamily="34" charset="0"/>
              </a:rPr>
              <a:t>integrated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version</a:t>
            </a:r>
            <a:r>
              <a:rPr lang="tr-TR" altLang="tr-TR" sz="1600" b="1" dirty="0">
                <a:latin typeface="Arial" panose="020B0604020202020204" pitchFamily="34" charset="0"/>
              </a:rPr>
              <a:t> of </a:t>
            </a:r>
            <a:r>
              <a:rPr lang="tr-TR" altLang="tr-TR" sz="1600" b="1" dirty="0" err="1">
                <a:latin typeface="Arial" panose="020B0604020202020204" pitchFamily="34" charset="0"/>
              </a:rPr>
              <a:t>the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rocket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must</a:t>
            </a:r>
            <a:r>
              <a:rPr lang="tr-TR" altLang="tr-TR" sz="1600" b="1" dirty="0">
                <a:latin typeface="Arial" panose="020B0604020202020204" pitchFamily="34" charset="0"/>
              </a:rPr>
              <a:t> be </a:t>
            </a:r>
            <a:r>
              <a:rPr lang="tr-TR" altLang="tr-TR" sz="1600" b="1" dirty="0" err="1">
                <a:latin typeface="Arial" panose="020B0604020202020204" pitchFamily="34" charset="0"/>
              </a:rPr>
              <a:t>taken</a:t>
            </a:r>
            <a:r>
              <a:rPr lang="tr-TR" altLang="tr-TR" sz="1600" b="1" dirty="0">
                <a:latin typeface="Arial" panose="020B0604020202020204" pitchFamily="34" charset="0"/>
              </a:rPr>
              <a:t> </a:t>
            </a:r>
            <a:r>
              <a:rPr lang="tr-TR" altLang="tr-TR" sz="1600" b="1" dirty="0" err="1">
                <a:latin typeface="Arial" panose="020B0604020202020204" pitchFamily="34" charset="0"/>
              </a:rPr>
              <a:t>against</a:t>
            </a:r>
            <a:r>
              <a:rPr lang="tr-TR" altLang="tr-TR" sz="1600" b="1" dirty="0">
                <a:latin typeface="Arial" panose="020B0604020202020204" pitchFamily="34" charset="0"/>
              </a:rPr>
              <a:t> a </a:t>
            </a:r>
            <a:r>
              <a:rPr lang="tr-TR" altLang="tr-TR" sz="1600" b="1" dirty="0" err="1">
                <a:latin typeface="Arial" panose="020B0604020202020204" pitchFamily="34" charset="0"/>
              </a:rPr>
              <a:t>white</a:t>
            </a:r>
            <a:r>
              <a:rPr lang="tr-TR" altLang="tr-TR" sz="1600" b="1" dirty="0">
                <a:latin typeface="Arial" panose="020B0604020202020204" pitchFamily="34" charset="0"/>
              </a:rPr>
              <a:t> background.</a:t>
            </a:r>
            <a:r>
              <a:rPr lang="en-US" sz="1600" dirty="0"/>
              <a:t>   </a:t>
            </a:r>
            <a:endParaRPr lang="tr-TR" sz="1600" dirty="0"/>
          </a:p>
        </p:txBody>
      </p:sp>
      <p:sp>
        <p:nvSpPr>
          <p:cNvPr id="14" name="Rectangle 13"/>
          <p:cNvSpPr/>
          <p:nvPr/>
        </p:nvSpPr>
        <p:spPr>
          <a:xfrm>
            <a:off x="2376828" y="4860086"/>
            <a:ext cx="4439608" cy="946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 of the fully manufactured and integrated rocket</a:t>
            </a:r>
            <a:r>
              <a:rPr lang="tr-TR" dirty="0"/>
              <a:t>.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BD8AA00-7A66-4793-BDF9-A908B4A32425}"/>
              </a:ext>
            </a:extLst>
          </p:cNvPr>
          <p:cNvSpPr/>
          <p:nvPr/>
        </p:nvSpPr>
        <p:spPr>
          <a:xfrm>
            <a:off x="8983226" y="2040225"/>
            <a:ext cx="3181988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b="1" dirty="0"/>
              <a:t>A screenshot of the </a:t>
            </a:r>
            <a:r>
              <a:rPr lang="en-US" sz="1400" b="1" dirty="0" err="1"/>
              <a:t>OpenRocket</a:t>
            </a:r>
            <a:r>
              <a:rPr lang="en-US" sz="1400" b="1" dirty="0"/>
              <a:t> model should be placed below the CAD image.</a:t>
            </a:r>
            <a:br>
              <a:rPr lang="en-US" sz="1400" dirty="0"/>
            </a:br>
            <a:r>
              <a:rPr lang="en-US" sz="1400" b="1" dirty="0"/>
              <a:t>Below the </a:t>
            </a:r>
            <a:r>
              <a:rPr lang="en-US" sz="1400" b="1" dirty="0" err="1"/>
              <a:t>OpenRocket</a:t>
            </a:r>
            <a:r>
              <a:rPr lang="en-US" sz="1400" b="1" dirty="0"/>
              <a:t> image, the final manufactured and integrated version of the rocket should be added, with dimensions matched accordingly.</a:t>
            </a:r>
            <a:endParaRPr lang="tr-TR" sz="1400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b="1" dirty="0"/>
              <a:t>While matching the dimensions, stickers indicating the CG (Center of Gravity) and CP (Center of Pressure) must be placed on the manufactured rocket.</a:t>
            </a:r>
            <a:br>
              <a:rPr lang="en-US" sz="1400" dirty="0"/>
            </a:br>
            <a:r>
              <a:rPr lang="en-US" sz="1400" b="1" dirty="0"/>
              <a:t>The distances of these stickers from the nose tip must be provided in millimeters (mm).</a:t>
            </a:r>
            <a:endParaRPr lang="tr-T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7FD33-36D1-47C7-BFE7-6819A06D5158}"/>
              </a:ext>
            </a:extLst>
          </p:cNvPr>
          <p:cNvSpPr txBox="1"/>
          <p:nvPr/>
        </p:nvSpPr>
        <p:spPr>
          <a:xfrm>
            <a:off x="54592" y="262910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LOGO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9EFBE31-3950-456E-B86A-0DE450BC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DD31FB74-A778-4205-9AFD-529DDFFB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7106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9215"/>
            <a:ext cx="9144000" cy="750956"/>
          </a:xfrm>
        </p:spPr>
        <p:txBody>
          <a:bodyPr anchor="ctr">
            <a:normAutofit/>
          </a:bodyPr>
          <a:lstStyle/>
          <a:p>
            <a:r>
              <a:rPr lang="en-US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/ 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3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5</a:t>
            </a:fld>
            <a:endParaRPr lang="tr-T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53658" y="57790"/>
            <a:ext cx="1377714" cy="11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592" y="292092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</a:t>
            </a:r>
          </a:p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Logo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A34E886-12F2-49E0-9BD3-D71B870D914E}"/>
              </a:ext>
            </a:extLst>
          </p:cNvPr>
          <p:cNvSpPr txBox="1"/>
          <p:nvPr/>
        </p:nvSpPr>
        <p:spPr>
          <a:xfrm>
            <a:off x="264000" y="1332000"/>
            <a:ext cx="1166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manufacturing, the rocket may differ from the original design.</a:t>
            </a:r>
            <a:br>
              <a:rPr lang="en-US" dirty="0"/>
            </a:br>
            <a:r>
              <a:rPr lang="en-US" dirty="0"/>
              <a:t>A simulation of the </a:t>
            </a:r>
            <a:r>
              <a:rPr lang="en-US" b="1" dirty="0"/>
              <a:t>final manufactured version</a:t>
            </a:r>
            <a:r>
              <a:rPr lang="en-US" dirty="0"/>
              <a:t> of the rocket is expected to be run using </a:t>
            </a:r>
            <a:r>
              <a:rPr lang="en-US" b="1" dirty="0" err="1"/>
              <a:t>OpenRocket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simulation results of the final rocket (e.g., </a:t>
            </a:r>
            <a:r>
              <a:rPr lang="en-US" b="1" dirty="0"/>
              <a:t>CG/CP values</a:t>
            </a:r>
            <a:r>
              <a:rPr lang="en-US" dirty="0"/>
              <a:t>) must be compared with the values presented in the </a:t>
            </a:r>
            <a:r>
              <a:rPr lang="tr-TR" dirty="0"/>
              <a:t>FR</a:t>
            </a:r>
            <a:r>
              <a:rPr lang="en-US" dirty="0"/>
              <a:t>R.</a:t>
            </a:r>
          </a:p>
          <a:p>
            <a:r>
              <a:rPr lang="en-US" dirty="0"/>
              <a:t>When calculating the percentage difference (%), the following formula should be used:</a:t>
            </a:r>
            <a:br>
              <a:rPr lang="en-US" dirty="0"/>
            </a:br>
            <a:r>
              <a:rPr lang="en-US" b="1" dirty="0" err="1"/>
              <a:t>AbsoluteValue</a:t>
            </a:r>
            <a:r>
              <a:rPr lang="en-US" b="1" dirty="0"/>
              <a:t>(Design – Manufactured) × 100 / Design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ADFC7C-AF83-4572-9FBB-84CBA7658D2E}"/>
              </a:ext>
            </a:extLst>
          </p:cNvPr>
          <p:cNvSpPr/>
          <p:nvPr/>
        </p:nvSpPr>
        <p:spPr>
          <a:xfrm>
            <a:off x="289638" y="5896866"/>
            <a:ext cx="3722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not </a:t>
            </a:r>
            <a:r>
              <a:rPr lang="tr-TR" dirty="0" err="1"/>
              <a:t>exceed</a:t>
            </a:r>
            <a:r>
              <a:rPr lang="tr-TR" dirty="0"/>
              <a:t> 2 </a:t>
            </a:r>
            <a:r>
              <a:rPr lang="tr-TR" dirty="0" err="1"/>
              <a:t>pages</a:t>
            </a:r>
            <a:r>
              <a:rPr lang="tr-TR" dirty="0"/>
              <a:t>.</a:t>
            </a:r>
          </a:p>
        </p:txBody>
      </p:sp>
      <p:graphicFrame>
        <p:nvGraphicFramePr>
          <p:cNvPr id="13" name="Tablo 6">
            <a:extLst>
              <a:ext uri="{FF2B5EF4-FFF2-40B4-BE49-F238E27FC236}">
                <a16:creationId xmlns:a16="http://schemas.microsoft.com/office/drawing/2014/main" id="{F9E6308C-5E74-4270-BA3A-B668A44C9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007618"/>
              </p:ext>
            </p:extLst>
          </p:nvPr>
        </p:nvGraphicFramePr>
        <p:xfrm>
          <a:off x="2405741" y="2852929"/>
          <a:ext cx="8336542" cy="2535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160">
                  <a:extLst>
                    <a:ext uri="{9D8B030D-6E8A-4147-A177-3AD203B41FA5}">
                      <a16:colId xmlns:a16="http://schemas.microsoft.com/office/drawing/2014/main" val="3063261857"/>
                    </a:ext>
                  </a:extLst>
                </a:gridCol>
                <a:gridCol w="1399112">
                  <a:extLst>
                    <a:ext uri="{9D8B030D-6E8A-4147-A177-3AD203B41FA5}">
                      <a16:colId xmlns:a16="http://schemas.microsoft.com/office/drawing/2014/main" val="3553572562"/>
                    </a:ext>
                  </a:extLst>
                </a:gridCol>
                <a:gridCol w="2389650">
                  <a:extLst>
                    <a:ext uri="{9D8B030D-6E8A-4147-A177-3AD203B41FA5}">
                      <a16:colId xmlns:a16="http://schemas.microsoft.com/office/drawing/2014/main" val="1544958665"/>
                    </a:ext>
                  </a:extLst>
                </a:gridCol>
                <a:gridCol w="1778620">
                  <a:extLst>
                    <a:ext uri="{9D8B030D-6E8A-4147-A177-3AD203B41FA5}">
                      <a16:colId xmlns:a16="http://schemas.microsoft.com/office/drawing/2014/main" val="2366627080"/>
                    </a:ext>
                  </a:extLst>
                </a:gridCol>
              </a:tblGrid>
              <a:tr h="391729">
                <a:tc>
                  <a:txBody>
                    <a:bodyPr/>
                    <a:lstStyle/>
                    <a:p>
                      <a:r>
                        <a:rPr lang="tr-TR" sz="12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VALUE IN THE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VALUE AFTER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DIFFERENCE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61749"/>
                  </a:ext>
                </a:extLst>
              </a:tr>
              <a:tr h="290243">
                <a:tc>
                  <a:txBody>
                    <a:bodyPr/>
                    <a:lstStyle/>
                    <a:p>
                      <a:r>
                        <a:rPr lang="tr-TR" sz="1200" dirty="0"/>
                        <a:t>Maximum </a:t>
                      </a:r>
                      <a:r>
                        <a:rPr lang="tr-TR" sz="1200" dirty="0" err="1"/>
                        <a:t>Altitude</a:t>
                      </a:r>
                      <a:r>
                        <a:rPr lang="tr-TR" sz="1200" dirty="0"/>
                        <a:t>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3000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2900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3.333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624947"/>
                  </a:ext>
                </a:extLst>
              </a:tr>
              <a:tr h="258295">
                <a:tc>
                  <a:txBody>
                    <a:bodyPr/>
                    <a:lstStyle/>
                    <a:p>
                      <a:r>
                        <a:rPr lang="tr-TR" sz="1200" dirty="0"/>
                        <a:t>Maximum </a:t>
                      </a:r>
                      <a:r>
                        <a:rPr lang="tr-TR" sz="1200" dirty="0" err="1"/>
                        <a:t>Velocity</a:t>
                      </a:r>
                      <a:r>
                        <a:rPr lang="tr-TR" sz="1200" dirty="0"/>
                        <a:t> (m/s)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279941"/>
                  </a:ext>
                </a:extLst>
              </a:tr>
              <a:tr h="258295">
                <a:tc>
                  <a:txBody>
                    <a:bodyPr/>
                    <a:lstStyle/>
                    <a:p>
                      <a:r>
                        <a:rPr lang="tr-TR" sz="1200" dirty="0"/>
                        <a:t>Maximum Acceleration (m/s2)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336347"/>
                  </a:ext>
                </a:extLst>
              </a:tr>
              <a:tr h="258295">
                <a:tc>
                  <a:txBody>
                    <a:bodyPr/>
                    <a:lstStyle/>
                    <a:p>
                      <a:r>
                        <a:rPr lang="tr-TR" sz="1200" dirty="0" err="1"/>
                        <a:t>Launch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Rail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Exit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Velocity</a:t>
                      </a:r>
                      <a:r>
                        <a:rPr lang="tr-TR" sz="1200" dirty="0"/>
                        <a:t> (m/s)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926112"/>
                  </a:ext>
                </a:extLst>
              </a:tr>
              <a:tr h="299393">
                <a:tc>
                  <a:txBody>
                    <a:bodyPr/>
                    <a:lstStyle/>
                    <a:p>
                      <a:r>
                        <a:rPr lang="tr-TR" sz="1200" dirty="0"/>
                        <a:t>CP </a:t>
                      </a:r>
                      <a:r>
                        <a:rPr lang="tr-TR" sz="1200" dirty="0" err="1"/>
                        <a:t>Location</a:t>
                      </a:r>
                      <a:r>
                        <a:rPr lang="tr-TR" sz="1200" dirty="0"/>
                        <a:t> (</a:t>
                      </a:r>
                      <a:r>
                        <a:rPr lang="tr-TR" sz="1200" dirty="0" err="1"/>
                        <a:t>from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the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nose</a:t>
                      </a:r>
                      <a:r>
                        <a:rPr lang="tr-TR" sz="1200" dirty="0"/>
                        <a:t>)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10176"/>
                  </a:ext>
                </a:extLst>
              </a:tr>
              <a:tr h="2582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/>
                        <a:t>CG </a:t>
                      </a:r>
                      <a:r>
                        <a:rPr lang="tr-TR" sz="1200" dirty="0" err="1"/>
                        <a:t>Location</a:t>
                      </a:r>
                      <a:r>
                        <a:rPr lang="tr-TR" sz="1200" dirty="0"/>
                        <a:t> (</a:t>
                      </a:r>
                      <a:r>
                        <a:rPr lang="tr-TR" sz="1200" dirty="0" err="1"/>
                        <a:t>from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the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nose</a:t>
                      </a:r>
                      <a:r>
                        <a:rPr lang="tr-TR" sz="1200" dirty="0"/>
                        <a:t>)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439325"/>
                  </a:ext>
                </a:extLst>
              </a:tr>
              <a:tr h="39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err="1"/>
                        <a:t>Static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Margin</a:t>
                      </a:r>
                      <a:r>
                        <a:rPr lang="tr-TR" sz="1200" dirty="0"/>
                        <a:t> (@0.3 </a:t>
                      </a:r>
                      <a:r>
                        <a:rPr lang="tr-TR" sz="1200" dirty="0" err="1"/>
                        <a:t>Mach</a:t>
                      </a:r>
                      <a:r>
                        <a:rPr lang="tr-TR" sz="1200" dirty="0"/>
                        <a:t>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276257"/>
                  </a:ext>
                </a:extLst>
              </a:tr>
            </a:tbl>
          </a:graphicData>
        </a:graphic>
      </p:graphicFrame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362BF614-B5EA-4481-A6B9-A2FE07AA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D6C4F439-CC9A-402D-876B-0E9E16B4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0649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7911" y="2131052"/>
            <a:ext cx="9525747" cy="295074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Rocket </a:t>
            </a:r>
            <a:r>
              <a:rPr lang="tr-TR" sz="48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Subsystems</a:t>
            </a:r>
            <a:b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</a:br>
            <a:r>
              <a:rPr lang="tr-TR" sz="48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Mechanical</a:t>
            </a:r>
            <a: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tr-TR" sz="48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View</a:t>
            </a:r>
            <a: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&amp; </a:t>
            </a:r>
            <a:r>
              <a:rPr lang="tr-TR" sz="4800" b="1" dirty="0" err="1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Details</a:t>
            </a:r>
            <a: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6</a:t>
            </a:fld>
            <a:endParaRPr lang="tr-T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65518" y="0"/>
            <a:ext cx="1377714" cy="11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592" y="430591"/>
            <a:ext cx="11719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Logo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7126C1B-FE1A-4283-B9F9-D531B8B3F9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446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9F711D36-123C-4CA8-88A6-BCD75D7A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4446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291365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View of the Recovery System</a:t>
            </a:r>
            <a:endParaRPr lang="tr-TR" sz="3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7</a:t>
            </a:fld>
            <a:endParaRPr lang="tr-TR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875878" y="2261584"/>
            <a:ext cx="2988163" cy="1835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err="1"/>
              <a:t>Parachute</a:t>
            </a:r>
            <a:r>
              <a:rPr lang="tr-TR" sz="2800" b="1" dirty="0"/>
              <a:t> </a:t>
            </a:r>
            <a:r>
              <a:rPr lang="tr-TR" sz="2800" b="1" dirty="0" err="1"/>
              <a:t>Opening</a:t>
            </a:r>
            <a:r>
              <a:rPr lang="tr-TR" sz="2800" b="1" dirty="0"/>
              <a:t> </a:t>
            </a:r>
            <a:r>
              <a:rPr lang="tr-TR" sz="2800" b="1" dirty="0" err="1"/>
              <a:t>System</a:t>
            </a:r>
            <a:r>
              <a:rPr lang="tr-TR" sz="2800" b="1" dirty="0"/>
              <a:t> </a:t>
            </a:r>
          </a:p>
          <a:p>
            <a:pPr algn="ctr"/>
            <a:r>
              <a:rPr lang="tr-TR" sz="2800" b="1" dirty="0"/>
              <a:t> 3D </a:t>
            </a:r>
            <a:r>
              <a:rPr lang="tr-TR" sz="2800" b="1" dirty="0" err="1"/>
              <a:t>View</a:t>
            </a:r>
            <a:r>
              <a:rPr lang="tr-TR" sz="2800" b="1" dirty="0"/>
              <a:t> (CAD) </a:t>
            </a:r>
          </a:p>
        </p:txBody>
      </p:sp>
      <p:sp>
        <p:nvSpPr>
          <p:cNvPr id="18" name="Dikdörtgen 10"/>
          <p:cNvSpPr/>
          <p:nvPr/>
        </p:nvSpPr>
        <p:spPr>
          <a:xfrm>
            <a:off x="4312930" y="2261901"/>
            <a:ext cx="3301538" cy="1835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b="1" dirty="0" err="1"/>
              <a:t>Parachute</a:t>
            </a:r>
            <a:r>
              <a:rPr lang="tr-TR" sz="2400" b="1" dirty="0"/>
              <a:t> </a:t>
            </a:r>
            <a:r>
              <a:rPr lang="tr-TR" sz="2400" b="1" dirty="0" err="1"/>
              <a:t>Opening</a:t>
            </a:r>
            <a:r>
              <a:rPr lang="tr-TR" sz="2400" b="1" dirty="0"/>
              <a:t> </a:t>
            </a:r>
            <a:r>
              <a:rPr lang="tr-TR" sz="2400" b="1" dirty="0" err="1"/>
              <a:t>System</a:t>
            </a:r>
            <a:r>
              <a:rPr lang="tr-TR" sz="2400" b="1" dirty="0"/>
              <a:t> </a:t>
            </a:r>
          </a:p>
          <a:p>
            <a:pPr algn="ctr"/>
            <a:r>
              <a:rPr lang="tr-TR" sz="2400" b="1" dirty="0"/>
              <a:t>(Not </a:t>
            </a:r>
            <a:r>
              <a:rPr lang="tr-TR" sz="2400" b="1" dirty="0" err="1"/>
              <a:t>Integrated</a:t>
            </a:r>
            <a:r>
              <a:rPr lang="tr-TR" sz="2400" b="1" dirty="0"/>
              <a:t> &amp; </a:t>
            </a:r>
            <a:r>
              <a:rPr lang="tr-TR" sz="2400" b="1" dirty="0" err="1"/>
              <a:t>Produced</a:t>
            </a:r>
            <a:r>
              <a:rPr lang="tr-TR" sz="2400" b="1" dirty="0"/>
              <a:t> </a:t>
            </a:r>
            <a:r>
              <a:rPr lang="tr-TR" sz="2400" b="1" dirty="0" err="1"/>
              <a:t>View</a:t>
            </a:r>
            <a:r>
              <a:rPr lang="tr-TR" sz="2400" b="1" dirty="0"/>
              <a:t>)</a:t>
            </a:r>
          </a:p>
        </p:txBody>
      </p:sp>
      <p:sp>
        <p:nvSpPr>
          <p:cNvPr id="20" name="Dikdörtgen 10"/>
          <p:cNvSpPr/>
          <p:nvPr/>
        </p:nvSpPr>
        <p:spPr>
          <a:xfrm>
            <a:off x="8063357" y="2261584"/>
            <a:ext cx="2926077" cy="1835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400" b="1" dirty="0" err="1"/>
              <a:t>Parachute</a:t>
            </a:r>
            <a:r>
              <a:rPr lang="tr-TR" sz="2400" b="1" dirty="0"/>
              <a:t> </a:t>
            </a:r>
            <a:r>
              <a:rPr lang="tr-TR" sz="2400" b="1" dirty="0" err="1"/>
              <a:t>Opening</a:t>
            </a:r>
            <a:r>
              <a:rPr lang="tr-TR" sz="2400" b="1" dirty="0"/>
              <a:t> </a:t>
            </a:r>
            <a:r>
              <a:rPr lang="tr-TR" sz="2400" b="1" dirty="0" err="1"/>
              <a:t>System</a:t>
            </a:r>
            <a:r>
              <a:rPr lang="tr-TR" sz="2400" b="1" dirty="0"/>
              <a:t> </a:t>
            </a:r>
          </a:p>
          <a:p>
            <a:pPr algn="ctr"/>
            <a:r>
              <a:rPr lang="tr-TR" sz="2400" b="1" dirty="0"/>
              <a:t>(</a:t>
            </a:r>
            <a:r>
              <a:rPr lang="tr-TR" sz="2400" b="1" dirty="0" err="1"/>
              <a:t>Integrated</a:t>
            </a:r>
            <a:r>
              <a:rPr lang="tr-TR" sz="2400" b="1" dirty="0"/>
              <a:t>  &amp; </a:t>
            </a:r>
            <a:r>
              <a:rPr lang="tr-TR" sz="2400" b="1" dirty="0" err="1"/>
              <a:t>Produced</a:t>
            </a:r>
            <a:r>
              <a:rPr lang="en-US" sz="2400" b="1" dirty="0"/>
              <a:t> </a:t>
            </a:r>
            <a:r>
              <a:rPr lang="tr-TR" sz="2400" b="1" dirty="0" err="1"/>
              <a:t>View</a:t>
            </a:r>
            <a:r>
              <a:rPr lang="tr-TR" sz="2400" b="1" dirty="0"/>
              <a:t>)</a:t>
            </a:r>
            <a:r>
              <a:rPr lang="en-US" sz="2400" b="1" dirty="0"/>
              <a:t> </a:t>
            </a:r>
            <a:endParaRPr lang="tr-TR" sz="2400" b="1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AACCFDC-0F23-466A-B40F-81C0A593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1BFE1566-B372-46F5-AD99-43FB635D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25377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8</a:t>
            </a:fld>
            <a:endParaRPr lang="tr-TR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7" name="Dikdörtgen 16"/>
          <p:cNvSpPr/>
          <p:nvPr/>
        </p:nvSpPr>
        <p:spPr>
          <a:xfrm>
            <a:off x="702824" y="2581862"/>
            <a:ext cx="3013951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err="1"/>
              <a:t>Parachute</a:t>
            </a:r>
            <a:r>
              <a:rPr lang="tr-TR" sz="2800" b="1" dirty="0"/>
              <a:t> </a:t>
            </a:r>
            <a:r>
              <a:rPr lang="tr-TR" sz="2800" b="1" dirty="0" err="1"/>
              <a:t>Sections</a:t>
            </a:r>
            <a:r>
              <a:rPr lang="tr-TR" sz="2800" b="1" dirty="0"/>
              <a:t> 3D </a:t>
            </a:r>
            <a:r>
              <a:rPr lang="tr-TR" sz="2800" b="1" dirty="0" err="1"/>
              <a:t>View</a:t>
            </a:r>
            <a:r>
              <a:rPr lang="tr-TR" sz="2800" b="1" dirty="0"/>
              <a:t> (CAD)</a:t>
            </a:r>
          </a:p>
        </p:txBody>
      </p:sp>
      <p:sp>
        <p:nvSpPr>
          <p:cNvPr id="21" name="Dikdörtgen 16"/>
          <p:cNvSpPr/>
          <p:nvPr/>
        </p:nvSpPr>
        <p:spPr>
          <a:xfrm>
            <a:off x="4180315" y="2581862"/>
            <a:ext cx="3013951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err="1"/>
              <a:t>Parachute</a:t>
            </a:r>
            <a:r>
              <a:rPr lang="tr-TR" sz="2800" b="1" dirty="0"/>
              <a:t> </a:t>
            </a:r>
            <a:r>
              <a:rPr lang="tr-TR" sz="2800" b="1" dirty="0" err="1"/>
              <a:t>Sections</a:t>
            </a:r>
            <a:r>
              <a:rPr lang="tr-TR" sz="2800" b="1" dirty="0"/>
              <a:t> (</a:t>
            </a:r>
            <a:r>
              <a:rPr lang="tr-TR" sz="2800" b="1" dirty="0" err="1"/>
              <a:t>Separate</a:t>
            </a:r>
            <a:r>
              <a:rPr lang="tr-TR" sz="2800" b="1" dirty="0"/>
              <a:t> </a:t>
            </a:r>
            <a:r>
              <a:rPr lang="tr-TR" sz="2800" b="1" dirty="0" err="1"/>
              <a:t>Views</a:t>
            </a:r>
            <a:r>
              <a:rPr lang="tr-TR" sz="2800" b="1" dirty="0"/>
              <a:t>)</a:t>
            </a:r>
          </a:p>
        </p:txBody>
      </p:sp>
      <p:sp>
        <p:nvSpPr>
          <p:cNvPr id="23" name="Dikdörtgen 16"/>
          <p:cNvSpPr/>
          <p:nvPr/>
        </p:nvSpPr>
        <p:spPr>
          <a:xfrm>
            <a:off x="7657806" y="2620217"/>
            <a:ext cx="3013951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b="1" dirty="0" err="1"/>
              <a:t>Parachute</a:t>
            </a:r>
            <a:r>
              <a:rPr lang="tr-TR" sz="2800" b="1" dirty="0"/>
              <a:t> </a:t>
            </a:r>
            <a:r>
              <a:rPr lang="tr-TR" sz="2800" b="1" dirty="0" err="1"/>
              <a:t>Sections</a:t>
            </a:r>
            <a:r>
              <a:rPr lang="tr-TR" sz="2800" b="1" dirty="0"/>
              <a:t> (</a:t>
            </a:r>
            <a:r>
              <a:rPr lang="tr-TR" sz="2800" b="1" dirty="0" err="1"/>
              <a:t>Integrated</a:t>
            </a:r>
            <a:r>
              <a:rPr lang="tr-TR" sz="2800" b="1" dirty="0"/>
              <a:t> </a:t>
            </a:r>
            <a:r>
              <a:rPr lang="tr-TR" sz="2800" b="1" dirty="0" err="1"/>
              <a:t>After</a:t>
            </a:r>
            <a:r>
              <a:rPr lang="tr-TR" sz="2800" b="1" dirty="0"/>
              <a:t> </a:t>
            </a:r>
            <a:r>
              <a:rPr lang="tr-TR" sz="2800" b="1" dirty="0" err="1"/>
              <a:t>Production</a:t>
            </a:r>
            <a:r>
              <a:rPr lang="tr-TR" sz="2800" b="1" dirty="0"/>
              <a:t>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3DC5FC6-B7F4-4B46-A115-653D65E25B35}"/>
              </a:ext>
            </a:extLst>
          </p:cNvPr>
          <p:cNvSpPr txBox="1">
            <a:spLocks/>
          </p:cNvSpPr>
          <p:nvPr/>
        </p:nvSpPr>
        <p:spPr>
          <a:xfrm>
            <a:off x="1408090" y="249215"/>
            <a:ext cx="914400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View of the Recovery System</a:t>
            </a:r>
            <a:endParaRPr lang="tr-TR" sz="3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CB139DD-6744-4D21-920C-B177856B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4AAAFF24-E51F-418A-BCBB-92B5D851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125284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tr-TR" sz="3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9</a:t>
            </a:fld>
            <a:endParaRPr lang="tr-TR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6" name="Dikdörtgen 15">
            <a:extLst>
              <a:ext uri="{FF2B5EF4-FFF2-40B4-BE49-F238E27FC236}">
                <a16:creationId xmlns:a16="http://schemas.microsoft.com/office/drawing/2014/main" id="{9BD3AC94-A04D-4751-A230-7FEBCA6DBA93}"/>
              </a:ext>
            </a:extLst>
          </p:cNvPr>
          <p:cNvSpPr/>
          <p:nvPr/>
        </p:nvSpPr>
        <p:spPr>
          <a:xfrm>
            <a:off x="593237" y="2366060"/>
            <a:ext cx="4999797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/>
              <a:t>Görev Yükü 3 Boyutlu Görünüm </a:t>
            </a:r>
            <a:endParaRPr lang="en-US" sz="3200" b="1"/>
          </a:p>
          <a:p>
            <a:pPr algn="ctr"/>
            <a:r>
              <a:rPr lang="tr-TR" sz="3200" b="1"/>
              <a:t>(CAD)</a:t>
            </a:r>
          </a:p>
        </p:txBody>
      </p:sp>
      <p:sp>
        <p:nvSpPr>
          <p:cNvPr id="19" name="Dikdörtgen 15">
            <a:extLst>
              <a:ext uri="{FF2B5EF4-FFF2-40B4-BE49-F238E27FC236}">
                <a16:creationId xmlns:a16="http://schemas.microsoft.com/office/drawing/2014/main" id="{9BD3AC94-A04D-4751-A230-7FEBCA6DBA93}"/>
              </a:ext>
            </a:extLst>
          </p:cNvPr>
          <p:cNvSpPr/>
          <p:nvPr/>
        </p:nvSpPr>
        <p:spPr>
          <a:xfrm>
            <a:off x="6110701" y="2366060"/>
            <a:ext cx="4999797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/>
              <a:t>Görev Yükü </a:t>
            </a:r>
            <a:r>
              <a:rPr lang="en-US" sz="3200" b="1"/>
              <a:t>Üretim </a:t>
            </a:r>
            <a:r>
              <a:rPr lang="en-US" sz="3200" b="1" err="1"/>
              <a:t>Sonrası</a:t>
            </a:r>
            <a:r>
              <a:rPr lang="en-US" sz="3200" b="1"/>
              <a:t> </a:t>
            </a:r>
            <a:r>
              <a:rPr lang="en-US" sz="3200" b="1" err="1"/>
              <a:t>Görüntü</a:t>
            </a:r>
            <a:r>
              <a:rPr lang="en-US" sz="3200" b="1"/>
              <a:t> </a:t>
            </a:r>
            <a:endParaRPr lang="tr-TR" sz="3200" b="1"/>
          </a:p>
        </p:txBody>
      </p:sp>
      <p:sp>
        <p:nvSpPr>
          <p:cNvPr id="9" name="Rectangle 8"/>
          <p:cNvSpPr/>
          <p:nvPr/>
        </p:nvSpPr>
        <p:spPr>
          <a:xfrm>
            <a:off x="-67466" y="5205459"/>
            <a:ext cx="11421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payload must display the team name, include a photo with a team member, or feature a sticker or similar logo.</a:t>
            </a:r>
            <a:endParaRPr lang="tr-TR" dirty="0">
              <a:cs typeface="Times New Roman" panose="02020603050405020304" pitchFamily="18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C5860B9-CE6C-4A98-BAA7-378A0EBF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0F305E0E-FEF0-44E3-8FA3-3E34ADEC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30037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10</a:t>
            </a:fld>
            <a:endParaRPr lang="tr-TR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1408090" y="249215"/>
            <a:ext cx="914400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r-IN" sz="35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–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SRAD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</a:t>
            </a:r>
            <a:r>
              <a:rPr lang="en-US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endParaRPr lang="en-US" sz="3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o 6">
            <a:extLst>
              <a:ext uri="{FF2B5EF4-FFF2-40B4-BE49-F238E27FC236}">
                <a16:creationId xmlns:a16="http://schemas.microsoft.com/office/drawing/2014/main" id="{BB5D22C2-716D-7B65-74FE-26620CD5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21824"/>
              </p:ext>
            </p:extLst>
          </p:nvPr>
        </p:nvGraphicFramePr>
        <p:xfrm>
          <a:off x="520700" y="2492688"/>
          <a:ext cx="11222736" cy="3520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309">
                  <a:extLst>
                    <a:ext uri="{9D8B030D-6E8A-4147-A177-3AD203B41FA5}">
                      <a16:colId xmlns:a16="http://schemas.microsoft.com/office/drawing/2014/main" val="577779967"/>
                    </a:ext>
                  </a:extLst>
                </a:gridCol>
                <a:gridCol w="1916255">
                  <a:extLst>
                    <a:ext uri="{9D8B030D-6E8A-4147-A177-3AD203B41FA5}">
                      <a16:colId xmlns:a16="http://schemas.microsoft.com/office/drawing/2014/main" val="399812716"/>
                    </a:ext>
                  </a:extLst>
                </a:gridCol>
                <a:gridCol w="3832510">
                  <a:extLst>
                    <a:ext uri="{9D8B030D-6E8A-4147-A177-3AD203B41FA5}">
                      <a16:colId xmlns:a16="http://schemas.microsoft.com/office/drawing/2014/main" val="2787587625"/>
                    </a:ext>
                  </a:extLst>
                </a:gridCol>
                <a:gridCol w="3212662">
                  <a:extLst>
                    <a:ext uri="{9D8B030D-6E8A-4147-A177-3AD203B41FA5}">
                      <a16:colId xmlns:a16="http://schemas.microsoft.com/office/drawing/2014/main" val="2188634747"/>
                    </a:ext>
                  </a:extLst>
                </a:gridCol>
              </a:tblGrid>
              <a:tr h="503465">
                <a:tc>
                  <a:txBody>
                    <a:bodyPr/>
                    <a:lstStyle/>
                    <a:p>
                      <a:r>
                        <a:rPr lang="tr-TR" dirty="0"/>
                        <a:t>C</a:t>
                      </a:r>
                      <a:r>
                        <a:rPr lang="en-US" dirty="0" err="1"/>
                        <a:t>omponent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Product</a:t>
                      </a:r>
                      <a:r>
                        <a:rPr lang="en-US" dirty="0"/>
                        <a:t> </a:t>
                      </a:r>
                      <a:r>
                        <a:rPr lang="tr-TR" dirty="0"/>
                        <a:t>Name</a:t>
                      </a:r>
                      <a:r>
                        <a:rPr lang="en-US" dirty="0"/>
                        <a:t>/</a:t>
                      </a:r>
                      <a:r>
                        <a:rPr lang="tr-TR" dirty="0"/>
                        <a:t>C</a:t>
                      </a:r>
                      <a:r>
                        <a:rPr lang="en-US" dirty="0"/>
                        <a:t>od</a:t>
                      </a:r>
                      <a:r>
                        <a:rPr lang="tr-TR" dirty="0"/>
                        <a:t>e</a:t>
                      </a:r>
                      <a:r>
                        <a:rPr lang="en-US" dirty="0"/>
                        <a:t>/</a:t>
                      </a:r>
                      <a:r>
                        <a:rPr lang="tr-TR" dirty="0" err="1"/>
                        <a:t>Type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Does</a:t>
                      </a:r>
                      <a:r>
                        <a:rPr lang="tr-TR" dirty="0"/>
                        <a:t> it </a:t>
                      </a:r>
                      <a:r>
                        <a:rPr lang="tr-TR" dirty="0" err="1"/>
                        <a:t>use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any</a:t>
                      </a:r>
                      <a:r>
                        <a:rPr lang="tr-TR" dirty="0"/>
                        <a:t> data in </a:t>
                      </a:r>
                      <a:r>
                        <a:rPr lang="tr-TR" dirty="0" err="1"/>
                        <a:t>the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recovery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algorithm</a:t>
                      </a:r>
                      <a:r>
                        <a:rPr lang="en-US" dirty="0"/>
                        <a:t>?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The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purpose</a:t>
                      </a:r>
                      <a:r>
                        <a:rPr lang="tr-TR" dirty="0"/>
                        <a:t> of </a:t>
                      </a:r>
                      <a:r>
                        <a:rPr lang="tr-TR" dirty="0" err="1"/>
                        <a:t>the</a:t>
                      </a:r>
                      <a:r>
                        <a:rPr lang="tr-TR" dirty="0"/>
                        <a:t> data </a:t>
                      </a:r>
                      <a:r>
                        <a:rPr lang="tr-TR" dirty="0" err="1"/>
                        <a:t>used</a:t>
                      </a:r>
                      <a:r>
                        <a:rPr lang="tr-TR" dirty="0"/>
                        <a:t> in </a:t>
                      </a:r>
                      <a:r>
                        <a:rPr lang="tr-TR" dirty="0" err="1"/>
                        <a:t>the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recovery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algorithm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028861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r>
                        <a:rPr lang="tr-TR" dirty="0" err="1"/>
                        <a:t>Processor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(</a:t>
                      </a:r>
                      <a:r>
                        <a:rPr lang="tr-TR" dirty="0" err="1"/>
                        <a:t>To</a:t>
                      </a:r>
                      <a:r>
                        <a:rPr lang="tr-TR" dirty="0"/>
                        <a:t> be </a:t>
                      </a:r>
                      <a:r>
                        <a:rPr lang="tr-TR" dirty="0" err="1"/>
                        <a:t>left</a:t>
                      </a:r>
                      <a:r>
                        <a:rPr lang="tr-TR" dirty="0"/>
                        <a:t>  </a:t>
                      </a:r>
                      <a:r>
                        <a:rPr lang="tr-TR" dirty="0" err="1"/>
                        <a:t>blank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for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the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processor</a:t>
                      </a:r>
                      <a:r>
                        <a:rPr lang="tr-T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65386"/>
                  </a:ext>
                </a:extLst>
              </a:tr>
              <a:tr h="503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1. Sens</a:t>
                      </a:r>
                      <a:r>
                        <a:rPr lang="tr-TR" dirty="0" err="1"/>
                        <a:t>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BMP 180 </a:t>
                      </a:r>
                      <a:r>
                        <a:rPr lang="tr-TR" dirty="0" err="1"/>
                        <a:t>Pressure</a:t>
                      </a:r>
                      <a:r>
                        <a:rPr lang="en-US" dirty="0"/>
                        <a:t> Sens</a:t>
                      </a:r>
                      <a:r>
                        <a:rPr lang="tr-TR" dirty="0" err="1"/>
                        <a:t>or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tr-TR" dirty="0" err="1"/>
                        <a:t>Yes</a:t>
                      </a:r>
                      <a:r>
                        <a:rPr lang="en-US" dirty="0"/>
                        <a:t> / </a:t>
                      </a:r>
                      <a:r>
                        <a:rPr lang="tr-TR" dirty="0"/>
                        <a:t>No</a:t>
                      </a:r>
                      <a:r>
                        <a:rPr lang="en-US" dirty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309649"/>
                  </a:ext>
                </a:extLst>
              </a:tr>
              <a:tr h="287694">
                <a:tc>
                  <a:txBody>
                    <a:bodyPr/>
                    <a:lstStyle/>
                    <a:p>
                      <a:r>
                        <a:rPr lang="en-US" dirty="0"/>
                        <a:t>2. Sens</a:t>
                      </a:r>
                      <a:r>
                        <a:rPr lang="tr-TR" dirty="0" err="1"/>
                        <a:t>or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78726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r>
                        <a:rPr lang="en-US" dirty="0"/>
                        <a:t>3. Sens</a:t>
                      </a:r>
                      <a:r>
                        <a:rPr lang="tr-TR" dirty="0"/>
                        <a:t>o</a:t>
                      </a:r>
                      <a:r>
                        <a:rPr lang="en-US" dirty="0"/>
                        <a:t>r (</a:t>
                      </a:r>
                      <a:r>
                        <a:rPr lang="tr-TR" dirty="0" err="1"/>
                        <a:t>If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any</a:t>
                      </a:r>
                      <a:r>
                        <a:rPr lang="en-US" dirty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76878"/>
                  </a:ext>
                </a:extLst>
              </a:tr>
              <a:tr h="503465">
                <a:tc>
                  <a:txBody>
                    <a:bodyPr/>
                    <a:lstStyle/>
                    <a:p>
                      <a:r>
                        <a:rPr lang="tr-TR" dirty="0" err="1"/>
                        <a:t>Communication</a:t>
                      </a:r>
                      <a:r>
                        <a:rPr lang="tr-TR" dirty="0"/>
                        <a:t> </a:t>
                      </a:r>
                      <a:r>
                        <a:rPr lang="en-US" dirty="0"/>
                        <a:t>Mod</a:t>
                      </a:r>
                      <a:r>
                        <a:rPr lang="tr-TR" dirty="0" err="1"/>
                        <a:t>ule</a:t>
                      </a:r>
                      <a:r>
                        <a:rPr lang="en-US" dirty="0"/>
                        <a:t> (</a:t>
                      </a:r>
                      <a:r>
                        <a:rPr lang="tr-TR" dirty="0" err="1"/>
                        <a:t>If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any</a:t>
                      </a:r>
                      <a:r>
                        <a:rPr lang="en-US" dirty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73571"/>
                  </a:ext>
                </a:extLst>
              </a:tr>
              <a:tr h="503465">
                <a:tc>
                  <a:txBody>
                    <a:bodyPr/>
                    <a:lstStyle/>
                    <a:p>
                      <a:r>
                        <a:rPr lang="en-US" dirty="0"/>
                        <a:t>GPS Mod</a:t>
                      </a:r>
                      <a:r>
                        <a:rPr lang="tr-TR" dirty="0" err="1"/>
                        <a:t>ule</a:t>
                      </a:r>
                      <a:r>
                        <a:rPr lang="tr-TR" dirty="0"/>
                        <a:t> </a:t>
                      </a:r>
                      <a:r>
                        <a:rPr lang="en-US" dirty="0"/>
                        <a:t>(</a:t>
                      </a:r>
                      <a:r>
                        <a:rPr lang="tr-TR" dirty="0" err="1"/>
                        <a:t>If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any</a:t>
                      </a:r>
                      <a:r>
                        <a:rPr lang="en-US" dirty="0"/>
                        <a:t>)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19280"/>
                  </a:ext>
                </a:extLst>
              </a:tr>
            </a:tbl>
          </a:graphicData>
        </a:graphic>
      </p:graphicFrame>
      <p:sp>
        <p:nvSpPr>
          <p:cNvPr id="20" name="TextBox 14">
            <a:extLst>
              <a:ext uri="{FF2B5EF4-FFF2-40B4-BE49-F238E27FC236}">
                <a16:creationId xmlns:a16="http://schemas.microsoft.com/office/drawing/2014/main" id="{BF70F4E8-C242-AD19-CD31-EAFAB4700E1E}"/>
              </a:ext>
            </a:extLst>
          </p:cNvPr>
          <p:cNvSpPr txBox="1"/>
          <p:nvPr/>
        </p:nvSpPr>
        <p:spPr>
          <a:xfrm>
            <a:off x="79384" y="1333458"/>
            <a:ext cx="1199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</a:t>
            </a:r>
            <a:r>
              <a:rPr lang="en-US" dirty="0"/>
              <a:t>he main circuit components used in the </a:t>
            </a:r>
            <a:r>
              <a:rPr lang="tr-TR" dirty="0"/>
              <a:t>1st </a:t>
            </a:r>
            <a:r>
              <a:rPr lang="en-US" dirty="0"/>
              <a:t>flight control computer must be introduced. The role of each component in the recovery algorithm must be explained.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section must not exceed two (2) slides.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Teams in Category A1 that do not use a custom avionics system must explicitly state this in this section.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5024464-9E49-492B-8990-F22C2F9B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F12D2512-8C16-49C2-AF68-DB18193E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95498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21" name="Dikdörtgen 10"/>
          <p:cNvSpPr/>
          <p:nvPr/>
        </p:nvSpPr>
        <p:spPr>
          <a:xfrm>
            <a:off x="814710" y="1486709"/>
            <a:ext cx="2766690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Avioni</a:t>
            </a: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S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stem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Schema</a:t>
            </a:r>
            <a:r>
              <a:rPr lang="tr-TR" b="1" dirty="0" err="1">
                <a:solidFill>
                  <a:prstClr val="white"/>
                </a:solidFill>
                <a:latin typeface="Calibri" panose="020F0502020204030204"/>
                <a:cs typeface="Times New Roman" panose="02020603050405020304" pitchFamily="18" charset="0"/>
              </a:rPr>
              <a:t>tics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Dikdörtgen 10"/>
          <p:cNvSpPr/>
          <p:nvPr/>
        </p:nvSpPr>
        <p:spPr>
          <a:xfrm>
            <a:off x="8600688" y="1480221"/>
            <a:ext cx="2794674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Manufactured</a:t>
            </a:r>
            <a:r>
              <a:rPr lang="tr-TR" b="1" dirty="0">
                <a:solidFill>
                  <a:prstClr val="white"/>
                </a:solidFill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Avionics</a:t>
            </a:r>
            <a:r>
              <a:rPr lang="tr-TR" b="1" dirty="0">
                <a:solidFill>
                  <a:prstClr val="white"/>
                </a:solidFill>
                <a:cs typeface="Times New Roman" panose="02020603050405020304" pitchFamily="18" charset="0"/>
              </a:rPr>
              <a:t> Image</a:t>
            </a:r>
          </a:p>
        </p:txBody>
      </p:sp>
      <p:sp>
        <p:nvSpPr>
          <p:cNvPr id="23" name="Dikdörtgen 10"/>
          <p:cNvSpPr/>
          <p:nvPr/>
        </p:nvSpPr>
        <p:spPr>
          <a:xfrm>
            <a:off x="4698663" y="1515892"/>
            <a:ext cx="2794674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Manufactured</a:t>
            </a:r>
            <a:r>
              <a:rPr lang="tr-TR" b="1" dirty="0">
                <a:solidFill>
                  <a:prstClr val="white"/>
                </a:solidFill>
                <a:cs typeface="Times New Roman" panose="02020603050405020304" pitchFamily="18" charset="0"/>
              </a:rPr>
              <a:t> </a:t>
            </a: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Circuit</a:t>
            </a:r>
            <a:r>
              <a:rPr lang="tr-TR" b="1" dirty="0">
                <a:solidFill>
                  <a:prstClr val="white"/>
                </a:solidFill>
                <a:cs typeface="Times New Roman" panose="02020603050405020304" pitchFamily="18" charset="0"/>
              </a:rPr>
              <a:t> Image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0B506641-498C-54CD-92FE-9A6E2FD3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BEDC82-49FF-42E3-B7EA-26FF728940D5}" type="slidenum">
              <a:rPr lang="tr-TR" smtClean="0"/>
              <a:t>11</a:t>
            </a:fld>
            <a:endParaRPr lang="tr-T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727906-CE6B-113C-60BA-5466AD10BF51}"/>
              </a:ext>
            </a:extLst>
          </p:cNvPr>
          <p:cNvSpPr txBox="1">
            <a:spLocks/>
          </p:cNvSpPr>
          <p:nvPr/>
        </p:nvSpPr>
        <p:spPr>
          <a:xfrm>
            <a:off x="1408090" y="249215"/>
            <a:ext cx="914400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SRAD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5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tr-TR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DA331-475A-431B-9ED2-06652DD7C6FD}"/>
              </a:ext>
            </a:extLst>
          </p:cNvPr>
          <p:cNvSpPr txBox="1"/>
          <p:nvPr/>
        </p:nvSpPr>
        <p:spPr>
          <a:xfrm>
            <a:off x="814710" y="3628417"/>
            <a:ext cx="11072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avionics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system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display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name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include</a:t>
            </a:r>
            <a:r>
              <a:rPr lang="tr-TR" altLang="tr-TR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photo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member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feature</a:t>
            </a:r>
            <a:r>
              <a:rPr lang="tr-TR" altLang="tr-TR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sticker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similar</a:t>
            </a:r>
            <a:r>
              <a:rPr lang="tr-TR" altLang="tr-TR" b="1" dirty="0">
                <a:latin typeface="Arial" panose="020B0604020202020204" pitchFamily="34" charset="0"/>
              </a:rPr>
              <a:t> logo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page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should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only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contain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visuals</a:t>
            </a:r>
            <a:r>
              <a:rPr lang="tr-TR" altLang="tr-TR" dirty="0">
                <a:latin typeface="Arial" panose="020B0604020202020204" pitchFamily="34" charset="0"/>
              </a:rPr>
              <a:t>; </a:t>
            </a:r>
            <a:r>
              <a:rPr lang="tr-TR" altLang="tr-TR" dirty="0" err="1">
                <a:latin typeface="Arial" panose="020B0604020202020204" pitchFamily="34" charset="0"/>
              </a:rPr>
              <a:t>detailed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explanations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provided</a:t>
            </a:r>
            <a:r>
              <a:rPr lang="tr-TR" altLang="tr-TR" dirty="0">
                <a:latin typeface="Arial" panose="020B0604020202020204" pitchFamily="34" charset="0"/>
              </a:rPr>
              <a:t> on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following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pages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provided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schematic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all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components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labeled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their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names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codes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E53CF582-9A4E-44DE-8969-0150B2E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25" name="Footer Placeholder 8">
            <a:extLst>
              <a:ext uri="{FF2B5EF4-FFF2-40B4-BE49-F238E27FC236}">
                <a16:creationId xmlns:a16="http://schemas.microsoft.com/office/drawing/2014/main" id="{C9A7E936-EC5C-4E11-8A3B-2A191DDF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127659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12</a:t>
            </a:fld>
            <a:endParaRPr lang="tr-TR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1408090" y="249215"/>
            <a:ext cx="914400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r-IN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–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COTS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BF70F4E8-C242-AD19-CD31-EAFAB4700E1E}"/>
              </a:ext>
            </a:extLst>
          </p:cNvPr>
          <p:cNvSpPr txBox="1"/>
          <p:nvPr/>
        </p:nvSpPr>
        <p:spPr>
          <a:xfrm>
            <a:off x="79384" y="1323733"/>
            <a:ext cx="11664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commercial</a:t>
            </a:r>
            <a:r>
              <a:rPr lang="tr-TR" dirty="0"/>
              <a:t> </a:t>
            </a:r>
            <a:r>
              <a:rPr lang="en-US" dirty="0"/>
              <a:t>(COTS)</a:t>
            </a:r>
            <a:r>
              <a:rPr lang="tr-TR" dirty="0"/>
              <a:t> </a:t>
            </a:r>
            <a:r>
              <a:rPr lang="tr-TR" dirty="0" err="1"/>
              <a:t>avionics</a:t>
            </a:r>
            <a:r>
              <a:rPr lang="en-US" dirty="0"/>
              <a:t> to be used must be selected from the list below. Teams must indicate which a</a:t>
            </a:r>
            <a:r>
              <a:rPr lang="tr-TR" dirty="0" err="1"/>
              <a:t>vionics</a:t>
            </a:r>
            <a:r>
              <a:rPr lang="tr-TR" dirty="0"/>
              <a:t> </a:t>
            </a:r>
            <a:r>
              <a:rPr lang="en-US" dirty="0"/>
              <a:t>they will use on this page</a:t>
            </a:r>
            <a:r>
              <a:rPr lang="tr-TR" dirty="0"/>
              <a:t>.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7DD2A7-9DFE-48A4-9247-19EFAF0DE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54417"/>
              </p:ext>
            </p:extLst>
          </p:nvPr>
        </p:nvGraphicFramePr>
        <p:xfrm>
          <a:off x="2533935" y="2088003"/>
          <a:ext cx="7600335" cy="3162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3060">
                  <a:extLst>
                    <a:ext uri="{9D8B030D-6E8A-4147-A177-3AD203B41FA5}">
                      <a16:colId xmlns:a16="http://schemas.microsoft.com/office/drawing/2014/main" val="2558135041"/>
                    </a:ext>
                  </a:extLst>
                </a:gridCol>
                <a:gridCol w="6947275">
                  <a:extLst>
                    <a:ext uri="{9D8B030D-6E8A-4147-A177-3AD203B41FA5}">
                      <a16:colId xmlns:a16="http://schemas.microsoft.com/office/drawing/2014/main" val="2022292040"/>
                    </a:ext>
                  </a:extLst>
                </a:gridCol>
              </a:tblGrid>
              <a:tr h="316242">
                <a:tc>
                  <a:txBody>
                    <a:bodyPr/>
                    <a:lstStyle/>
                    <a:p>
                      <a:pPr marL="317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No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COTS AVIONICS / Model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326366592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1 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ADREL DEPLOYMAX SINGLE DEPLOYMENT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312630037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2 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ENTACORE AIM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942737163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3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LIGHTNING BUG DUAL DEPLOYMENT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2225943796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4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RRC3 "SPORT"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111308441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5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</a:rPr>
                        <a:t>EasyMini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986767664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6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</a:rPr>
                        <a:t>TELEMETRUM 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403227035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7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</a:rPr>
                        <a:t>Stratologger</a:t>
                      </a:r>
                      <a:r>
                        <a:rPr lang="tr-TR" sz="1600" dirty="0">
                          <a:effectLst/>
                        </a:rPr>
                        <a:t> CF 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442159332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8 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</a:rPr>
                        <a:t>TeleMega</a:t>
                      </a:r>
                      <a:r>
                        <a:rPr lang="tr-TR" sz="1600" dirty="0">
                          <a:effectLst/>
                        </a:rPr>
                        <a:t> 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3515567282"/>
                  </a:ext>
                </a:extLst>
              </a:tr>
              <a:tr h="316242">
                <a:tc>
                  <a:txBody>
                    <a:bodyPr/>
                    <a:lstStyle/>
                    <a:p>
                      <a:pPr marL="508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>
                          <a:effectLst/>
                        </a:rPr>
                        <a:t>9</a:t>
                      </a:r>
                      <a:endParaRPr lang="tr-TR" sz="1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</a:rPr>
                        <a:t>Sky</a:t>
                      </a:r>
                      <a:r>
                        <a:rPr lang="tr-TR" sz="1600" dirty="0">
                          <a:effectLst/>
                        </a:rPr>
                        <a:t> </a:t>
                      </a:r>
                      <a:r>
                        <a:rPr lang="tr-TR" sz="1600" dirty="0" err="1">
                          <a:effectLst/>
                        </a:rPr>
                        <a:t>Logic</a:t>
                      </a:r>
                      <a:r>
                        <a:rPr lang="tr-TR" sz="1600" dirty="0">
                          <a:effectLst/>
                        </a:rPr>
                        <a:t> (İpekyolu Team Product)</a:t>
                      </a:r>
                      <a:endParaRPr lang="tr-TR" sz="1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6985" marB="0"/>
                </a:tc>
                <a:extLst>
                  <a:ext uri="{0D108BD9-81ED-4DB2-BD59-A6C34878D82A}">
                    <a16:rowId xmlns:a16="http://schemas.microsoft.com/office/drawing/2014/main" val="18634915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C6C4B55-6AC7-4C63-BBAF-D38B1EC03776}"/>
              </a:ext>
            </a:extLst>
          </p:cNvPr>
          <p:cNvSpPr txBox="1"/>
          <p:nvPr/>
        </p:nvSpPr>
        <p:spPr>
          <a:xfrm>
            <a:off x="245806" y="5365216"/>
            <a:ext cx="1093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tr-TR" dirty="0"/>
              <a:t>COTS</a:t>
            </a:r>
            <a:r>
              <a:rPr lang="en-US" dirty="0"/>
              <a:t> </a:t>
            </a:r>
            <a:r>
              <a:rPr lang="tr-TR" dirty="0" err="1"/>
              <a:t>Avionics</a:t>
            </a:r>
            <a:r>
              <a:rPr lang="en-US" dirty="0"/>
              <a:t> </a:t>
            </a:r>
            <a:r>
              <a:rPr lang="tr-TR" dirty="0"/>
              <a:t>&amp;</a:t>
            </a:r>
            <a:r>
              <a:rPr lang="en-US" dirty="0"/>
              <a:t> </a:t>
            </a:r>
            <a:r>
              <a:rPr lang="tr-TR" dirty="0" err="1"/>
              <a:t>supporting</a:t>
            </a:r>
            <a:r>
              <a:rPr lang="en-US" dirty="0"/>
              <a:t> </a:t>
            </a:r>
            <a:r>
              <a:rPr lang="tr-TR" dirty="0" err="1"/>
              <a:t>units</a:t>
            </a:r>
            <a:r>
              <a:rPr lang="tr-TR" dirty="0"/>
              <a:t> </a:t>
            </a:r>
            <a:r>
              <a:rPr lang="tr-TR" dirty="0" err="1"/>
              <a:t>shall</a:t>
            </a:r>
            <a:r>
              <a:rPr lang="tr-TR" dirty="0"/>
              <a:t> be </a:t>
            </a:r>
            <a:r>
              <a:rPr lang="tr-TR" dirty="0" err="1"/>
              <a:t>described</a:t>
            </a:r>
            <a:r>
              <a:rPr lang="en-US" dirty="0"/>
              <a:t>. (Bat</a:t>
            </a:r>
            <a:r>
              <a:rPr lang="tr-TR" dirty="0" err="1"/>
              <a:t>tery</a:t>
            </a:r>
            <a:r>
              <a:rPr lang="en-US" dirty="0"/>
              <a:t>, switch </a:t>
            </a:r>
            <a:r>
              <a:rPr lang="tr-TR" dirty="0" err="1"/>
              <a:t>etc</a:t>
            </a:r>
            <a:r>
              <a:rPr lang="en-US" dirty="0"/>
              <a:t>.)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shalll</a:t>
            </a:r>
            <a:r>
              <a:rPr lang="tr-TR" dirty="0"/>
              <a:t> not </a:t>
            </a:r>
            <a:r>
              <a:rPr lang="tr-TR" dirty="0" err="1"/>
              <a:t>exceed</a:t>
            </a:r>
            <a:r>
              <a:rPr lang="tr-TR" dirty="0"/>
              <a:t> 2 </a:t>
            </a:r>
            <a:r>
              <a:rPr lang="tr-TR" dirty="0" err="1"/>
              <a:t>pages</a:t>
            </a:r>
            <a:r>
              <a:rPr lang="tr-TR" dirty="0"/>
              <a:t>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3ECCFA7B-E3DE-4AD6-920C-ED1A5619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8AF697CC-146F-4396-90CD-39224561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18780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21" name="Dikdörtgen 10"/>
          <p:cNvSpPr/>
          <p:nvPr/>
        </p:nvSpPr>
        <p:spPr>
          <a:xfrm>
            <a:off x="814710" y="1486709"/>
            <a:ext cx="2766690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Avioni</a:t>
            </a: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S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stem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S</a:t>
            </a:r>
            <a:r>
              <a:rPr lang="tr-TR" b="1" dirty="0" err="1">
                <a:solidFill>
                  <a:prstClr val="white"/>
                </a:solidFill>
                <a:latin typeface="Calibri" panose="020F0502020204030204"/>
                <a:cs typeface="Times New Roman" panose="02020603050405020304" pitchFamily="18" charset="0"/>
              </a:rPr>
              <a:t>chematics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Dikdörtgen 10"/>
          <p:cNvSpPr/>
          <p:nvPr/>
        </p:nvSpPr>
        <p:spPr>
          <a:xfrm>
            <a:off x="8600688" y="1480221"/>
            <a:ext cx="2794674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Manufactured</a:t>
            </a:r>
            <a:r>
              <a:rPr lang="tr-TR" b="1" dirty="0">
                <a:solidFill>
                  <a:prstClr val="white"/>
                </a:solidFill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Avionics</a:t>
            </a:r>
            <a:endParaRPr lang="tr-TR" b="1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tr-TR" b="1" dirty="0" err="1">
                <a:solidFill>
                  <a:prstClr val="white"/>
                </a:solidFill>
                <a:cs typeface="Times New Roman" panose="02020603050405020304" pitchFamily="18" charset="0"/>
              </a:rPr>
              <a:t>View</a:t>
            </a:r>
            <a:endParaRPr lang="tr-TR" b="1" dirty="0">
              <a:solidFill>
                <a:prstClr val="white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Dikdörtgen 10"/>
          <p:cNvSpPr/>
          <p:nvPr/>
        </p:nvSpPr>
        <p:spPr>
          <a:xfrm>
            <a:off x="4698663" y="1486709"/>
            <a:ext cx="2794674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Manufactured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Circuit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View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5E31B736-6CE7-9273-2DCE-458ADFD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7BEDC82-49FF-42E3-B7EA-26FF728940D5}" type="slidenum">
              <a:rPr lang="tr-TR" smtClean="0"/>
              <a:t>13</a:t>
            </a:fld>
            <a:endParaRPr lang="tr-T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7AB891-8BC5-C761-56A2-EC08E560252A}"/>
              </a:ext>
            </a:extLst>
          </p:cNvPr>
          <p:cNvSpPr txBox="1">
            <a:spLocks/>
          </p:cNvSpPr>
          <p:nvPr/>
        </p:nvSpPr>
        <p:spPr>
          <a:xfrm>
            <a:off x="1408090" y="249215"/>
            <a:ext cx="914400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COTS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Me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chanical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tr-T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4A986D6-9189-4E3B-A667-7C8E8D47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B7EF6B54-E23C-40DF-B665-905C8BD6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5535B0-2028-4FD2-AE7A-953B8E3DBD76}"/>
              </a:ext>
            </a:extLst>
          </p:cNvPr>
          <p:cNvSpPr txBox="1"/>
          <p:nvPr/>
        </p:nvSpPr>
        <p:spPr>
          <a:xfrm flipH="1">
            <a:off x="282101" y="3861876"/>
            <a:ext cx="116663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avionics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system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display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name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include</a:t>
            </a:r>
            <a:r>
              <a:rPr lang="tr-TR" altLang="tr-TR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photo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member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contain</a:t>
            </a:r>
            <a:r>
              <a:rPr lang="tr-TR" altLang="tr-TR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sticker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similar</a:t>
            </a:r>
            <a:r>
              <a:rPr lang="tr-TR" altLang="tr-TR" b="1" dirty="0">
                <a:latin typeface="Arial" panose="020B0604020202020204" pitchFamily="34" charset="0"/>
              </a:rPr>
              <a:t> logo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page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contain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only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visuals</a:t>
            </a:r>
            <a:r>
              <a:rPr lang="tr-TR" altLang="tr-TR" dirty="0">
                <a:latin typeface="Arial" panose="020B0604020202020204" pitchFamily="34" charset="0"/>
              </a:rPr>
              <a:t>;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detailed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information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should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provided</a:t>
            </a:r>
            <a:r>
              <a:rPr lang="tr-TR" altLang="tr-TR" b="1" dirty="0">
                <a:latin typeface="Arial" panose="020B0604020202020204" pitchFamily="34" charset="0"/>
              </a:rPr>
              <a:t> on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following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pages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provided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schematic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components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labeled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their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names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codes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22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Nose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tr-T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</a:t>
            </a:r>
          </a:p>
          <a:p>
            <a:pPr algn="ctr"/>
            <a:r>
              <a:rPr lang="tr-TR" dirty="0"/>
              <a:t>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14</a:t>
            </a:fld>
            <a:endParaRPr lang="tr-TR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1179226" y="2327938"/>
            <a:ext cx="4221852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Nose</a:t>
            </a:r>
            <a:r>
              <a:rPr lang="tr-TR" sz="3200" b="1" dirty="0"/>
              <a:t> </a:t>
            </a:r>
            <a:r>
              <a:rPr lang="tr-TR" sz="3200" b="1" dirty="0" err="1"/>
              <a:t>Cone</a:t>
            </a:r>
            <a:endParaRPr lang="tr-TR" sz="3200" b="1" dirty="0"/>
          </a:p>
          <a:p>
            <a:pPr algn="ctr"/>
            <a:r>
              <a:rPr lang="tr-TR" sz="3200" b="1" dirty="0"/>
              <a:t>3D </a:t>
            </a:r>
            <a:r>
              <a:rPr lang="tr-TR" sz="3200" b="1" dirty="0" err="1"/>
              <a:t>View</a:t>
            </a:r>
            <a:r>
              <a:rPr lang="tr-TR" sz="3200" b="1" dirty="0"/>
              <a:t> (CAD) </a:t>
            </a:r>
          </a:p>
        </p:txBody>
      </p:sp>
      <p:sp>
        <p:nvSpPr>
          <p:cNvPr id="17" name="Dikdörtgen 16"/>
          <p:cNvSpPr/>
          <p:nvPr/>
        </p:nvSpPr>
        <p:spPr>
          <a:xfrm>
            <a:off x="6920114" y="2327937"/>
            <a:ext cx="4059726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Manufactured</a:t>
            </a:r>
            <a:r>
              <a:rPr lang="tr-TR" sz="3200" b="1" dirty="0"/>
              <a:t> </a:t>
            </a:r>
            <a:r>
              <a:rPr lang="tr-TR" sz="3200" b="1" dirty="0" err="1"/>
              <a:t>Nose</a:t>
            </a:r>
            <a:r>
              <a:rPr lang="tr-TR" sz="3200" b="1" dirty="0"/>
              <a:t> </a:t>
            </a:r>
            <a:r>
              <a:rPr lang="tr-TR" sz="3200" b="1" dirty="0" err="1"/>
              <a:t>Cone</a:t>
            </a:r>
            <a:r>
              <a:rPr lang="tr-TR" sz="3200" b="1" dirty="0"/>
              <a:t> </a:t>
            </a:r>
            <a:r>
              <a:rPr lang="tr-TR" sz="3200" b="1" dirty="0" err="1"/>
              <a:t>View</a:t>
            </a:r>
            <a:endParaRPr lang="tr-TR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123D5-C87E-49C3-B44B-4875B1EC86AC}"/>
              </a:ext>
            </a:extLst>
          </p:cNvPr>
          <p:cNvSpPr txBox="1"/>
          <p:nvPr/>
        </p:nvSpPr>
        <p:spPr>
          <a:xfrm>
            <a:off x="447472" y="4698460"/>
            <a:ext cx="11284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nose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cone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display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name, </a:t>
            </a:r>
            <a:r>
              <a:rPr lang="tr-TR" altLang="tr-TR" b="1" dirty="0" err="1">
                <a:latin typeface="Arial" panose="020B0604020202020204" pitchFamily="34" charset="0"/>
              </a:rPr>
              <a:t>include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photo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member</a:t>
            </a:r>
            <a:r>
              <a:rPr lang="tr-TR" altLang="tr-TR" b="1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feature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sticker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similar</a:t>
            </a:r>
            <a:r>
              <a:rPr lang="tr-TR" altLang="tr-TR" b="1" dirty="0">
                <a:latin typeface="Arial" panose="020B0604020202020204" pitchFamily="34" charset="0"/>
              </a:rPr>
              <a:t> logo.</a:t>
            </a:r>
            <a:endParaRPr lang="tr-TR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B08048C2-1D46-41AC-971B-59DC12C0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813F75DF-EBD7-416F-A45A-9C71D83C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4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249783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tr-T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15</a:t>
            </a:fld>
            <a:endParaRPr lang="tr-TR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7238627" y="2510556"/>
            <a:ext cx="4221852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Manufacured</a:t>
            </a:r>
            <a:r>
              <a:rPr lang="tr-TR" sz="3200" b="1" dirty="0"/>
              <a:t> </a:t>
            </a:r>
          </a:p>
          <a:p>
            <a:pPr algn="ctr"/>
            <a:r>
              <a:rPr lang="tr-TR" sz="3200" b="1" dirty="0" err="1"/>
              <a:t>Fins</a:t>
            </a:r>
            <a:r>
              <a:rPr lang="tr-TR" sz="3200" b="1" dirty="0"/>
              <a:t> </a:t>
            </a:r>
            <a:r>
              <a:rPr lang="tr-TR" sz="3200" b="1" dirty="0" err="1"/>
              <a:t>View</a:t>
            </a:r>
            <a:endParaRPr lang="tr-TR" sz="3200" b="1" dirty="0"/>
          </a:p>
          <a:p>
            <a:pPr algn="ctr"/>
            <a:endParaRPr lang="tr-TR" sz="3200" b="1" dirty="0"/>
          </a:p>
        </p:txBody>
      </p:sp>
      <p:sp>
        <p:nvSpPr>
          <p:cNvPr id="17" name="Dikdörtgen 16"/>
          <p:cNvSpPr/>
          <p:nvPr/>
        </p:nvSpPr>
        <p:spPr>
          <a:xfrm>
            <a:off x="943176" y="2510557"/>
            <a:ext cx="4059726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Fins</a:t>
            </a:r>
            <a:r>
              <a:rPr lang="tr-TR" sz="3200" b="1" dirty="0"/>
              <a:t> 3D </a:t>
            </a:r>
            <a:r>
              <a:rPr lang="tr-TR" sz="3200" b="1" dirty="0" err="1"/>
              <a:t>View</a:t>
            </a:r>
            <a:r>
              <a:rPr lang="tr-TR" sz="3200" b="1" dirty="0"/>
              <a:t> (CAD)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3BCD32-A657-4DB8-B262-FE40248FD47D}"/>
              </a:ext>
            </a:extLst>
          </p:cNvPr>
          <p:cNvSpPr/>
          <p:nvPr/>
        </p:nvSpPr>
        <p:spPr>
          <a:xfrm>
            <a:off x="165337" y="4661217"/>
            <a:ext cx="116295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fins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display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name, </a:t>
            </a:r>
            <a:r>
              <a:rPr lang="tr-TR" altLang="tr-TR" b="1" dirty="0" err="1">
                <a:latin typeface="Arial" panose="020B0604020202020204" pitchFamily="34" charset="0"/>
              </a:rPr>
              <a:t>include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photo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member</a:t>
            </a:r>
            <a:r>
              <a:rPr lang="tr-TR" altLang="tr-TR" b="1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feature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sticker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similar</a:t>
            </a:r>
            <a:r>
              <a:rPr lang="tr-TR" altLang="tr-TR" b="1" dirty="0">
                <a:latin typeface="Arial" panose="020B0604020202020204" pitchFamily="34" charset="0"/>
              </a:rPr>
              <a:t> logo.</a:t>
            </a:r>
            <a:endParaRPr lang="tr-TR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90233F4-3A7A-4478-B941-F1FC83FE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2764D342-4F2F-4225-A2D9-89E7107C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2870595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2359" y="136525"/>
            <a:ext cx="9144000" cy="1000640"/>
          </a:xfrm>
        </p:spPr>
        <p:txBody>
          <a:bodyPr>
            <a:noAutofit/>
          </a:bodyPr>
          <a:lstStyle/>
          <a:p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 (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tr-T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16</a:t>
            </a:fld>
            <a:endParaRPr lang="tr-TR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593238" y="2110401"/>
            <a:ext cx="4578838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Body </a:t>
            </a:r>
            <a:r>
              <a:rPr lang="tr-TR" sz="3200" b="1" dirty="0" err="1"/>
              <a:t>Parts</a:t>
            </a:r>
            <a:r>
              <a:rPr lang="tr-TR" sz="3200" b="1" dirty="0"/>
              <a:t> 3D </a:t>
            </a:r>
            <a:r>
              <a:rPr lang="tr-TR" sz="3200" b="1" dirty="0" err="1"/>
              <a:t>View</a:t>
            </a:r>
            <a:endParaRPr lang="en-US" sz="3200" b="1" dirty="0"/>
          </a:p>
          <a:p>
            <a:pPr algn="ctr"/>
            <a:r>
              <a:rPr lang="tr-TR" sz="3200" b="1" dirty="0"/>
              <a:t>(CAD)</a:t>
            </a:r>
          </a:p>
        </p:txBody>
      </p:sp>
      <p:sp>
        <p:nvSpPr>
          <p:cNvPr id="17" name="Dikdörtgen 16"/>
          <p:cNvSpPr/>
          <p:nvPr/>
        </p:nvSpPr>
        <p:spPr>
          <a:xfrm>
            <a:off x="6586123" y="2110400"/>
            <a:ext cx="4999797" cy="1521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Manufactured</a:t>
            </a:r>
            <a:r>
              <a:rPr lang="tr-TR" sz="3200" b="1" dirty="0"/>
              <a:t> Body </a:t>
            </a:r>
            <a:r>
              <a:rPr lang="tr-TR" sz="3200" b="1" dirty="0" err="1"/>
              <a:t>Parts</a:t>
            </a:r>
            <a:r>
              <a:rPr lang="tr-TR" sz="3200" b="1" dirty="0"/>
              <a:t> </a:t>
            </a:r>
            <a:r>
              <a:rPr lang="tr-TR" sz="3200" b="1" dirty="0" err="1"/>
              <a:t>View</a:t>
            </a:r>
            <a:endParaRPr lang="tr-TR" sz="3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CA982-ED3E-4A36-B6BB-F467951D2806}"/>
              </a:ext>
            </a:extLst>
          </p:cNvPr>
          <p:cNvSpPr/>
          <p:nvPr/>
        </p:nvSpPr>
        <p:spPr>
          <a:xfrm>
            <a:off x="165337" y="4116466"/>
            <a:ext cx="116295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body </a:t>
            </a:r>
            <a:r>
              <a:rPr lang="tr-TR" altLang="tr-TR" b="1" dirty="0" err="1">
                <a:latin typeface="Arial" panose="020B0604020202020204" pitchFamily="34" charset="0"/>
              </a:rPr>
              <a:t>parts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display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name, </a:t>
            </a:r>
            <a:r>
              <a:rPr lang="tr-TR" altLang="tr-TR" b="1" dirty="0" err="1">
                <a:latin typeface="Arial" panose="020B0604020202020204" pitchFamily="34" charset="0"/>
              </a:rPr>
              <a:t>include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photo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team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member</a:t>
            </a:r>
            <a:r>
              <a:rPr lang="tr-TR" altLang="tr-TR" b="1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feature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sticker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similar</a:t>
            </a:r>
            <a:r>
              <a:rPr lang="tr-TR" altLang="tr-TR" b="1" dirty="0">
                <a:latin typeface="Arial" panose="020B0604020202020204" pitchFamily="34" charset="0"/>
              </a:rPr>
              <a:t> logo.</a:t>
            </a:r>
          </a:p>
          <a:p>
            <a:endParaRPr lang="tr-TR" b="1" dirty="0">
              <a:latin typeface="Arial" panose="020B0604020202020204" pitchFamily="34" charset="0"/>
            </a:endParaRPr>
          </a:p>
          <a:p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externally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accessible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mechanical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also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provided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detailed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explanations</a:t>
            </a:r>
            <a:r>
              <a:rPr lang="tr-TR" altLang="tr-TR" b="1" dirty="0">
                <a:latin typeface="Arial" panose="020B0604020202020204" pitchFamily="34" charset="0"/>
              </a:rPr>
              <a:t>.</a:t>
            </a:r>
            <a:r>
              <a:rPr lang="tr-TR" b="1" dirty="0">
                <a:latin typeface="Arial" panose="020B0604020202020204" pitchFamily="34" charset="0"/>
              </a:rPr>
              <a:t> </a:t>
            </a:r>
          </a:p>
          <a:p>
            <a:endParaRPr lang="tr-TR" b="1" dirty="0">
              <a:latin typeface="Arial" panose="020B0604020202020204" pitchFamily="34" charset="0"/>
            </a:endParaRPr>
          </a:p>
          <a:p>
            <a:r>
              <a:rPr lang="tr-TR" b="1" dirty="0" err="1">
                <a:latin typeface="Arial" panose="020B0604020202020204" pitchFamily="34" charset="0"/>
              </a:rPr>
              <a:t>This</a:t>
            </a:r>
            <a:r>
              <a:rPr lang="tr-TR" b="1" dirty="0">
                <a:latin typeface="Arial" panose="020B0604020202020204" pitchFamily="34" charset="0"/>
              </a:rPr>
              <a:t> </a:t>
            </a:r>
            <a:r>
              <a:rPr lang="tr-TR" b="1" dirty="0" err="1">
                <a:latin typeface="Arial" panose="020B0604020202020204" pitchFamily="34" charset="0"/>
              </a:rPr>
              <a:t>section</a:t>
            </a:r>
            <a:r>
              <a:rPr lang="tr-TR" b="1" dirty="0">
                <a:latin typeface="Arial" panose="020B0604020202020204" pitchFamily="34" charset="0"/>
              </a:rPr>
              <a:t> </a:t>
            </a:r>
            <a:r>
              <a:rPr lang="tr-TR" b="1" dirty="0" err="1">
                <a:latin typeface="Arial" panose="020B0604020202020204" pitchFamily="34" charset="0"/>
              </a:rPr>
              <a:t>shall</a:t>
            </a:r>
            <a:r>
              <a:rPr lang="tr-TR" b="1" dirty="0">
                <a:latin typeface="Arial" panose="020B0604020202020204" pitchFamily="34" charset="0"/>
              </a:rPr>
              <a:t> not </a:t>
            </a:r>
            <a:r>
              <a:rPr lang="tr-TR" b="1" dirty="0" err="1">
                <a:latin typeface="Arial" panose="020B0604020202020204" pitchFamily="34" charset="0"/>
              </a:rPr>
              <a:t>exceed</a:t>
            </a:r>
            <a:r>
              <a:rPr lang="tr-TR" b="1" dirty="0">
                <a:latin typeface="Arial" panose="020B0604020202020204" pitchFamily="34" charset="0"/>
              </a:rPr>
              <a:t> 3 </a:t>
            </a:r>
            <a:r>
              <a:rPr lang="tr-TR" b="1" dirty="0" err="1">
                <a:latin typeface="Arial" panose="020B0604020202020204" pitchFamily="34" charset="0"/>
              </a:rPr>
              <a:t>pages</a:t>
            </a:r>
            <a:r>
              <a:rPr lang="tr-TR" b="1" dirty="0">
                <a:latin typeface="Arial" panose="020B0604020202020204" pitchFamily="34" charset="0"/>
              </a:rPr>
              <a:t>.</a:t>
            </a:r>
            <a:endParaRPr lang="tr-TR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5EF7464-9465-44F5-80AB-0E36A366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0794453C-C6E5-4DF9-9A20-3D35BBFE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902759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190" y="0"/>
            <a:ext cx="9144000" cy="1120871"/>
          </a:xfrm>
        </p:spPr>
        <p:txBody>
          <a:bodyPr>
            <a:noAutofit/>
          </a:bodyPr>
          <a:lstStyle/>
          <a:p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Body (Integration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tr-T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248" y="1227162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17</a:t>
            </a:fld>
            <a:endParaRPr lang="tr-TR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B2895726-AD4B-4D45-81DF-6A93A52A725E}"/>
              </a:ext>
            </a:extLst>
          </p:cNvPr>
          <p:cNvSpPr txBox="1"/>
          <p:nvPr/>
        </p:nvSpPr>
        <p:spPr>
          <a:xfrm>
            <a:off x="80158" y="3650954"/>
            <a:ext cx="11847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 err="1">
                <a:latin typeface="Arial" panose="020B0604020202020204" pitchFamily="34" charset="0"/>
              </a:rPr>
              <a:t>This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section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should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explain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internal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structural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components</a:t>
            </a:r>
            <a:r>
              <a:rPr lang="tr-TR" altLang="tr-TR" b="1" dirty="0">
                <a:latin typeface="Arial" panose="020B0604020202020204" pitchFamily="34" charset="0"/>
              </a:rPr>
              <a:t> of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such</a:t>
            </a:r>
            <a:r>
              <a:rPr lang="tr-TR" altLang="tr-TR" dirty="0">
                <a:latin typeface="Arial" panose="020B0604020202020204" pitchFamily="34" charset="0"/>
              </a:rPr>
              <a:t> as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coupler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b="1" dirty="0">
                <a:latin typeface="Arial" panose="020B0604020202020204" pitchFamily="34" charset="0"/>
              </a:rPr>
              <a:t>motor </a:t>
            </a:r>
            <a:r>
              <a:rPr lang="tr-TR" altLang="tr-TR" b="1" dirty="0" err="1">
                <a:latin typeface="Arial" panose="020B0604020202020204" pitchFamily="34" charset="0"/>
              </a:rPr>
              <a:t>bulkhead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other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supporting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elements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tr-TR" altLang="tr-TR" dirty="0">
                <a:latin typeface="Arial" panose="020B0604020202020204" pitchFamily="34" charset="0"/>
              </a:rPr>
            </a:br>
            <a:r>
              <a:rPr lang="tr-TR" altLang="tr-TR" dirty="0">
                <a:latin typeface="Arial" panose="020B0604020202020204" pitchFamily="34" charset="0"/>
              </a:rPr>
              <a:t>Information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provided</a:t>
            </a:r>
            <a:r>
              <a:rPr lang="tr-TR" altLang="tr-TR" dirty="0">
                <a:latin typeface="Arial" panose="020B0604020202020204" pitchFamily="34" charset="0"/>
              </a:rPr>
              <a:t> on </a:t>
            </a:r>
            <a:r>
              <a:rPr lang="tr-TR" altLang="tr-TR" b="1" dirty="0">
                <a:latin typeface="Arial" panose="020B0604020202020204" pitchFamily="34" charset="0"/>
              </a:rPr>
              <a:t>how </a:t>
            </a:r>
            <a:r>
              <a:rPr lang="tr-TR" altLang="tr-TR" b="1" dirty="0" err="1">
                <a:latin typeface="Arial" panose="020B0604020202020204" pitchFamily="34" charset="0"/>
              </a:rPr>
              <a:t>and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where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these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are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connected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b="1" dirty="0">
                <a:latin typeface="Arial" panose="020B0604020202020204" pitchFamily="34" charset="0"/>
              </a:rPr>
              <a:t> body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tr-TR" altLang="tr-TR" dirty="0">
                <a:latin typeface="Arial" panose="020B0604020202020204" pitchFamily="34" charset="0"/>
              </a:rPr>
            </a:b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separation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will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occur</a:t>
            </a:r>
            <a:r>
              <a:rPr lang="tr-TR" altLang="tr-TR" dirty="0">
                <a:latin typeface="Arial" panose="020B0604020202020204" pitchFamily="34" charset="0"/>
              </a:rPr>
              <a:t> at </a:t>
            </a:r>
            <a:r>
              <a:rPr lang="tr-TR" altLang="tr-TR" dirty="0" err="1">
                <a:latin typeface="Arial" panose="020B0604020202020204" pitchFamily="34" charset="0"/>
              </a:rPr>
              <a:t>any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point</a:t>
            </a:r>
            <a:r>
              <a:rPr lang="tr-TR" altLang="tr-TR" dirty="0">
                <a:latin typeface="Arial" panose="020B0604020202020204" pitchFamily="34" charset="0"/>
              </a:rPr>
              <a:t>, it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clearly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stated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there</a:t>
            </a:r>
            <a:r>
              <a:rPr lang="tr-TR" altLang="tr-TR" dirty="0">
                <a:latin typeface="Arial" panose="020B0604020202020204" pitchFamily="34" charset="0"/>
              </a:rPr>
              <a:t> is </a:t>
            </a:r>
            <a:r>
              <a:rPr lang="tr-TR" altLang="tr-TR" b="1" dirty="0" err="1">
                <a:latin typeface="Arial" panose="020B0604020202020204" pitchFamily="34" charset="0"/>
              </a:rPr>
              <a:t>no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coupler</a:t>
            </a:r>
            <a:r>
              <a:rPr lang="tr-TR" altLang="tr-TR" dirty="0">
                <a:latin typeface="Arial" panose="020B0604020202020204" pitchFamily="34" charset="0"/>
              </a:rPr>
              <a:t> (</a:t>
            </a:r>
            <a:r>
              <a:rPr lang="tr-TR" altLang="tr-TR" dirty="0" err="1">
                <a:latin typeface="Arial" panose="020B0604020202020204" pitchFamily="34" charset="0"/>
              </a:rPr>
              <a:t>i.e</a:t>
            </a:r>
            <a:r>
              <a:rPr lang="tr-TR" altLang="tr-TR" dirty="0">
                <a:latin typeface="Arial" panose="020B0604020202020204" pitchFamily="34" charset="0"/>
              </a:rPr>
              <a:t>., </a:t>
            </a: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body is a </a:t>
            </a:r>
            <a:r>
              <a:rPr lang="tr-TR" altLang="tr-TR" dirty="0" err="1">
                <a:latin typeface="Arial" panose="020B0604020202020204" pitchFamily="34" charset="0"/>
              </a:rPr>
              <a:t>single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piece</a:t>
            </a:r>
            <a:r>
              <a:rPr lang="tr-TR" altLang="tr-TR" dirty="0">
                <a:latin typeface="Arial" panose="020B0604020202020204" pitchFamily="34" charset="0"/>
              </a:rPr>
              <a:t>),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also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indicated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Dikdörtgen 10"/>
          <p:cNvSpPr/>
          <p:nvPr/>
        </p:nvSpPr>
        <p:spPr>
          <a:xfrm>
            <a:off x="7084323" y="1850296"/>
            <a:ext cx="4221852" cy="1043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Manufactured</a:t>
            </a:r>
            <a:r>
              <a:rPr lang="tr-TR" sz="3200" b="1" dirty="0"/>
              <a:t> </a:t>
            </a:r>
            <a:r>
              <a:rPr lang="tr-TR" sz="3200" b="1" dirty="0" err="1"/>
              <a:t>Parts</a:t>
            </a:r>
            <a:r>
              <a:rPr lang="tr-TR" sz="3200" b="1" dirty="0"/>
              <a:t> </a:t>
            </a:r>
            <a:r>
              <a:rPr lang="tr-TR" sz="3200" b="1" dirty="0" err="1"/>
              <a:t>View</a:t>
            </a:r>
            <a:endParaRPr lang="tr-TR" sz="3200" b="1" dirty="0"/>
          </a:p>
        </p:txBody>
      </p:sp>
      <p:sp>
        <p:nvSpPr>
          <p:cNvPr id="15" name="Dikdörtgen 16"/>
          <p:cNvSpPr/>
          <p:nvPr/>
        </p:nvSpPr>
        <p:spPr>
          <a:xfrm>
            <a:off x="971751" y="1850296"/>
            <a:ext cx="4059726" cy="104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3D </a:t>
            </a:r>
            <a:r>
              <a:rPr lang="tr-TR" sz="3200" b="1" dirty="0" err="1"/>
              <a:t>View</a:t>
            </a:r>
            <a:endParaRPr lang="en-US" sz="3200" b="1" dirty="0"/>
          </a:p>
          <a:p>
            <a:pPr algn="ctr"/>
            <a:r>
              <a:rPr lang="tr-TR" sz="3200" b="1" dirty="0"/>
              <a:t>(CAD) 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CBA397C8-B8DF-46F3-B058-39F8683B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5374C94D-7CCC-4B13-B4CB-46267EDB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161256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2359" y="286459"/>
            <a:ext cx="9144000" cy="750956"/>
          </a:xfrm>
        </p:spPr>
        <p:txBody>
          <a:bodyPr>
            <a:normAutofit fontScale="90000"/>
          </a:bodyPr>
          <a:lstStyle/>
          <a:p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18</a:t>
            </a:fld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0" y="1267920"/>
            <a:ext cx="12184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method</a:t>
            </a:r>
            <a:r>
              <a:rPr lang="tr-TR" altLang="tr-TR" b="1" dirty="0">
                <a:latin typeface="Arial" panose="020B0604020202020204" pitchFamily="34" charset="0"/>
              </a:rPr>
              <a:t> of </a:t>
            </a:r>
            <a:r>
              <a:rPr lang="tr-TR" altLang="tr-TR" b="1" dirty="0" err="1">
                <a:latin typeface="Arial" panose="020B0604020202020204" pitchFamily="34" charset="0"/>
              </a:rPr>
              <a:t>integrating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motor </a:t>
            </a:r>
            <a:r>
              <a:rPr lang="tr-TR" altLang="tr-TR" b="1" dirty="0" err="1">
                <a:latin typeface="Arial" panose="020B0604020202020204" pitchFamily="34" charset="0"/>
              </a:rPr>
              <a:t>into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illustrated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including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components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such</a:t>
            </a:r>
            <a:r>
              <a:rPr lang="tr-TR" altLang="tr-TR" dirty="0">
                <a:latin typeface="Arial" panose="020B0604020202020204" pitchFamily="34" charset="0"/>
              </a:rPr>
              <a:t> as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>
                <a:latin typeface="Arial" panose="020B0604020202020204" pitchFamily="34" charset="0"/>
              </a:rPr>
              <a:t>motor </a:t>
            </a:r>
            <a:r>
              <a:rPr lang="tr-TR" altLang="tr-TR" b="1" dirty="0" err="1">
                <a:latin typeface="Arial" panose="020B0604020202020204" pitchFamily="34" charset="0"/>
              </a:rPr>
              <a:t>mount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centering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rings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etc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A </a:t>
            </a:r>
            <a:r>
              <a:rPr lang="tr-TR" altLang="tr-TR" b="1" dirty="0" err="1">
                <a:latin typeface="Arial" panose="020B0604020202020204" pitchFamily="34" charset="0"/>
              </a:rPr>
              <a:t>cross-sectional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view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>
                <a:latin typeface="Arial" panose="020B0604020202020204" pitchFamily="34" charset="0"/>
              </a:rPr>
              <a:t>motor </a:t>
            </a:r>
            <a:r>
              <a:rPr lang="tr-TR" altLang="tr-TR" b="1" dirty="0" err="1">
                <a:latin typeface="Arial" panose="020B0604020202020204" pitchFamily="34" charset="0"/>
              </a:rPr>
              <a:t>installation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area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provided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motor in </a:t>
            </a:r>
            <a:r>
              <a:rPr lang="tr-TR" altLang="tr-TR" b="1" dirty="0" err="1">
                <a:latin typeface="Arial" panose="020B0604020202020204" pitchFamily="34" charset="0"/>
              </a:rPr>
              <a:t>place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Fasteners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such</a:t>
            </a:r>
            <a:r>
              <a:rPr lang="tr-TR" altLang="tr-TR" dirty="0">
                <a:latin typeface="Arial" panose="020B0604020202020204" pitchFamily="34" charset="0"/>
              </a:rPr>
              <a:t> as </a:t>
            </a:r>
            <a:r>
              <a:rPr lang="tr-TR" altLang="tr-TR" b="1" dirty="0" err="1">
                <a:latin typeface="Arial" panose="020B0604020202020204" pitchFamily="34" charset="0"/>
              </a:rPr>
              <a:t>bolts</a:t>
            </a:r>
            <a:r>
              <a:rPr lang="tr-TR" altLang="tr-TR" b="1" dirty="0">
                <a:latin typeface="Arial" panose="020B0604020202020204" pitchFamily="34" charset="0"/>
              </a:rPr>
              <a:t>, </a:t>
            </a:r>
            <a:r>
              <a:rPr lang="tr-TR" altLang="tr-TR" b="1" dirty="0" err="1">
                <a:latin typeface="Arial" panose="020B0604020202020204" pitchFamily="34" charset="0"/>
              </a:rPr>
              <a:t>nuts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other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connection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elements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specified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section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not </a:t>
            </a:r>
            <a:r>
              <a:rPr lang="tr-TR" altLang="tr-TR" b="1" dirty="0" err="1">
                <a:latin typeface="Arial" panose="020B0604020202020204" pitchFamily="34" charset="0"/>
              </a:rPr>
              <a:t>exceed</a:t>
            </a:r>
            <a:r>
              <a:rPr lang="tr-TR" altLang="tr-TR" b="1" dirty="0">
                <a:latin typeface="Arial" panose="020B0604020202020204" pitchFamily="34" charset="0"/>
              </a:rPr>
              <a:t> 2 </a:t>
            </a:r>
            <a:r>
              <a:rPr lang="tr-TR" altLang="tr-TR" b="1" dirty="0" err="1">
                <a:latin typeface="Arial" panose="020B0604020202020204" pitchFamily="34" charset="0"/>
              </a:rPr>
              <a:t>slides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-40194"/>
            <a:ext cx="1212160" cy="1212160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578219" y="4136041"/>
            <a:ext cx="5266140" cy="1561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Motor </a:t>
            </a:r>
            <a:r>
              <a:rPr lang="tr-TR" sz="3200" b="1" dirty="0" err="1"/>
              <a:t>Section</a:t>
            </a:r>
            <a:r>
              <a:rPr lang="tr-TR" sz="3200" b="1" dirty="0"/>
              <a:t> 3D </a:t>
            </a:r>
            <a:r>
              <a:rPr lang="tr-TR" sz="3200" b="1" dirty="0" err="1"/>
              <a:t>View</a:t>
            </a:r>
            <a:r>
              <a:rPr lang="tr-TR" sz="3200" b="1" dirty="0"/>
              <a:t> </a:t>
            </a:r>
          </a:p>
          <a:p>
            <a:pPr algn="ctr"/>
            <a:r>
              <a:rPr lang="tr-TR" sz="3200" b="1" dirty="0"/>
              <a:t>(CAD)</a:t>
            </a:r>
          </a:p>
        </p:txBody>
      </p:sp>
      <p:sp>
        <p:nvSpPr>
          <p:cNvPr id="15" name="Dikdörtgen 10">
            <a:extLst>
              <a:ext uri="{FF2B5EF4-FFF2-40B4-BE49-F238E27FC236}">
                <a16:creationId xmlns:a16="http://schemas.microsoft.com/office/drawing/2014/main" id="{CA6A1013-CB31-42B1-8AD4-26888EA891C0}"/>
              </a:ext>
            </a:extLst>
          </p:cNvPr>
          <p:cNvSpPr/>
          <p:nvPr/>
        </p:nvSpPr>
        <p:spPr>
          <a:xfrm>
            <a:off x="6828014" y="4136041"/>
            <a:ext cx="4525786" cy="1561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b="1" dirty="0" err="1"/>
              <a:t>Manufactured</a:t>
            </a:r>
            <a:r>
              <a:rPr lang="tr-TR" sz="3200" b="1" dirty="0"/>
              <a:t> </a:t>
            </a:r>
            <a:r>
              <a:rPr lang="tr-TR" sz="3200" b="1" dirty="0" err="1"/>
              <a:t>Parts</a:t>
            </a:r>
            <a:r>
              <a:rPr lang="tr-TR" sz="3200" b="1" dirty="0"/>
              <a:t> </a:t>
            </a:r>
          </a:p>
          <a:p>
            <a:pPr algn="ctr"/>
            <a:r>
              <a:rPr lang="tr-TR" sz="3200" b="1" dirty="0" err="1"/>
              <a:t>View</a:t>
            </a:r>
            <a:endParaRPr lang="tr-TR" sz="3200" b="1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59E52EF-D297-4AED-9BEB-3EF698FC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1B8A3B2-89A6-4BA9-8720-E2F07C48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469318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7911" y="2131052"/>
            <a:ext cx="9525747" cy="295074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Test</a:t>
            </a:r>
            <a:r>
              <a:rPr lang="tr-TR" sz="4800" b="1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19</a:t>
            </a:fld>
            <a:endParaRPr lang="tr-T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53658" y="57790"/>
            <a:ext cx="1377714" cy="11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592" y="430591"/>
            <a:ext cx="11719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Logo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B81212F-6EA0-4B2F-8C17-93ECAB216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A6668533-33C0-481C-A009-41BB2F2D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973073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endParaRPr lang="tr-T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20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3CD0DDAB-7119-84F6-7E4A-148C37B613A5}"/>
              </a:ext>
            </a:extLst>
          </p:cNvPr>
          <p:cNvSpPr txBox="1"/>
          <p:nvPr/>
        </p:nvSpPr>
        <p:spPr>
          <a:xfrm>
            <a:off x="92365" y="1046789"/>
            <a:ext cx="117267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conducted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FRR (Flight Readiness </a:t>
            </a:r>
            <a:r>
              <a:rPr lang="tr-TR" altLang="tr-TR" dirty="0" err="1">
                <a:latin typeface="Arial" panose="020B0604020202020204" pitchFamily="34" charset="0"/>
              </a:rPr>
              <a:t>Review</a:t>
            </a:r>
            <a:r>
              <a:rPr lang="tr-TR" altLang="tr-TR" dirty="0">
                <a:latin typeface="Arial" panose="020B0604020202020204" pitchFamily="34" charset="0"/>
              </a:rPr>
              <a:t>) </a:t>
            </a:r>
            <a:r>
              <a:rPr lang="tr-TR" altLang="tr-TR" dirty="0" err="1">
                <a:latin typeface="Arial" panose="020B0604020202020204" pitchFamily="34" charset="0"/>
              </a:rPr>
              <a:t>phase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performed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using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final </a:t>
            </a:r>
            <a:r>
              <a:rPr lang="tr-TR" altLang="tr-TR" b="1" dirty="0" err="1">
                <a:latin typeface="Arial" panose="020B0604020202020204" pitchFamily="34" charset="0"/>
              </a:rPr>
              <a:t>systems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Prototypes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temporary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systems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not be </a:t>
            </a:r>
            <a:r>
              <a:rPr lang="tr-TR" altLang="tr-TR" b="1" dirty="0" err="1">
                <a:latin typeface="Arial" panose="020B0604020202020204" pitchFamily="34" charset="0"/>
              </a:rPr>
              <a:t>used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it is </a:t>
            </a:r>
            <a:r>
              <a:rPr lang="tr-TR" altLang="tr-TR" dirty="0" err="1">
                <a:latin typeface="Arial" panose="020B0604020202020204" pitchFamily="34" charset="0"/>
              </a:rPr>
              <a:t>determined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that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systems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brought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launch</a:t>
            </a:r>
            <a:r>
              <a:rPr lang="tr-TR" altLang="tr-TR" dirty="0">
                <a:latin typeface="Arial" panose="020B0604020202020204" pitchFamily="34" charset="0"/>
              </a:rPr>
              <a:t> site </a:t>
            </a:r>
            <a:r>
              <a:rPr lang="tr-TR" altLang="tr-TR" dirty="0" err="1">
                <a:latin typeface="Arial" panose="020B0604020202020204" pitchFamily="34" charset="0"/>
              </a:rPr>
              <a:t>are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different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from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those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tested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team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will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disqualified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manufacturing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procurement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processes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information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systems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shared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with</a:t>
            </a:r>
            <a:r>
              <a:rPr lang="tr-TR" altLang="tr-TR" dirty="0">
                <a:latin typeface="Arial" panose="020B0604020202020204" pitchFamily="34" charset="0"/>
              </a:rPr>
              <a:t> FRR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fully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completed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b="1" dirty="0">
                <a:latin typeface="Arial" panose="020B0604020202020204" pitchFamily="34" charset="0"/>
              </a:rPr>
              <a:t> No </a:t>
            </a:r>
            <a:r>
              <a:rPr lang="tr-TR" altLang="tr-TR" b="1" dirty="0" err="1">
                <a:latin typeface="Arial" panose="020B0604020202020204" pitchFamily="34" charset="0"/>
              </a:rPr>
              <a:t>exceptions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will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granted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delays</a:t>
            </a:r>
            <a:r>
              <a:rPr lang="tr-TR" altLang="tr-TR" dirty="0">
                <a:latin typeface="Arial" panose="020B0604020202020204" pitchFamily="34" charset="0"/>
              </a:rPr>
              <a:t> in </a:t>
            </a:r>
            <a:r>
              <a:rPr lang="tr-TR" altLang="tr-TR" dirty="0" err="1">
                <a:latin typeface="Arial" panose="020B0604020202020204" pitchFamily="34" charset="0"/>
              </a:rPr>
              <a:t>procurement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manufacturing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Videos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relevant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uploaded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YouTube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links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shared</a:t>
            </a:r>
            <a:r>
              <a:rPr lang="tr-TR" altLang="tr-TR" b="1" dirty="0">
                <a:latin typeface="Arial" panose="020B0604020202020204" pitchFamily="34" charset="0"/>
              </a:rPr>
              <a:t> in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designated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section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along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FRR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Although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durations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specified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are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sufficient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cannot</a:t>
            </a:r>
            <a:r>
              <a:rPr lang="tr-TR" altLang="tr-TR" b="1" dirty="0">
                <a:latin typeface="Arial" panose="020B0604020202020204" pitchFamily="34" charset="0"/>
              </a:rPr>
              <a:t> fit </a:t>
            </a:r>
            <a:r>
              <a:rPr lang="tr-TR" altLang="tr-TR" b="1" dirty="0" err="1">
                <a:latin typeface="Arial" panose="020B0604020202020204" pitchFamily="34" charset="0"/>
              </a:rPr>
              <a:t>within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these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durations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videos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sped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up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accordingly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Teams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exceeding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specified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durations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will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identified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disqualified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b="1" dirty="0" err="1">
                <a:latin typeface="Arial" panose="020B0604020202020204" pitchFamily="34" charset="0"/>
              </a:rPr>
              <a:t>Submission</a:t>
            </a:r>
            <a:r>
              <a:rPr lang="tr-TR" altLang="tr-TR" b="1" dirty="0">
                <a:latin typeface="Arial" panose="020B0604020202020204" pitchFamily="34" charset="0"/>
              </a:rPr>
              <a:t> of </a:t>
            </a:r>
            <a:r>
              <a:rPr lang="tr-TR" altLang="tr-TR" b="1" dirty="0" err="1">
                <a:latin typeface="Arial" panose="020B0604020202020204" pitchFamily="34" charset="0"/>
              </a:rPr>
              <a:t>these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tests</a:t>
            </a:r>
            <a:r>
              <a:rPr lang="tr-TR" altLang="tr-TR" b="1" dirty="0">
                <a:latin typeface="Arial" panose="020B0604020202020204" pitchFamily="34" charset="0"/>
              </a:rPr>
              <a:t> is </a:t>
            </a:r>
            <a:r>
              <a:rPr lang="tr-TR" altLang="tr-TR" b="1" dirty="0" err="1">
                <a:latin typeface="Arial" panose="020B0604020202020204" pitchFamily="34" charset="0"/>
              </a:rPr>
              <a:t>mandatory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Failure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share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incomplete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sharing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will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result</a:t>
            </a:r>
            <a:r>
              <a:rPr lang="tr-TR" altLang="tr-TR" b="1" dirty="0">
                <a:latin typeface="Arial" panose="020B0604020202020204" pitchFamily="34" charset="0"/>
              </a:rPr>
              <a:t> in </a:t>
            </a:r>
            <a:r>
              <a:rPr lang="tr-TR" altLang="tr-TR" b="1" dirty="0" err="1">
                <a:latin typeface="Arial" panose="020B0604020202020204" pitchFamily="34" charset="0"/>
              </a:rPr>
              <a:t>disqualification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If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occupational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safety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rules</a:t>
            </a:r>
            <a:r>
              <a:rPr lang="tr-TR" altLang="tr-TR" b="1" dirty="0">
                <a:latin typeface="Arial" panose="020B0604020202020204" pitchFamily="34" charset="0"/>
              </a:rPr>
              <a:t> (OHS)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are</a:t>
            </a:r>
            <a:r>
              <a:rPr lang="tr-TR" altLang="tr-TR" dirty="0">
                <a:latin typeface="Arial" panose="020B0604020202020204" pitchFamily="34" charset="0"/>
              </a:rPr>
              <a:t> not </a:t>
            </a:r>
            <a:r>
              <a:rPr lang="tr-TR" altLang="tr-TR" dirty="0" err="1">
                <a:latin typeface="Arial" panose="020B0604020202020204" pitchFamily="34" charset="0"/>
              </a:rPr>
              <a:t>followed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team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will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disqualified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7790B47-4E7C-834E-05CF-ECCB5A40EEF8}"/>
              </a:ext>
            </a:extLst>
          </p:cNvPr>
          <p:cNvSpPr/>
          <p:nvPr/>
        </p:nvSpPr>
        <p:spPr>
          <a:xfrm>
            <a:off x="773021" y="5816050"/>
            <a:ext cx="10645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dirty="0" err="1">
                <a:solidFill>
                  <a:srgbClr val="FF0000"/>
                </a:solidFill>
              </a:rPr>
              <a:t>This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section</a:t>
            </a:r>
            <a:r>
              <a:rPr lang="tr-TR" dirty="0">
                <a:solidFill>
                  <a:srgbClr val="FF0000"/>
                </a:solidFill>
              </a:rPr>
              <a:t> is </a:t>
            </a:r>
            <a:r>
              <a:rPr lang="tr-TR" dirty="0" err="1">
                <a:solidFill>
                  <a:srgbClr val="FF0000"/>
                </a:solidFill>
              </a:rPr>
              <a:t>submitted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only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for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information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purposes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and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shall</a:t>
            </a:r>
            <a:r>
              <a:rPr lang="tr-TR" dirty="0">
                <a:solidFill>
                  <a:srgbClr val="FF0000"/>
                </a:solidFill>
              </a:rPr>
              <a:t> be </a:t>
            </a:r>
            <a:r>
              <a:rPr lang="tr-TR" dirty="0" err="1">
                <a:solidFill>
                  <a:srgbClr val="FF0000"/>
                </a:solidFill>
              </a:rPr>
              <a:t>deleted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by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the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teams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before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submit</a:t>
            </a:r>
            <a:r>
              <a:rPr lang="tr-TR" dirty="0">
                <a:solidFill>
                  <a:srgbClr val="FF0000"/>
                </a:solidFill>
              </a:rPr>
              <a:t> of FRR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13DD4D3-5626-4340-B316-635AAC2F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7054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9911DF4C-9F00-4EC6-89D4-301B7245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B83DF116-D374-49AD-9863-476F09E4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2765296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it-IT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it-IT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–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21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3CD0DDAB-7119-84F6-7E4A-148C37B613A5}"/>
              </a:ext>
            </a:extLst>
          </p:cNvPr>
          <p:cNvSpPr txBox="1"/>
          <p:nvPr/>
        </p:nvSpPr>
        <p:spPr>
          <a:xfrm>
            <a:off x="77190" y="1000171"/>
            <a:ext cx="121847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In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section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teams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separate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their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using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deployment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system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  <a:br>
              <a:rPr lang="tr-TR" altLang="tr-TR" dirty="0">
                <a:latin typeface="Arial" panose="020B0604020202020204" pitchFamily="34" charset="0"/>
              </a:rPr>
            </a:br>
            <a:endParaRPr lang="tr-TR" altLang="tr-T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test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conducted</a:t>
            </a:r>
            <a:r>
              <a:rPr lang="tr-TR" altLang="tr-TR" dirty="0">
                <a:latin typeface="Arial" panose="020B0604020202020204" pitchFamily="34" charset="0"/>
              </a:rPr>
              <a:t> in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same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configuration</a:t>
            </a:r>
            <a:r>
              <a:rPr lang="tr-TR" altLang="tr-TR" dirty="0">
                <a:latin typeface="Arial" panose="020B0604020202020204" pitchFamily="34" charset="0"/>
              </a:rPr>
              <a:t> as it </a:t>
            </a:r>
            <a:r>
              <a:rPr lang="tr-TR" altLang="tr-TR" dirty="0" err="1">
                <a:latin typeface="Arial" panose="020B0604020202020204" pitchFamily="34" charset="0"/>
              </a:rPr>
              <a:t>will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used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flight</a:t>
            </a:r>
            <a:r>
              <a:rPr lang="tr-TR" altLang="tr-TR" dirty="0">
                <a:latin typeface="Arial" panose="020B0604020202020204" pitchFamily="34" charset="0"/>
              </a:rPr>
              <a:t> (</a:t>
            </a:r>
            <a:r>
              <a:rPr lang="tr-TR" altLang="tr-TR" dirty="0" err="1">
                <a:latin typeface="Arial" panose="020B0604020202020204" pitchFamily="34" charset="0"/>
              </a:rPr>
              <a:t>i.e</a:t>
            </a:r>
            <a:r>
              <a:rPr lang="tr-TR" altLang="tr-TR" dirty="0">
                <a:latin typeface="Arial" panose="020B0604020202020204" pitchFamily="34" charset="0"/>
              </a:rPr>
              <a:t>., </a:t>
            </a:r>
            <a:r>
              <a:rPr lang="tr-TR" altLang="tr-TR" dirty="0" err="1">
                <a:latin typeface="Arial" panose="020B0604020202020204" pitchFamily="34" charset="0"/>
              </a:rPr>
              <a:t>flight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payloads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nose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cone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separable</a:t>
            </a:r>
            <a:r>
              <a:rPr lang="tr-TR" altLang="tr-TR" dirty="0">
                <a:latin typeface="Arial" panose="020B0604020202020204" pitchFamily="34" charset="0"/>
              </a:rPr>
              <a:t> body </a:t>
            </a:r>
            <a:r>
              <a:rPr lang="tr-TR" altLang="tr-TR" dirty="0" err="1">
                <a:latin typeface="Arial" panose="020B0604020202020204" pitchFamily="34" charset="0"/>
              </a:rPr>
              <a:t>sections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avionics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systems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included</a:t>
            </a:r>
            <a:r>
              <a:rPr lang="tr-TR" altLang="tr-TR" dirty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Teams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using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>
                <a:latin typeface="Arial" panose="020B0604020202020204" pitchFamily="34" charset="0"/>
              </a:rPr>
              <a:t>HGG (Hot </a:t>
            </a:r>
            <a:r>
              <a:rPr lang="tr-TR" altLang="tr-TR" b="1" dirty="0" err="1">
                <a:latin typeface="Arial" panose="020B0604020202020204" pitchFamily="34" charset="0"/>
              </a:rPr>
              <a:t>Gas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Generator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delivered</a:t>
            </a:r>
            <a:r>
              <a:rPr lang="tr-TR" altLang="tr-TR" dirty="0">
                <a:latin typeface="Arial" panose="020B0604020202020204" pitchFamily="34" charset="0"/>
              </a:rPr>
              <a:t> in Aksaray Test </a:t>
            </a:r>
            <a:r>
              <a:rPr lang="tr-TR" altLang="tr-TR" dirty="0" err="1">
                <a:latin typeface="Arial" panose="020B0604020202020204" pitchFamily="34" charset="0"/>
              </a:rPr>
              <a:t>Range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finals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competition</a:t>
            </a:r>
            <a:r>
              <a:rPr lang="tr-TR" altLang="tr-TR" b="1" dirty="0">
                <a:latin typeface="Arial" panose="020B0604020202020204" pitchFamily="34" charset="0"/>
              </a:rPr>
              <a:t>)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use</a:t>
            </a:r>
            <a:r>
              <a:rPr lang="tr-TR" altLang="tr-TR" dirty="0">
                <a:latin typeface="Arial" panose="020B0604020202020204" pitchFamily="34" charset="0"/>
              </a:rPr>
              <a:t> an </a:t>
            </a:r>
            <a:r>
              <a:rPr lang="tr-TR" altLang="tr-TR" b="1" dirty="0" err="1">
                <a:latin typeface="Arial" panose="020B0604020202020204" pitchFamily="34" charset="0"/>
              </a:rPr>
              <a:t>alternative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gas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source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test.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For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all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other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separation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systems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actual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components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intended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flight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used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number</a:t>
            </a:r>
            <a:r>
              <a:rPr lang="tr-TR" altLang="tr-TR" b="1" dirty="0">
                <a:latin typeface="Arial" panose="020B0604020202020204" pitchFamily="34" charset="0"/>
              </a:rPr>
              <a:t> of </a:t>
            </a:r>
            <a:r>
              <a:rPr lang="tr-TR" altLang="tr-TR" b="1" dirty="0" err="1">
                <a:latin typeface="Arial" panose="020B0604020202020204" pitchFamily="34" charset="0"/>
              </a:rPr>
              <a:t>separation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points</a:t>
            </a:r>
            <a:r>
              <a:rPr lang="tr-TR" altLang="tr-TR" dirty="0">
                <a:latin typeface="Arial" panose="020B0604020202020204" pitchFamily="34" charset="0"/>
              </a:rPr>
              <a:t> on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specified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video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clearly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show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that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has </a:t>
            </a:r>
            <a:r>
              <a:rPr lang="tr-TR" altLang="tr-TR" b="1" dirty="0" err="1">
                <a:latin typeface="Arial" panose="020B0604020202020204" pitchFamily="34" charset="0"/>
              </a:rPr>
              <a:t>separated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successfully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that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payloads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have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been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ejected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Parachute</a:t>
            </a:r>
            <a:r>
              <a:rPr lang="tr-TR" altLang="tr-TR" b="1" dirty="0">
                <a:latin typeface="Arial" panose="020B0604020202020204" pitchFamily="34" charset="0"/>
              </a:rPr>
              <a:t> Deployment </a:t>
            </a:r>
            <a:r>
              <a:rPr lang="tr-TR" altLang="tr-TR" b="1" dirty="0" err="1">
                <a:latin typeface="Arial" panose="020B0604020202020204" pitchFamily="34" charset="0"/>
              </a:rPr>
              <a:t>System</a:t>
            </a:r>
            <a:r>
              <a:rPr lang="tr-TR" altLang="tr-TR" b="1" dirty="0">
                <a:latin typeface="Arial" panose="020B0604020202020204" pitchFamily="34" charset="0"/>
              </a:rPr>
              <a:t> Test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not </a:t>
            </a:r>
            <a:r>
              <a:rPr lang="tr-TR" altLang="tr-TR" b="1" dirty="0" err="1">
                <a:latin typeface="Arial" panose="020B0604020202020204" pitchFamily="34" charset="0"/>
              </a:rPr>
              <a:t>exceed</a:t>
            </a:r>
            <a:r>
              <a:rPr lang="tr-TR" altLang="tr-TR" b="1" dirty="0">
                <a:latin typeface="Arial" panose="020B0604020202020204" pitchFamily="34" charset="0"/>
              </a:rPr>
              <a:t> 30 </a:t>
            </a:r>
            <a:r>
              <a:rPr lang="tr-TR" altLang="tr-TR" b="1" dirty="0" err="1">
                <a:latin typeface="Arial" panose="020B0604020202020204" pitchFamily="34" charset="0"/>
              </a:rPr>
              <a:t>seconds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37132FD4-761E-45B7-8CE3-DA9881D0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6D2BA97D-94AF-4AFA-A7F9-581BB2A4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2212824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 -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Parachute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22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78E641B9-7AA6-7E9C-6911-9D7F8EDA85A6}"/>
              </a:ext>
            </a:extLst>
          </p:cNvPr>
          <p:cNvSpPr txBox="1"/>
          <p:nvPr/>
        </p:nvSpPr>
        <p:spPr>
          <a:xfrm>
            <a:off x="77190" y="1090323"/>
            <a:ext cx="121847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These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tests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prove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that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parachutes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deploy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properly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are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functional</a:t>
            </a:r>
            <a:r>
              <a:rPr lang="tr-TR" altLang="tr-TR" dirty="0">
                <a:latin typeface="Arial" panose="020B0604020202020204" pitchFamily="34" charset="0"/>
              </a:rPr>
              <a:t>.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>
                <a:latin typeface="Arial" panose="020B0604020202020204" pitchFamily="34" charset="0"/>
              </a:rPr>
              <a:t>final </a:t>
            </a:r>
            <a:r>
              <a:rPr lang="tr-TR" altLang="tr-TR" b="1" dirty="0" err="1">
                <a:latin typeface="Arial" panose="020B0604020202020204" pitchFamily="34" charset="0"/>
              </a:rPr>
              <a:t>manufactured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versions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used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 err="1">
                <a:latin typeface="Arial" panose="020B0604020202020204" pitchFamily="34" charset="0"/>
              </a:rPr>
              <a:t>Weights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attached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ends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dropped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from</a:t>
            </a:r>
            <a:r>
              <a:rPr lang="tr-TR" altLang="tr-TR" b="1" dirty="0">
                <a:latin typeface="Arial" panose="020B0604020202020204" pitchFamily="34" charset="0"/>
              </a:rPr>
              <a:t> a </a:t>
            </a:r>
            <a:r>
              <a:rPr lang="tr-TR" altLang="tr-TR" b="1" dirty="0" err="1">
                <a:latin typeface="Arial" panose="020B0604020202020204" pitchFamily="34" charset="0"/>
              </a:rPr>
              <a:t>height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determined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by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teams</a:t>
            </a:r>
            <a:r>
              <a:rPr lang="tr-TR" altLang="tr-TR" dirty="0">
                <a:latin typeface="Arial" panose="020B0604020202020204" pitchFamily="34" charset="0"/>
              </a:rPr>
              <a:t> (</a:t>
            </a:r>
            <a:r>
              <a:rPr lang="tr-TR" altLang="tr-TR" dirty="0" err="1">
                <a:latin typeface="Arial" panose="020B0604020202020204" pitchFamily="34" charset="0"/>
              </a:rPr>
              <a:t>sufficient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for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deploy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slow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attached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weight</a:t>
            </a:r>
            <a:r>
              <a:rPr lang="tr-TR" altLang="tr-TR" dirty="0">
                <a:latin typeface="Arial" panose="020B0604020202020204" pitchFamily="34" charset="0"/>
              </a:rPr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closed</a:t>
            </a:r>
            <a:r>
              <a:rPr lang="tr-TR" altLang="tr-TR" b="1" dirty="0">
                <a:latin typeface="Arial" panose="020B0604020202020204" pitchFamily="34" charset="0"/>
              </a:rPr>
              <a:t> at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moment of </a:t>
            </a:r>
            <a:r>
              <a:rPr lang="tr-TR" altLang="tr-TR" b="1" dirty="0" err="1">
                <a:latin typeface="Arial" panose="020B0604020202020204" pitchFamily="34" charset="0"/>
              </a:rPr>
              <a:t>release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open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automatically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test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performed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all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parachutes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maximum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duration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each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Parachute</a:t>
            </a:r>
            <a:r>
              <a:rPr lang="tr-TR" altLang="tr-TR" b="1" dirty="0">
                <a:latin typeface="Arial" panose="020B0604020202020204" pitchFamily="34" charset="0"/>
              </a:rPr>
              <a:t> Test</a:t>
            </a:r>
            <a:r>
              <a:rPr lang="tr-TR" altLang="tr-TR" dirty="0">
                <a:latin typeface="Arial" panose="020B0604020202020204" pitchFamily="34" charset="0"/>
              </a:rPr>
              <a:t> is </a:t>
            </a:r>
            <a:r>
              <a:rPr lang="tr-TR" altLang="tr-TR" b="1" dirty="0">
                <a:latin typeface="Arial" panose="020B0604020202020204" pitchFamily="34" charset="0"/>
              </a:rPr>
              <a:t>30 </a:t>
            </a:r>
            <a:r>
              <a:rPr lang="tr-TR" altLang="tr-TR" b="1" dirty="0" err="1">
                <a:latin typeface="Arial" panose="020B0604020202020204" pitchFamily="34" charset="0"/>
              </a:rPr>
              <a:t>seconds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79BFC15-CA3B-4F7F-A002-5F17E834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C5FB877B-28AC-460A-B114-03454049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9255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Rigidity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23</a:t>
            </a:fld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7248" y="1299264"/>
            <a:ext cx="12184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fins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mounted</a:t>
            </a:r>
            <a:r>
              <a:rPr lang="tr-TR" altLang="tr-TR" b="1" dirty="0">
                <a:latin typeface="Arial" panose="020B0604020202020204" pitchFamily="34" charset="0"/>
              </a:rPr>
              <a:t> on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pressed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by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hand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demonstrate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their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rigidity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  <a:br>
              <a:rPr lang="tr-TR" altLang="tr-TR" dirty="0">
                <a:latin typeface="Arial" panose="020B0604020202020204" pitchFamily="34" charset="0"/>
              </a:rPr>
            </a:b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fully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assembled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placed</a:t>
            </a:r>
            <a:r>
              <a:rPr lang="tr-TR" altLang="tr-TR" b="1" dirty="0">
                <a:latin typeface="Arial" panose="020B0604020202020204" pitchFamily="34" charset="0"/>
              </a:rPr>
              <a:t> on a </a:t>
            </a:r>
            <a:r>
              <a:rPr lang="tr-TR" altLang="tr-TR" b="1" dirty="0" err="1">
                <a:latin typeface="Arial" panose="020B0604020202020204" pitchFamily="34" charset="0"/>
              </a:rPr>
              <a:t>support</a:t>
            </a:r>
            <a:r>
              <a:rPr lang="tr-TR" altLang="tr-TR" b="1" dirty="0">
                <a:latin typeface="Arial" panose="020B0604020202020204" pitchFamily="34" charset="0"/>
              </a:rPr>
              <a:t> at </a:t>
            </a:r>
            <a:r>
              <a:rPr lang="tr-TR" altLang="tr-TR" b="1" dirty="0" err="1">
                <a:latin typeface="Arial" panose="020B0604020202020204" pitchFamily="34" charset="0"/>
              </a:rPr>
              <a:t>its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center</a:t>
            </a:r>
            <a:r>
              <a:rPr lang="tr-TR" altLang="tr-TR" b="1" dirty="0">
                <a:latin typeface="Arial" panose="020B0604020202020204" pitchFamily="34" charset="0"/>
              </a:rPr>
              <a:t> of </a:t>
            </a:r>
            <a:r>
              <a:rPr lang="tr-TR" altLang="tr-TR" b="1" dirty="0" err="1">
                <a:latin typeface="Arial" panose="020B0604020202020204" pitchFamily="34" charset="0"/>
              </a:rPr>
              <a:t>gravity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it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shown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that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does</a:t>
            </a:r>
            <a:r>
              <a:rPr lang="tr-TR" altLang="tr-TR" b="1" dirty="0">
                <a:latin typeface="Arial" panose="020B0604020202020204" pitchFamily="34" charset="0"/>
              </a:rPr>
              <a:t> not </a:t>
            </a:r>
            <a:r>
              <a:rPr lang="tr-TR" altLang="tr-TR" b="1" dirty="0" err="1">
                <a:latin typeface="Arial" panose="020B0604020202020204" pitchFamily="34" charset="0"/>
              </a:rPr>
              <a:t>bend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or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sag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  <a:br>
              <a:rPr lang="tr-TR" altLang="tr-TR" dirty="0">
                <a:latin typeface="Arial" panose="020B0604020202020204" pitchFamily="34" charset="0"/>
              </a:rPr>
            </a:b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Structural</a:t>
            </a:r>
            <a:r>
              <a:rPr lang="tr-TR" altLang="tr-TR" b="1" dirty="0">
                <a:latin typeface="Arial" panose="020B0604020202020204" pitchFamily="34" charset="0"/>
              </a:rPr>
              <a:t> Test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duration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not </a:t>
            </a:r>
            <a:r>
              <a:rPr lang="tr-TR" altLang="tr-TR" b="1" dirty="0" err="1">
                <a:latin typeface="Arial" panose="020B0604020202020204" pitchFamily="34" charset="0"/>
              </a:rPr>
              <a:t>exceed</a:t>
            </a:r>
            <a:r>
              <a:rPr lang="tr-TR" altLang="tr-TR" b="1" dirty="0">
                <a:latin typeface="Arial" panose="020B0604020202020204" pitchFamily="34" charset="0"/>
              </a:rPr>
              <a:t> 30 </a:t>
            </a:r>
            <a:r>
              <a:rPr lang="tr-TR" altLang="tr-TR" b="1" dirty="0" err="1">
                <a:latin typeface="Arial" panose="020B0604020202020204" pitchFamily="34" charset="0"/>
              </a:rPr>
              <a:t>seconds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  <a:endParaRPr lang="en-US" b="1" u="sng" dirty="0">
              <a:solidFill>
                <a:srgbClr val="FF0000"/>
              </a:solidFill>
            </a:endParaRP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EB186CF-BB3B-4B16-AA0B-320E40E2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49867804-7DAD-449B-A704-4506C509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740458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9215"/>
            <a:ext cx="9144000" cy="75095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Flight Readiness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EDC82-49FF-42E3-B7EA-26FF728940D5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565" y="1189862"/>
            <a:ext cx="116640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4-stage video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r-TR" altLang="tr-TR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Rocket Assembly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subsystems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ensuring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arise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hot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how it is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powder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Pre-Launch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10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minutes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demonstrated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Motor Installation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how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motor is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onto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Altimeter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Installation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how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altimeter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installed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altLang="tr-TR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r-TR" altLang="tr-TR" sz="1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Rocket Assembly: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60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endParaRPr lang="tr-TR" altLang="tr-T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Pre-Launch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60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endParaRPr lang="tr-TR" altLang="tr-T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Motor Installation: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30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endParaRPr lang="tr-TR" altLang="tr-T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Altimeter</a:t>
            </a:r>
            <a:r>
              <a:rPr lang="tr-TR" altLang="tr-TR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Installation: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tr-TR" altLang="tr-TR" sz="1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30 </a:t>
            </a:r>
            <a:r>
              <a:rPr lang="tr-TR" altLang="tr-TR" sz="16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seconds</a:t>
            </a:r>
            <a:endParaRPr lang="tr-TR" altLang="tr-TR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54592" y="292092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imes New Roman" panose="02020603050405020304" pitchFamily="18" charset="0"/>
              </a:rPr>
              <a:t>Team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imes New Roman" panose="02020603050405020304" pitchFamily="18" charset="0"/>
              </a:rPr>
              <a:t>Logo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08CE428-C919-4474-9544-B577B81D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85EAA1B4-17DC-4B98-8692-BA53CC24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487766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  <a:endParaRPr lang="tr-T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25</a:t>
            </a:fld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7248" y="1259071"/>
            <a:ext cx="121847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As </a:t>
            </a:r>
            <a:r>
              <a:rPr lang="tr-TR" altLang="tr-TR" dirty="0" err="1">
                <a:latin typeface="Arial" panose="020B0604020202020204" pitchFamily="34" charset="0"/>
              </a:rPr>
              <a:t>part</a:t>
            </a:r>
            <a:r>
              <a:rPr lang="tr-TR" altLang="tr-TR" dirty="0">
                <a:latin typeface="Arial" panose="020B0604020202020204" pitchFamily="34" charset="0"/>
              </a:rPr>
              <a:t> of </a:t>
            </a:r>
            <a:r>
              <a:rPr lang="tr-TR" altLang="tr-TR" dirty="0" err="1">
                <a:latin typeface="Arial" panose="020B0604020202020204" pitchFamily="34" charset="0"/>
              </a:rPr>
              <a:t>this</a:t>
            </a:r>
            <a:r>
              <a:rPr lang="tr-TR" altLang="tr-TR" dirty="0">
                <a:latin typeface="Arial" panose="020B0604020202020204" pitchFamily="34" charset="0"/>
              </a:rPr>
              <a:t> test, </a:t>
            </a:r>
            <a:r>
              <a:rPr lang="tr-TR" altLang="tr-TR" dirty="0" err="1">
                <a:latin typeface="Arial" panose="020B0604020202020204" pitchFamily="34" charset="0"/>
              </a:rPr>
              <a:t>teams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are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expected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transmit</a:t>
            </a:r>
            <a:r>
              <a:rPr lang="tr-TR" altLang="tr-TR" b="1" dirty="0">
                <a:latin typeface="Arial" panose="020B0604020202020204" pitchFamily="34" charset="0"/>
              </a:rPr>
              <a:t> data </a:t>
            </a:r>
            <a:r>
              <a:rPr lang="tr-TR" altLang="tr-TR" b="1" dirty="0" err="1">
                <a:latin typeface="Arial" panose="020B0604020202020204" pitchFamily="34" charset="0"/>
              </a:rPr>
              <a:t>to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ground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station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via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their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Telemetry</a:t>
            </a:r>
            <a:r>
              <a:rPr lang="tr-TR" altLang="tr-TR" b="1" dirty="0">
                <a:latin typeface="Arial" panose="020B0604020202020204" pitchFamily="34" charset="0"/>
              </a:rPr>
              <a:t> (</a:t>
            </a:r>
            <a:r>
              <a:rPr lang="tr-TR" altLang="tr-TR" b="1" dirty="0" err="1">
                <a:latin typeface="Arial" panose="020B0604020202020204" pitchFamily="34" charset="0"/>
              </a:rPr>
              <a:t>Communication</a:t>
            </a:r>
            <a:r>
              <a:rPr lang="tr-TR" altLang="tr-TR" b="1" dirty="0">
                <a:latin typeface="Arial" panose="020B0604020202020204" pitchFamily="34" charset="0"/>
              </a:rPr>
              <a:t>) </a:t>
            </a:r>
            <a:r>
              <a:rPr lang="tr-TR" altLang="tr-TR" b="1" dirty="0" err="1">
                <a:latin typeface="Arial" panose="020B0604020202020204" pitchFamily="34" charset="0"/>
              </a:rPr>
              <a:t>Computers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latin typeface="Arial" panose="020B0604020202020204" pitchFamily="34" charset="0"/>
              </a:rPr>
              <a:t>Data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sent </a:t>
            </a:r>
            <a:r>
              <a:rPr lang="tr-TR" altLang="tr-TR" b="1" dirty="0" err="1">
                <a:latin typeface="Arial" panose="020B0604020202020204" pitchFamily="34" charset="0"/>
              </a:rPr>
              <a:t>both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from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payload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and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from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rocket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to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ground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station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 err="1">
                <a:latin typeface="Arial" panose="020B0604020202020204" pitchFamily="34" charset="0"/>
              </a:rPr>
              <a:t>Location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information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must</a:t>
            </a:r>
            <a:r>
              <a:rPr lang="tr-TR" altLang="tr-TR" dirty="0">
                <a:latin typeface="Arial" panose="020B0604020202020204" pitchFamily="34" charset="0"/>
              </a:rPr>
              <a:t> be </a:t>
            </a:r>
            <a:r>
              <a:rPr lang="tr-TR" altLang="tr-TR" dirty="0" err="1">
                <a:latin typeface="Arial" panose="020B0604020202020204" pitchFamily="34" charset="0"/>
              </a:rPr>
              <a:t>included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among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transmitted</a:t>
            </a:r>
            <a:r>
              <a:rPr lang="tr-TR" altLang="tr-TR" dirty="0">
                <a:latin typeface="Arial" panose="020B0604020202020204" pitchFamily="34" charset="0"/>
              </a:rPr>
              <a:t>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systems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being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tested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same</a:t>
            </a:r>
            <a:r>
              <a:rPr lang="tr-TR" altLang="tr-TR" b="1" dirty="0">
                <a:latin typeface="Arial" panose="020B0604020202020204" pitchFamily="34" charset="0"/>
              </a:rPr>
              <a:t> as </a:t>
            </a:r>
            <a:r>
              <a:rPr lang="tr-TR" altLang="tr-TR" b="1" dirty="0" err="1">
                <a:latin typeface="Arial" panose="020B0604020202020204" pitchFamily="34" charset="0"/>
              </a:rPr>
              <a:t>those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to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used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during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competition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distance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between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the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tested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locations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shown</a:t>
            </a:r>
            <a:r>
              <a:rPr lang="tr-TR" altLang="tr-TR" b="1" dirty="0">
                <a:latin typeface="Arial" panose="020B0604020202020204" pitchFamily="34" charset="0"/>
              </a:rPr>
              <a:t> on a </a:t>
            </a:r>
            <a:r>
              <a:rPr lang="tr-TR" altLang="tr-TR" b="1" dirty="0" err="1">
                <a:latin typeface="Arial" panose="020B0604020202020204" pitchFamily="34" charset="0"/>
              </a:rPr>
              <a:t>map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screen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must</a:t>
            </a:r>
            <a:r>
              <a:rPr lang="tr-TR" altLang="tr-TR" b="1" dirty="0">
                <a:latin typeface="Arial" panose="020B0604020202020204" pitchFamily="34" charset="0"/>
              </a:rPr>
              <a:t> be </a:t>
            </a:r>
            <a:r>
              <a:rPr lang="tr-TR" altLang="tr-TR" b="1" dirty="0" err="1">
                <a:latin typeface="Arial" panose="020B0604020202020204" pitchFamily="34" charset="0"/>
              </a:rPr>
              <a:t>split</a:t>
            </a:r>
            <a:r>
              <a:rPr lang="tr-TR" altLang="tr-TR" dirty="0">
                <a:latin typeface="Arial" panose="020B0604020202020204" pitchFamily="34" charset="0"/>
              </a:rPr>
              <a:t>, </a:t>
            </a:r>
            <a:r>
              <a:rPr lang="tr-TR" altLang="tr-TR" dirty="0" err="1">
                <a:latin typeface="Arial" panose="020B0604020202020204" pitchFamily="34" charset="0"/>
              </a:rPr>
              <a:t>displaying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both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ground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station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and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the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Telemetry</a:t>
            </a:r>
            <a:r>
              <a:rPr lang="tr-TR" altLang="tr-TR" b="1" dirty="0">
                <a:latin typeface="Arial" panose="020B0604020202020204" pitchFamily="34" charset="0"/>
              </a:rPr>
              <a:t> </a:t>
            </a:r>
            <a:r>
              <a:rPr lang="tr-TR" altLang="tr-TR" b="1" dirty="0" err="1">
                <a:latin typeface="Arial" panose="020B0604020202020204" pitchFamily="34" charset="0"/>
              </a:rPr>
              <a:t>Computer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latin typeface="Arial" panose="020B0604020202020204" pitchFamily="34" charset="0"/>
              </a:rPr>
              <a:t>simultaneously</a:t>
            </a:r>
            <a:r>
              <a:rPr lang="tr-TR" altLang="tr-TR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>
                <a:latin typeface="Arial" panose="020B0604020202020204" pitchFamily="34" charset="0"/>
              </a:rPr>
              <a:t>Minimum test </a:t>
            </a:r>
            <a:r>
              <a:rPr lang="tr-TR" altLang="tr-TR" b="1" dirty="0" err="1">
                <a:latin typeface="Arial" panose="020B0604020202020204" pitchFamily="34" charset="0"/>
              </a:rPr>
              <a:t>distances</a:t>
            </a:r>
            <a:r>
              <a:rPr lang="tr-TR" altLang="tr-TR" b="1" dirty="0">
                <a:latin typeface="Arial" panose="020B0604020202020204" pitchFamily="34" charset="0"/>
              </a:rPr>
              <a:t>: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lang="tr-TR" altLang="tr-TR" b="1" dirty="0">
                <a:latin typeface="Arial" panose="020B0604020202020204" pitchFamily="34" charset="0"/>
              </a:rPr>
              <a:t>A4 </a:t>
            </a:r>
            <a:r>
              <a:rPr lang="tr-TR" altLang="tr-TR" b="1" dirty="0" err="1">
                <a:latin typeface="Arial" panose="020B0604020202020204" pitchFamily="34" charset="0"/>
              </a:rPr>
              <a:t>category</a:t>
            </a:r>
            <a:r>
              <a:rPr lang="tr-TR" altLang="tr-TR" dirty="0">
                <a:latin typeface="Arial" panose="020B0604020202020204" pitchFamily="34" charset="0"/>
              </a:rPr>
              <a:t> 3000 </a:t>
            </a:r>
            <a:r>
              <a:rPr lang="tr-TR" altLang="tr-TR" dirty="0" err="1">
                <a:latin typeface="Arial" panose="020B0604020202020204" pitchFamily="34" charset="0"/>
              </a:rPr>
              <a:t>meters</a:t>
            </a:r>
            <a:endParaRPr lang="tr-TR" altLang="tr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dirty="0">
              <a:latin typeface="Arial" panose="020B0604020202020204" pitchFamily="34" charset="0"/>
            </a:endParaRPr>
          </a:p>
          <a:p>
            <a:endParaRPr lang="tr-TR" dirty="0"/>
          </a:p>
          <a:p>
            <a:endParaRPr lang="tr-TR" dirty="0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998D050-18A7-4495-B220-1257AC22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EA3F0BF3-76B6-464F-BF64-7DA1D449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4285037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26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F18F8AA-7BF4-E00B-401B-A1B3223CA507}"/>
              </a:ext>
            </a:extLst>
          </p:cNvPr>
          <p:cNvSpPr txBox="1">
            <a:spLocks/>
          </p:cNvSpPr>
          <p:nvPr/>
        </p:nvSpPr>
        <p:spPr>
          <a:xfrm>
            <a:off x="1408090" y="249215"/>
            <a:ext cx="9571750" cy="7509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05FC00-42FD-47A9-B364-D8E7BA3F0815}"/>
              </a:ext>
            </a:extLst>
          </p:cNvPr>
          <p:cNvSpPr txBox="1"/>
          <p:nvPr/>
        </p:nvSpPr>
        <p:spPr>
          <a:xfrm>
            <a:off x="274552" y="1452005"/>
            <a:ext cx="114472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part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FRR,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teams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expected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conduct</a:t>
            </a:r>
            <a:r>
              <a:rPr lang="tr-TR" dirty="0"/>
              <a:t> </a:t>
            </a:r>
            <a:r>
              <a:rPr lang="tr-TR" b="1" dirty="0" err="1"/>
              <a:t>algorithm</a:t>
            </a:r>
            <a:r>
              <a:rPr lang="tr-TR" b="1" dirty="0"/>
              <a:t> </a:t>
            </a:r>
            <a:r>
              <a:rPr lang="tr-TR" b="1" dirty="0" err="1"/>
              <a:t>tests</a:t>
            </a:r>
            <a:r>
              <a:rPr lang="tr-TR" dirty="0"/>
              <a:t>. </a:t>
            </a:r>
          </a:p>
          <a:p>
            <a:endParaRPr lang="tr-TR" dirty="0"/>
          </a:p>
          <a:p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tests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</a:t>
            </a:r>
            <a:r>
              <a:rPr lang="tr-TR" dirty="0" err="1"/>
              <a:t>demonstrate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activation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flight</a:t>
            </a:r>
            <a:r>
              <a:rPr lang="tr-TR" b="1" dirty="0"/>
              <a:t> </a:t>
            </a:r>
            <a:r>
              <a:rPr lang="tr-TR" b="1" dirty="0" err="1"/>
              <a:t>control</a:t>
            </a:r>
            <a:r>
              <a:rPr lang="tr-TR" b="1" dirty="0"/>
              <a:t> </a:t>
            </a:r>
            <a:r>
              <a:rPr lang="tr-TR" b="1" dirty="0" err="1"/>
              <a:t>computer</a:t>
            </a:r>
            <a:r>
              <a:rPr lang="tr-TR" b="1" dirty="0"/>
              <a:t> </a:t>
            </a:r>
            <a:r>
              <a:rPr lang="tr-TR" b="1" dirty="0" err="1"/>
              <a:t>intended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flight</a:t>
            </a:r>
            <a:r>
              <a:rPr lang="tr-TR" dirty="0"/>
              <a:t>.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a </a:t>
            </a:r>
            <a:r>
              <a:rPr lang="tr-TR" dirty="0" err="1"/>
              <a:t>team</a:t>
            </a:r>
            <a:r>
              <a:rPr lang="tr-TR" dirty="0"/>
              <a:t> </a:t>
            </a:r>
            <a:r>
              <a:rPr lang="tr-TR" dirty="0" err="1"/>
              <a:t>uses</a:t>
            </a:r>
            <a:r>
              <a:rPr lang="tr-TR" dirty="0"/>
              <a:t> </a:t>
            </a:r>
            <a:r>
              <a:rPr lang="tr-TR" dirty="0" err="1"/>
              <a:t>pressure</a:t>
            </a:r>
            <a:r>
              <a:rPr lang="tr-TR" dirty="0"/>
              <a:t> sensor data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calculate</a:t>
            </a:r>
            <a:r>
              <a:rPr lang="tr-TR" dirty="0"/>
              <a:t> </a:t>
            </a:r>
            <a:r>
              <a:rPr lang="tr-TR" dirty="0" err="1"/>
              <a:t>altitude</a:t>
            </a:r>
            <a:r>
              <a:rPr lang="tr-TR" dirty="0"/>
              <a:t>, </a:t>
            </a:r>
            <a:r>
              <a:rPr lang="tr-TR" dirty="0" err="1"/>
              <a:t>determine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apogee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trigger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upon</a:t>
            </a:r>
            <a:r>
              <a:rPr lang="tr-TR" dirty="0"/>
              <a:t> </a:t>
            </a:r>
            <a:r>
              <a:rPr lang="tr-TR" dirty="0" err="1"/>
              <a:t>detecting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,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dirty="0" err="1"/>
              <a:t>demonstrated</a:t>
            </a:r>
            <a:r>
              <a:rPr lang="tr-TR" dirty="0"/>
              <a:t>.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test,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</a:t>
            </a:r>
            <a:r>
              <a:rPr lang="tr-TR" dirty="0" err="1"/>
              <a:t>detect</a:t>
            </a:r>
            <a:r>
              <a:rPr lang="tr-TR" dirty="0"/>
              <a:t> an </a:t>
            </a:r>
            <a:r>
              <a:rPr lang="tr-TR" b="1" dirty="0" err="1"/>
              <a:t>ascent</a:t>
            </a:r>
            <a:r>
              <a:rPr lang="tr-TR" b="1" dirty="0"/>
              <a:t> </a:t>
            </a:r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dirty="0" err="1"/>
              <a:t>pressure</a:t>
            </a:r>
            <a:r>
              <a:rPr lang="tr-TR" b="1" dirty="0"/>
              <a:t> sensor data</a:t>
            </a:r>
            <a:r>
              <a:rPr lang="tr-TR" dirty="0"/>
              <a:t> (</a:t>
            </a:r>
            <a:r>
              <a:rPr lang="tr-TR" dirty="0" err="1"/>
              <a:t>e.g</a:t>
            </a:r>
            <a:r>
              <a:rPr lang="tr-TR" dirty="0"/>
              <a:t>.,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reducing</a:t>
            </a:r>
            <a:r>
              <a:rPr lang="tr-TR" dirty="0"/>
              <a:t> </a:t>
            </a:r>
            <a:r>
              <a:rPr lang="tr-TR" dirty="0" err="1"/>
              <a:t>pressure</a:t>
            </a:r>
            <a:r>
              <a:rPr lang="tr-TR" dirty="0"/>
              <a:t> in a </a:t>
            </a:r>
            <a:r>
              <a:rPr lang="tr-TR" dirty="0" err="1"/>
              <a:t>vacuum</a:t>
            </a:r>
            <a:r>
              <a:rPr lang="tr-TR" dirty="0"/>
              <a:t> </a:t>
            </a:r>
            <a:r>
              <a:rPr lang="tr-TR" dirty="0" err="1"/>
              <a:t>chamber</a:t>
            </a:r>
            <a:r>
              <a:rPr lang="tr-TR" dirty="0"/>
              <a:t>),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detect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start of </a:t>
            </a:r>
            <a:r>
              <a:rPr lang="tr-TR" b="1" dirty="0" err="1"/>
              <a:t>descent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finally</a:t>
            </a:r>
            <a:r>
              <a:rPr lang="tr-TR" dirty="0"/>
              <a:t> </a:t>
            </a:r>
            <a:r>
              <a:rPr lang="tr-TR" b="1" dirty="0" err="1"/>
              <a:t>prove</a:t>
            </a:r>
            <a:r>
              <a:rPr lang="tr-TR" b="1" dirty="0"/>
              <a:t> </a:t>
            </a:r>
            <a:r>
              <a:rPr lang="tr-TR" b="1" dirty="0" err="1"/>
              <a:t>that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recovery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r>
              <a:rPr lang="tr-TR" b="1" dirty="0"/>
              <a:t> is </a:t>
            </a:r>
            <a:r>
              <a:rPr lang="tr-TR" b="1" dirty="0" err="1"/>
              <a:t>triggered</a:t>
            </a:r>
            <a:r>
              <a:rPr lang="tr-TR" dirty="0"/>
              <a:t> at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.</a:t>
            </a:r>
          </a:p>
          <a:p>
            <a:r>
              <a:rPr lang="tr-TR" b="1" dirty="0"/>
              <a:t>Flight </a:t>
            </a:r>
            <a:r>
              <a:rPr lang="tr-TR" b="1" dirty="0" err="1"/>
              <a:t>Computer</a:t>
            </a:r>
            <a:r>
              <a:rPr lang="tr-TR" b="1" dirty="0"/>
              <a:t> </a:t>
            </a:r>
            <a:r>
              <a:rPr lang="tr-TR" b="1" dirty="0" err="1"/>
              <a:t>Functionality</a:t>
            </a:r>
            <a:r>
              <a:rPr lang="tr-TR" b="1" dirty="0"/>
              <a:t> </a:t>
            </a:r>
            <a:r>
              <a:rPr lang="tr-TR" b="1" dirty="0" err="1"/>
              <a:t>Tests</a:t>
            </a:r>
            <a:r>
              <a:rPr lang="tr-TR" b="1" dirty="0"/>
              <a:t>: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test, </a:t>
            </a:r>
            <a:r>
              <a:rPr lang="tr-TR" dirty="0" err="1"/>
              <a:t>teams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</a:t>
            </a:r>
            <a:r>
              <a:rPr lang="tr-TR" dirty="0" err="1"/>
              <a:t>prove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functions</a:t>
            </a:r>
            <a:r>
              <a:rPr lang="tr-TR" dirty="0"/>
              <a:t> </a:t>
            </a:r>
            <a:r>
              <a:rPr lang="tr-TR" dirty="0" err="1"/>
              <a:t>described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b="1" dirty="0" err="1"/>
              <a:t>flight</a:t>
            </a:r>
            <a:r>
              <a:rPr lang="tr-TR" b="1" dirty="0"/>
              <a:t> </a:t>
            </a:r>
            <a:r>
              <a:rPr lang="tr-TR" b="1" dirty="0" err="1"/>
              <a:t>control</a:t>
            </a:r>
            <a:r>
              <a:rPr lang="tr-TR" b="1" dirty="0"/>
              <a:t> </a:t>
            </a:r>
            <a:r>
              <a:rPr lang="tr-TR" b="1" dirty="0" err="1"/>
              <a:t>computer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operational</a:t>
            </a:r>
            <a:r>
              <a:rPr lang="tr-TR" dirty="0"/>
              <a:t>.</a:t>
            </a:r>
            <a:br>
              <a:rPr lang="tr-TR" dirty="0"/>
            </a:b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instance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flight</a:t>
            </a:r>
            <a:r>
              <a:rPr lang="tr-TR" dirty="0"/>
              <a:t> </a:t>
            </a: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contains</a:t>
            </a:r>
            <a:r>
              <a:rPr lang="tr-TR" dirty="0"/>
              <a:t> a </a:t>
            </a:r>
            <a:r>
              <a:rPr lang="tr-TR" b="1" dirty="0" err="1"/>
              <a:t>gyroscope</a:t>
            </a:r>
            <a:r>
              <a:rPr lang="tr-TR" b="1" dirty="0"/>
              <a:t> sensor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team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</a:t>
            </a:r>
            <a:r>
              <a:rPr lang="tr-TR" dirty="0" err="1"/>
              <a:t>demonstrate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sensor </a:t>
            </a:r>
            <a:r>
              <a:rPr lang="tr-TR" dirty="0" err="1"/>
              <a:t>works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visualizing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data </a:t>
            </a:r>
            <a:r>
              <a:rPr lang="tr-TR" dirty="0" err="1"/>
              <a:t>received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it.</a:t>
            </a:r>
          </a:p>
          <a:p>
            <a:r>
              <a:rPr lang="tr-TR" dirty="0"/>
              <a:t> </a:t>
            </a:r>
          </a:p>
          <a:p>
            <a:endParaRPr lang="tr-TR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C2FADF90-23C1-4DCD-8EF1-412AA761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2A6FEAD9-0086-4C63-AB10-FA04FED4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6CB844-E8B6-4FF9-BB64-B03E9907EB19}"/>
              </a:ext>
            </a:extLst>
          </p:cNvPr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44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27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8C3E91-A3F3-7480-3D21-130001B63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 fontScale="90000"/>
          </a:bodyPr>
          <a:lstStyle/>
          <a:p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Referee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tr-T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Station Test</a:t>
            </a:r>
            <a:endParaRPr lang="tr-T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53AD21E-B1DA-450A-8274-628A884B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2A19CC5C-C605-4DB1-B8FD-8105E842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F9832D-A894-444C-A9D1-80BE457D07BB}"/>
              </a:ext>
            </a:extLst>
          </p:cNvPr>
          <p:cNvSpPr txBox="1"/>
          <p:nvPr/>
        </p:nvSpPr>
        <p:spPr>
          <a:xfrm>
            <a:off x="313728" y="1343227"/>
            <a:ext cx="113327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Teams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expected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perform</a:t>
            </a:r>
            <a:r>
              <a:rPr lang="tr-TR" dirty="0"/>
              <a:t> a </a:t>
            </a:r>
            <a:r>
              <a:rPr lang="tr-TR" dirty="0" err="1"/>
              <a:t>communication</a:t>
            </a:r>
            <a:r>
              <a:rPr lang="tr-TR" dirty="0"/>
              <a:t> test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/>
              <a:t>"</a:t>
            </a:r>
            <a:r>
              <a:rPr lang="tr-TR" b="1" dirty="0" err="1"/>
              <a:t>Referee</a:t>
            </a:r>
            <a:r>
              <a:rPr lang="tr-TR" b="1" dirty="0"/>
              <a:t> </a:t>
            </a:r>
            <a:r>
              <a:rPr lang="tr-TR" b="1" dirty="0" err="1"/>
              <a:t>Ground</a:t>
            </a:r>
            <a:r>
              <a:rPr lang="tr-TR" b="1" dirty="0"/>
              <a:t> Station </a:t>
            </a:r>
            <a:r>
              <a:rPr lang="tr-TR" b="1" dirty="0" err="1"/>
              <a:t>Packet</a:t>
            </a:r>
            <a:r>
              <a:rPr lang="tr-TR" b="1" dirty="0"/>
              <a:t> Test </a:t>
            </a:r>
            <a:r>
              <a:rPr lang="tr-TR" b="1" dirty="0" err="1"/>
              <a:t>Interface</a:t>
            </a:r>
            <a:r>
              <a:rPr lang="tr-TR" b="1" dirty="0"/>
              <a:t>"</a:t>
            </a:r>
            <a:r>
              <a:rPr lang="tr-TR" dirty="0"/>
              <a:t> </a:t>
            </a:r>
            <a:r>
              <a:rPr lang="tr-TR" dirty="0" err="1"/>
              <a:t>described</a:t>
            </a:r>
            <a:r>
              <a:rPr lang="tr-TR" dirty="0"/>
              <a:t> in </a:t>
            </a:r>
            <a:r>
              <a:rPr lang="tr-TR" dirty="0" err="1"/>
              <a:t>detail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appendix</a:t>
            </a:r>
            <a:r>
              <a:rPr lang="tr-TR" dirty="0"/>
              <a:t> </a:t>
            </a:r>
            <a:r>
              <a:rPr lang="tr-TR" dirty="0" err="1"/>
              <a:t>titled</a:t>
            </a:r>
            <a:r>
              <a:rPr lang="tr-TR" dirty="0"/>
              <a:t> </a:t>
            </a:r>
            <a:r>
              <a:rPr lang="tr-TR" b="1" dirty="0"/>
              <a:t>"APPENDIX-7 ROCKET COMPETITION REFEREE GROUND STATION INFORMATION DOCUMENT"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competition</a:t>
            </a:r>
            <a:r>
              <a:rPr lang="tr-TR" dirty="0"/>
              <a:t> </a:t>
            </a:r>
            <a:r>
              <a:rPr lang="tr-TR" dirty="0" err="1"/>
              <a:t>specification</a:t>
            </a:r>
            <a:r>
              <a:rPr lang="tr-TR" dirty="0"/>
              <a:t>.</a:t>
            </a:r>
          </a:p>
          <a:p>
            <a:pPr lvl="0"/>
            <a:endParaRPr lang="tr-TR" dirty="0"/>
          </a:p>
          <a:p>
            <a:pPr lvl="0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ground</a:t>
            </a:r>
            <a:r>
              <a:rPr lang="tr-TR" b="1" dirty="0"/>
              <a:t> </a:t>
            </a:r>
            <a:r>
              <a:rPr lang="tr-TR" b="1" dirty="0" err="1"/>
              <a:t>station</a:t>
            </a:r>
            <a:r>
              <a:rPr lang="tr-TR" b="1" dirty="0"/>
              <a:t> </a:t>
            </a:r>
            <a:r>
              <a:rPr lang="tr-TR" b="1" dirty="0" err="1"/>
              <a:t>screen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Referee</a:t>
            </a:r>
            <a:r>
              <a:rPr lang="tr-TR" b="1" dirty="0"/>
              <a:t> </a:t>
            </a:r>
            <a:r>
              <a:rPr lang="tr-TR" b="1" dirty="0" err="1"/>
              <a:t>Ground</a:t>
            </a:r>
            <a:r>
              <a:rPr lang="tr-TR" b="1" dirty="0"/>
              <a:t> Station (RGS) test </a:t>
            </a:r>
            <a:r>
              <a:rPr lang="tr-TR" b="1" dirty="0" err="1"/>
              <a:t>interface</a:t>
            </a:r>
            <a:r>
              <a:rPr lang="tr-TR" dirty="0"/>
              <a:t> </a:t>
            </a:r>
            <a:r>
              <a:rPr lang="tr-TR" dirty="0" err="1"/>
              <a:t>screen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dirty="0" err="1"/>
              <a:t>shown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test video.</a:t>
            </a:r>
          </a:p>
          <a:p>
            <a:pPr lvl="0"/>
            <a:endParaRPr lang="tr-TR" dirty="0"/>
          </a:p>
          <a:p>
            <a:pPr lvl="0"/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b="1" dirty="0" err="1"/>
              <a:t>proven</a:t>
            </a:r>
            <a:r>
              <a:rPr lang="tr-TR" b="1" dirty="0"/>
              <a:t> </a:t>
            </a:r>
            <a:r>
              <a:rPr lang="tr-TR" b="1" dirty="0" err="1"/>
              <a:t>that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data </a:t>
            </a:r>
            <a:r>
              <a:rPr lang="tr-TR" b="1" dirty="0" err="1"/>
              <a:t>successfully</a:t>
            </a:r>
            <a:r>
              <a:rPr lang="tr-TR" b="1" dirty="0"/>
              <a:t> </a:t>
            </a:r>
            <a:r>
              <a:rPr lang="tr-TR" b="1" dirty="0" err="1"/>
              <a:t>reaches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test software</a:t>
            </a:r>
            <a:r>
              <a:rPr lang="tr-TR" dirty="0"/>
              <a:t>.</a:t>
            </a:r>
          </a:p>
          <a:p>
            <a:pPr lvl="0"/>
            <a:endParaRPr lang="tr-TR" dirty="0"/>
          </a:p>
          <a:p>
            <a:pPr lvl="0"/>
            <a:r>
              <a:rPr lang="tr-TR" dirty="0" err="1"/>
              <a:t>Failure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display</a:t>
            </a:r>
            <a:r>
              <a:rPr lang="tr-TR" dirty="0"/>
              <a:t> </a:t>
            </a:r>
            <a:r>
              <a:rPr lang="tr-TR" b="1" dirty="0" err="1"/>
              <a:t>meaningful</a:t>
            </a:r>
            <a:r>
              <a:rPr lang="tr-TR" b="1" dirty="0"/>
              <a:t> </a:t>
            </a:r>
            <a:r>
              <a:rPr lang="tr-TR" b="1" dirty="0" err="1"/>
              <a:t>avionics</a:t>
            </a:r>
            <a:r>
              <a:rPr lang="tr-TR" b="1" dirty="0"/>
              <a:t> data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RGS test </a:t>
            </a:r>
            <a:r>
              <a:rPr lang="tr-TR" dirty="0" err="1"/>
              <a:t>interface</a:t>
            </a:r>
            <a:r>
              <a:rPr lang="tr-TR" dirty="0"/>
              <a:t> </a:t>
            </a:r>
            <a:r>
              <a:rPr lang="tr-TR" dirty="0" err="1"/>
              <a:t>screen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in </a:t>
            </a:r>
            <a:r>
              <a:rPr lang="tr-TR" b="1" dirty="0" err="1"/>
              <a:t>disqualification</a:t>
            </a:r>
            <a:r>
              <a:rPr lang="tr-TR" dirty="0"/>
              <a:t>.</a:t>
            </a:r>
          </a:p>
          <a:p>
            <a:pPr lvl="0"/>
            <a:endParaRPr lang="tr-TR" dirty="0"/>
          </a:p>
          <a:p>
            <a:pPr lvl="0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b="1" dirty="0" err="1"/>
              <a:t>maximum</a:t>
            </a:r>
            <a:r>
              <a:rPr lang="tr-TR" b="1" dirty="0"/>
              <a:t> </a:t>
            </a:r>
            <a:r>
              <a:rPr lang="tr-TR" b="1" dirty="0" err="1"/>
              <a:t>duration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Referee</a:t>
            </a:r>
            <a:r>
              <a:rPr lang="tr-TR" dirty="0"/>
              <a:t> </a:t>
            </a:r>
            <a:r>
              <a:rPr lang="tr-TR" dirty="0" err="1"/>
              <a:t>Ground</a:t>
            </a:r>
            <a:r>
              <a:rPr lang="tr-TR" dirty="0"/>
              <a:t> Station Test is </a:t>
            </a:r>
            <a:r>
              <a:rPr lang="tr-TR" b="1" dirty="0"/>
              <a:t>30 </a:t>
            </a:r>
            <a:r>
              <a:rPr lang="tr-TR" b="1" dirty="0" err="1"/>
              <a:t>seconds</a:t>
            </a:r>
            <a:r>
              <a:rPr lang="tr-TR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10310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28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8C3E91-A3F3-7480-3D21-130001B63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7273" y="136525"/>
            <a:ext cx="9144000" cy="1009216"/>
          </a:xfrm>
        </p:spPr>
        <p:txBody>
          <a:bodyPr>
            <a:noAutofit/>
          </a:bodyPr>
          <a:lstStyle/>
          <a:p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SRAD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Avionics</a:t>
            </a:r>
            <a:r>
              <a:rPr lang="tr-T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tr-TR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</a:t>
            </a:r>
            <a:endParaRPr lang="tr-TR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912509A-E230-4ABF-B194-3ECFDE07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5BE4FDC9-4579-4BE2-BFF3-58ABBC99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24DCE-F896-4B51-91F6-FEF43C69FA02}"/>
              </a:ext>
            </a:extLst>
          </p:cNvPr>
          <p:cNvSpPr txBox="1"/>
          <p:nvPr/>
        </p:nvSpPr>
        <p:spPr>
          <a:xfrm>
            <a:off x="114311" y="1253075"/>
            <a:ext cx="1178992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 err="1"/>
              <a:t>Teams</a:t>
            </a:r>
            <a:r>
              <a:rPr lang="tr-TR" sz="1400" dirty="0"/>
              <a:t> </a:t>
            </a:r>
            <a:r>
              <a:rPr lang="tr-TR" sz="1400" dirty="0" err="1"/>
              <a:t>are</a:t>
            </a:r>
            <a:r>
              <a:rPr lang="tr-TR" sz="1400" dirty="0"/>
              <a:t> </a:t>
            </a:r>
            <a:r>
              <a:rPr lang="tr-TR" sz="1400" dirty="0" err="1"/>
              <a:t>expected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perform</a:t>
            </a:r>
            <a:r>
              <a:rPr lang="tr-TR" sz="1400" dirty="0"/>
              <a:t> a </a:t>
            </a:r>
            <a:r>
              <a:rPr lang="tr-TR" sz="1400" b="1" dirty="0" err="1"/>
              <a:t>communication</a:t>
            </a:r>
            <a:r>
              <a:rPr lang="tr-TR" sz="1400" b="1" dirty="0"/>
              <a:t>/test </a:t>
            </a:r>
            <a:r>
              <a:rPr lang="tr-TR" sz="1400" b="1" dirty="0" err="1"/>
              <a:t>interface</a:t>
            </a:r>
            <a:r>
              <a:rPr lang="tr-TR" sz="1400" b="1" dirty="0"/>
              <a:t> test</a:t>
            </a:r>
            <a:r>
              <a:rPr lang="tr-TR" sz="1400" dirty="0"/>
              <a:t>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interface</a:t>
            </a:r>
            <a:r>
              <a:rPr lang="tr-TR" sz="1400" dirty="0"/>
              <a:t> </a:t>
            </a:r>
            <a:r>
              <a:rPr lang="tr-TR" sz="1400" dirty="0" err="1"/>
              <a:t>described</a:t>
            </a:r>
            <a:r>
              <a:rPr lang="tr-TR" sz="1400" dirty="0"/>
              <a:t> in </a:t>
            </a:r>
            <a:r>
              <a:rPr lang="tr-TR" sz="1400" dirty="0" err="1"/>
              <a:t>detail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competition</a:t>
            </a:r>
            <a:r>
              <a:rPr lang="tr-TR" sz="1400" dirty="0"/>
              <a:t> </a:t>
            </a:r>
            <a:r>
              <a:rPr lang="tr-TR" sz="1400" dirty="0" err="1"/>
              <a:t>specification's</a:t>
            </a:r>
            <a:r>
              <a:rPr lang="tr-TR" sz="1400" dirty="0"/>
              <a:t> </a:t>
            </a:r>
            <a:r>
              <a:rPr lang="tr-TR" sz="1400" dirty="0" err="1"/>
              <a:t>appendix</a:t>
            </a:r>
            <a:r>
              <a:rPr lang="tr-TR" sz="1400" dirty="0"/>
              <a:t> </a:t>
            </a:r>
            <a:r>
              <a:rPr lang="tr-TR" sz="1400" dirty="0" err="1"/>
              <a:t>titled</a:t>
            </a:r>
            <a:r>
              <a:rPr lang="tr-TR" sz="1400" dirty="0"/>
              <a:t> </a:t>
            </a:r>
            <a:r>
              <a:rPr lang="tr-TR" sz="1400" b="1" dirty="0"/>
              <a:t>“Appendix-6: </a:t>
            </a:r>
            <a:r>
              <a:rPr lang="tr-TR" sz="1400" b="1" dirty="0" err="1"/>
              <a:t>Testing</a:t>
            </a:r>
            <a:r>
              <a:rPr lang="tr-TR" sz="1400" b="1" dirty="0"/>
              <a:t> of SRAD Flight Control </a:t>
            </a:r>
            <a:r>
              <a:rPr lang="tr-TR" sz="1400" b="1" dirty="0" err="1"/>
              <a:t>Computers</a:t>
            </a:r>
            <a:r>
              <a:rPr lang="tr-TR" sz="1400" b="1" dirty="0"/>
              <a:t> </a:t>
            </a:r>
            <a:r>
              <a:rPr lang="tr-TR" sz="1400" b="1" dirty="0" err="1"/>
              <a:t>during</a:t>
            </a:r>
            <a:r>
              <a:rPr lang="tr-TR" sz="1400" b="1" dirty="0"/>
              <a:t> </a:t>
            </a:r>
            <a:r>
              <a:rPr lang="tr-TR" sz="1400" b="1" dirty="0" err="1"/>
              <a:t>the</a:t>
            </a:r>
            <a:r>
              <a:rPr lang="tr-TR" sz="1400" b="1" dirty="0"/>
              <a:t> TEKNOFEST Rocket Competition </a:t>
            </a:r>
            <a:r>
              <a:rPr lang="tr-TR" sz="1400" b="1" dirty="0" err="1"/>
              <a:t>Finals</a:t>
            </a:r>
            <a:r>
              <a:rPr lang="tr-TR" sz="1400" b="1" dirty="0"/>
              <a:t>.”</a:t>
            </a:r>
            <a:endParaRPr lang="tr-TR" sz="1400" dirty="0"/>
          </a:p>
          <a:p>
            <a:pPr lvl="0"/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tests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be </a:t>
            </a:r>
            <a:r>
              <a:rPr lang="tr-TR" sz="1400" b="1" dirty="0" err="1"/>
              <a:t>recorded</a:t>
            </a:r>
            <a:r>
              <a:rPr lang="tr-TR" sz="1400" b="1" dirty="0"/>
              <a:t> on video</a:t>
            </a:r>
            <a:r>
              <a:rPr lang="tr-TR" sz="1400" dirty="0"/>
              <a:t>.</a:t>
            </a:r>
          </a:p>
          <a:p>
            <a:r>
              <a:rPr lang="tr-TR" sz="1400" b="1" dirty="0" err="1"/>
              <a:t>Required</a:t>
            </a:r>
            <a:r>
              <a:rPr lang="tr-TR" sz="1400" b="1" dirty="0"/>
              <a:t> </a:t>
            </a:r>
            <a:r>
              <a:rPr lang="tr-TR" sz="1400" b="1" dirty="0" err="1"/>
              <a:t>Equipment</a:t>
            </a:r>
            <a:r>
              <a:rPr lang="tr-TR" sz="1400" b="1" dirty="0"/>
              <a:t> </a:t>
            </a:r>
            <a:r>
              <a:rPr lang="tr-TR" sz="1400" b="1" dirty="0" err="1"/>
              <a:t>for</a:t>
            </a:r>
            <a:r>
              <a:rPr lang="tr-TR" sz="1400" b="1" dirty="0"/>
              <a:t> </a:t>
            </a:r>
            <a:r>
              <a:rPr lang="tr-TR" sz="1400" b="1" dirty="0" err="1"/>
              <a:t>Testing</a:t>
            </a:r>
            <a:r>
              <a:rPr lang="tr-TR" sz="1400" b="1" dirty="0"/>
              <a:t>:</a:t>
            </a:r>
          </a:p>
          <a:p>
            <a:pPr lvl="0"/>
            <a:r>
              <a:rPr lang="tr-TR" sz="1400" dirty="0"/>
              <a:t>Test software</a:t>
            </a:r>
          </a:p>
          <a:p>
            <a:pPr lvl="0"/>
            <a:r>
              <a:rPr lang="tr-TR" sz="1400" dirty="0"/>
              <a:t>RS232 </a:t>
            </a:r>
            <a:r>
              <a:rPr lang="tr-TR" sz="1400" dirty="0" err="1"/>
              <a:t>to</a:t>
            </a:r>
            <a:r>
              <a:rPr lang="tr-TR" sz="1400" dirty="0"/>
              <a:t> USB </a:t>
            </a:r>
            <a:r>
              <a:rPr lang="tr-TR" sz="1400" dirty="0" err="1"/>
              <a:t>converter</a:t>
            </a:r>
            <a:endParaRPr lang="tr-TR" sz="1400" dirty="0"/>
          </a:p>
          <a:p>
            <a:pPr lvl="0"/>
            <a:r>
              <a:rPr lang="tr-TR" sz="1400" dirty="0"/>
              <a:t>2 </a:t>
            </a:r>
            <a:r>
              <a:rPr lang="tr-TR" sz="1400" dirty="0" err="1"/>
              <a:t>LEDs</a:t>
            </a:r>
            <a:endParaRPr lang="tr-TR" sz="1400" dirty="0"/>
          </a:p>
          <a:p>
            <a:pPr lvl="0"/>
            <a:r>
              <a:rPr lang="tr-TR" sz="1400" dirty="0" err="1"/>
              <a:t>Indigenous</a:t>
            </a:r>
            <a:r>
              <a:rPr lang="tr-TR" sz="1400" dirty="0"/>
              <a:t> Flight Control </a:t>
            </a:r>
            <a:r>
              <a:rPr lang="tr-TR" sz="1400" dirty="0" err="1"/>
              <a:t>Computer</a:t>
            </a:r>
            <a:r>
              <a:rPr lang="tr-TR" sz="1400" dirty="0"/>
              <a:t> (I-FCC)</a:t>
            </a:r>
          </a:p>
          <a:p>
            <a:pPr lvl="0"/>
            <a:r>
              <a:rPr lang="tr-TR" sz="1400" dirty="0" err="1"/>
              <a:t>The</a:t>
            </a:r>
            <a:r>
              <a:rPr lang="tr-TR" sz="1400" dirty="0"/>
              <a:t> RS232 </a:t>
            </a:r>
            <a:r>
              <a:rPr lang="tr-TR" sz="1400" dirty="0" err="1"/>
              <a:t>connection</a:t>
            </a:r>
            <a:r>
              <a:rPr lang="tr-TR" sz="1400" dirty="0"/>
              <a:t> </a:t>
            </a:r>
            <a:r>
              <a:rPr lang="tr-TR" sz="1400" dirty="0" err="1"/>
              <a:t>interface</a:t>
            </a:r>
            <a:r>
              <a:rPr lang="tr-TR" sz="1400" dirty="0"/>
              <a:t> of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custom</a:t>
            </a:r>
            <a:r>
              <a:rPr lang="tr-TR" sz="1400" dirty="0"/>
              <a:t> I-FCC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converter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be </a:t>
            </a:r>
            <a:r>
              <a:rPr lang="tr-TR" sz="1400" dirty="0" err="1"/>
              <a:t>connected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linked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a </a:t>
            </a:r>
            <a:r>
              <a:rPr lang="tr-TR" sz="1400" dirty="0" err="1"/>
              <a:t>computer</a:t>
            </a:r>
            <a:r>
              <a:rPr lang="tr-TR" sz="1400" dirty="0"/>
              <a:t>.</a:t>
            </a:r>
          </a:p>
          <a:p>
            <a:pPr lvl="0"/>
            <a:r>
              <a:rPr lang="tr-TR" sz="1400" dirty="0" err="1"/>
              <a:t>LEDs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be </a:t>
            </a:r>
            <a:r>
              <a:rPr lang="tr-TR" sz="1400" dirty="0" err="1"/>
              <a:t>connected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b="1" dirty="0" err="1"/>
              <a:t>ports</a:t>
            </a:r>
            <a:r>
              <a:rPr lang="tr-TR" sz="1400" b="1" dirty="0"/>
              <a:t> </a:t>
            </a:r>
            <a:r>
              <a:rPr lang="tr-TR" sz="1400" b="1" dirty="0" err="1"/>
              <a:t>designated</a:t>
            </a:r>
            <a:r>
              <a:rPr lang="tr-TR" sz="1400" b="1" dirty="0"/>
              <a:t> </a:t>
            </a:r>
            <a:r>
              <a:rPr lang="tr-TR" sz="1400" b="1" dirty="0" err="1"/>
              <a:t>for</a:t>
            </a:r>
            <a:r>
              <a:rPr lang="tr-TR" sz="1400" b="1" dirty="0"/>
              <a:t> </a:t>
            </a:r>
            <a:r>
              <a:rPr lang="tr-TR" sz="1400" b="1" dirty="0" err="1"/>
              <a:t>igniter</a:t>
            </a:r>
            <a:r>
              <a:rPr lang="tr-TR" sz="1400" b="1" dirty="0"/>
              <a:t> </a:t>
            </a:r>
            <a:r>
              <a:rPr lang="tr-TR" sz="1400" b="1" dirty="0" err="1"/>
              <a:t>outputs</a:t>
            </a:r>
            <a:r>
              <a:rPr lang="tr-TR" sz="1400" dirty="0"/>
              <a:t> (</a:t>
            </a:r>
            <a:r>
              <a:rPr lang="tr-TR" sz="1400" dirty="0" err="1"/>
              <a:t>LEDs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be </a:t>
            </a:r>
            <a:r>
              <a:rPr lang="tr-TR" sz="1400" b="1" dirty="0" err="1"/>
              <a:t>clearly</a:t>
            </a:r>
            <a:r>
              <a:rPr lang="tr-TR" sz="1400" b="1" dirty="0"/>
              <a:t> </a:t>
            </a:r>
            <a:r>
              <a:rPr lang="tr-TR" sz="1400" b="1" dirty="0" err="1"/>
              <a:t>visible</a:t>
            </a:r>
            <a:r>
              <a:rPr lang="tr-TR" sz="1400" dirty="0"/>
              <a:t> </a:t>
            </a:r>
            <a:r>
              <a:rPr lang="tr-TR" sz="1400" dirty="0" err="1"/>
              <a:t>during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Synthetic</a:t>
            </a:r>
            <a:r>
              <a:rPr lang="tr-TR" sz="1400" dirty="0"/>
              <a:t> Flight Test-SFT).</a:t>
            </a:r>
          </a:p>
          <a:p>
            <a:pPr lvl="0"/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correct</a:t>
            </a:r>
            <a:r>
              <a:rPr lang="tr-TR" sz="1400" dirty="0"/>
              <a:t> port is </a:t>
            </a:r>
            <a:r>
              <a:rPr lang="tr-TR" sz="1400" dirty="0" err="1"/>
              <a:t>selected</a:t>
            </a:r>
            <a:r>
              <a:rPr lang="tr-TR" sz="1400" dirty="0"/>
              <a:t> </a:t>
            </a:r>
            <a:r>
              <a:rPr lang="tr-TR" sz="1400" dirty="0" err="1"/>
              <a:t>through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test software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connection</a:t>
            </a:r>
            <a:r>
              <a:rPr lang="tr-TR" sz="1400" dirty="0"/>
              <a:t> is </a:t>
            </a:r>
            <a:r>
              <a:rPr lang="tr-TR" sz="1400" dirty="0" err="1"/>
              <a:t>established</a:t>
            </a:r>
            <a:r>
              <a:rPr lang="tr-TR" sz="1400" dirty="0"/>
              <a:t>.</a:t>
            </a:r>
          </a:p>
          <a:p>
            <a:r>
              <a:rPr lang="tr-TR" sz="1400" b="1" dirty="0"/>
              <a:t>SMT (Sensor </a:t>
            </a:r>
            <a:r>
              <a:rPr lang="tr-TR" sz="1400" b="1" dirty="0" err="1"/>
              <a:t>Monitoring</a:t>
            </a:r>
            <a:r>
              <a:rPr lang="tr-TR" sz="1400" b="1" dirty="0"/>
              <a:t> Test):</a:t>
            </a:r>
          </a:p>
          <a:p>
            <a:pPr lvl="0"/>
            <a:r>
              <a:rPr lang="tr-TR" sz="1400" dirty="0" err="1"/>
              <a:t>Begin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SMT test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observe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data sent </a:t>
            </a:r>
            <a:r>
              <a:rPr lang="tr-TR" sz="1400" dirty="0" err="1"/>
              <a:t>by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I-FCC.</a:t>
            </a:r>
          </a:p>
          <a:p>
            <a:pPr lvl="0"/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device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be </a:t>
            </a:r>
            <a:r>
              <a:rPr lang="tr-TR" sz="1400" b="1" dirty="0" err="1"/>
              <a:t>manually</a:t>
            </a:r>
            <a:r>
              <a:rPr lang="tr-TR" sz="1400" b="1" dirty="0"/>
              <a:t> </a:t>
            </a:r>
            <a:r>
              <a:rPr lang="tr-TR" sz="1400" b="1" dirty="0" err="1"/>
              <a:t>rotated</a:t>
            </a:r>
            <a:r>
              <a:rPr lang="tr-TR" sz="1400" b="1" dirty="0"/>
              <a:t> </a:t>
            </a:r>
            <a:r>
              <a:rPr lang="tr-TR" sz="1400" b="1" dirty="0" err="1"/>
              <a:t>approximately</a:t>
            </a:r>
            <a:r>
              <a:rPr lang="tr-TR" sz="1400" b="1" dirty="0"/>
              <a:t> 90° </a:t>
            </a:r>
            <a:r>
              <a:rPr lang="tr-TR" sz="1400" b="1" dirty="0" err="1"/>
              <a:t>along</a:t>
            </a:r>
            <a:r>
              <a:rPr lang="tr-TR" sz="1400" b="1" dirty="0"/>
              <a:t> </a:t>
            </a:r>
            <a:r>
              <a:rPr lang="tr-TR" sz="1400" b="1" dirty="0" err="1"/>
              <a:t>each</a:t>
            </a:r>
            <a:r>
              <a:rPr lang="tr-TR" sz="1400" b="1" dirty="0"/>
              <a:t> </a:t>
            </a:r>
            <a:r>
              <a:rPr lang="tr-TR" sz="1400" b="1" dirty="0" err="1"/>
              <a:t>axis</a:t>
            </a:r>
            <a:r>
              <a:rPr lang="tr-TR" sz="1400" dirty="0"/>
              <a:t>,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software </a:t>
            </a:r>
            <a:r>
              <a:rPr lang="tr-TR" sz="1400" dirty="0" err="1"/>
              <a:t>interface</a:t>
            </a:r>
            <a:r>
              <a:rPr lang="tr-TR" sz="1400" dirty="0"/>
              <a:t> </a:t>
            </a:r>
            <a:r>
              <a:rPr lang="tr-TR" sz="1400" dirty="0" err="1"/>
              <a:t>must</a:t>
            </a:r>
            <a:r>
              <a:rPr lang="tr-TR" sz="1400" dirty="0"/>
              <a:t> </a:t>
            </a:r>
            <a:r>
              <a:rPr lang="tr-TR" sz="1400" dirty="0" err="1"/>
              <a:t>show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 err="1"/>
              <a:t>angle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</a:t>
            </a:r>
            <a:r>
              <a:rPr lang="tr-TR" sz="1400" b="1" dirty="0" err="1"/>
              <a:t>acceleration</a:t>
            </a:r>
            <a:r>
              <a:rPr lang="tr-TR" sz="1400" b="1" dirty="0"/>
              <a:t> data </a:t>
            </a:r>
            <a:r>
              <a:rPr lang="tr-TR" sz="1400" b="1" dirty="0" err="1"/>
              <a:t>are</a:t>
            </a:r>
            <a:r>
              <a:rPr lang="tr-TR" sz="1400" b="1" dirty="0"/>
              <a:t> </a:t>
            </a:r>
            <a:r>
              <a:rPr lang="tr-TR" sz="1400" b="1" dirty="0" err="1"/>
              <a:t>accurately</a:t>
            </a:r>
            <a:r>
              <a:rPr lang="tr-TR" sz="1400" b="1" dirty="0"/>
              <a:t> </a:t>
            </a:r>
            <a:r>
              <a:rPr lang="tr-TR" sz="1400" b="1" dirty="0" err="1"/>
              <a:t>measured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</a:t>
            </a:r>
            <a:r>
              <a:rPr lang="tr-TR" sz="1400" b="1" dirty="0" err="1"/>
              <a:t>transmitted</a:t>
            </a:r>
            <a:r>
              <a:rPr lang="tr-TR" sz="1400" dirty="0"/>
              <a:t>.</a:t>
            </a:r>
          </a:p>
          <a:p>
            <a:pPr lvl="0"/>
            <a:r>
              <a:rPr lang="tr-TR" sz="1400" dirty="0" err="1"/>
              <a:t>Then</a:t>
            </a:r>
            <a:r>
              <a:rPr lang="tr-TR" sz="1400" dirty="0"/>
              <a:t> </a:t>
            </a:r>
            <a:r>
              <a:rPr lang="tr-TR" sz="1400" dirty="0" err="1"/>
              <a:t>click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“Stop” </a:t>
            </a:r>
            <a:r>
              <a:rPr lang="tr-TR" sz="1400" dirty="0" err="1"/>
              <a:t>button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end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test.</a:t>
            </a:r>
          </a:p>
          <a:p>
            <a:r>
              <a:rPr lang="tr-TR" sz="1400" b="1" dirty="0"/>
              <a:t>SFT (</a:t>
            </a:r>
            <a:r>
              <a:rPr lang="tr-TR" sz="1400" b="1" dirty="0" err="1"/>
              <a:t>Synthetic</a:t>
            </a:r>
            <a:r>
              <a:rPr lang="tr-TR" sz="1400" b="1" dirty="0"/>
              <a:t> Flight Test):</a:t>
            </a:r>
          </a:p>
          <a:p>
            <a:pPr lvl="0"/>
            <a:r>
              <a:rPr lang="tr-TR" sz="1400" dirty="0"/>
              <a:t>Start </a:t>
            </a:r>
            <a:r>
              <a:rPr lang="tr-TR" sz="1400" dirty="0" err="1"/>
              <a:t>the</a:t>
            </a:r>
            <a:r>
              <a:rPr lang="tr-TR" sz="1400" dirty="0"/>
              <a:t> SFT test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demonstrate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I-FCC </a:t>
            </a:r>
            <a:r>
              <a:rPr lang="tr-TR" sz="1400" dirty="0" err="1"/>
              <a:t>correctly</a:t>
            </a:r>
            <a:r>
              <a:rPr lang="tr-TR" sz="1400" dirty="0"/>
              <a:t> </a:t>
            </a:r>
            <a:r>
              <a:rPr lang="tr-TR" sz="1400" dirty="0" err="1"/>
              <a:t>receives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processes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incoming</a:t>
            </a:r>
            <a:r>
              <a:rPr lang="tr-TR" sz="1400" dirty="0"/>
              <a:t> data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appropriate</a:t>
            </a:r>
            <a:r>
              <a:rPr lang="tr-TR" sz="1400" dirty="0"/>
              <a:t> </a:t>
            </a:r>
            <a:r>
              <a:rPr lang="tr-TR" sz="1400" dirty="0" err="1"/>
              <a:t>algorithm</a:t>
            </a:r>
            <a:r>
              <a:rPr lang="tr-TR" sz="1400" dirty="0"/>
              <a:t>, </a:t>
            </a:r>
            <a:r>
              <a:rPr lang="tr-TR" sz="1400" dirty="0" err="1"/>
              <a:t>triggering</a:t>
            </a:r>
            <a:r>
              <a:rPr lang="tr-TR" sz="1400" dirty="0"/>
              <a:t> </a:t>
            </a:r>
            <a:r>
              <a:rPr lang="tr-TR" sz="1400" b="1" dirty="0" err="1"/>
              <a:t>separation</a:t>
            </a:r>
            <a:r>
              <a:rPr lang="tr-TR" sz="1400" b="1" dirty="0"/>
              <a:t> </a:t>
            </a:r>
            <a:r>
              <a:rPr lang="tr-TR" sz="1400" b="1" dirty="0" err="1"/>
              <a:t>signals</a:t>
            </a:r>
            <a:r>
              <a:rPr lang="tr-TR" sz="1400" dirty="0"/>
              <a:t> (</a:t>
            </a:r>
            <a:r>
              <a:rPr lang="tr-TR" sz="1400" dirty="0" err="1"/>
              <a:t>represented</a:t>
            </a:r>
            <a:r>
              <a:rPr lang="tr-TR" sz="1400" dirty="0"/>
              <a:t> </a:t>
            </a:r>
            <a:r>
              <a:rPr lang="tr-TR" sz="1400" dirty="0" err="1"/>
              <a:t>by</a:t>
            </a:r>
            <a:r>
              <a:rPr lang="tr-TR" sz="1400" dirty="0"/>
              <a:t> LED </a:t>
            </a:r>
            <a:r>
              <a:rPr lang="tr-TR" sz="1400" dirty="0" err="1"/>
              <a:t>lights</a:t>
            </a:r>
            <a:r>
              <a:rPr lang="tr-TR" sz="1400" dirty="0"/>
              <a:t>)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b="1" dirty="0" err="1"/>
              <a:t>status</a:t>
            </a:r>
            <a:r>
              <a:rPr lang="tr-TR" sz="1400" b="1" dirty="0"/>
              <a:t> </a:t>
            </a:r>
            <a:r>
              <a:rPr lang="tr-TR" sz="1400" b="1" dirty="0" err="1"/>
              <a:t>flags</a:t>
            </a:r>
            <a:r>
              <a:rPr lang="tr-TR" sz="1400" dirty="0"/>
              <a:t> at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correct</a:t>
            </a:r>
            <a:r>
              <a:rPr lang="tr-TR" sz="1400" dirty="0"/>
              <a:t> </a:t>
            </a:r>
            <a:r>
              <a:rPr lang="tr-TR" sz="1400" dirty="0" err="1"/>
              <a:t>points</a:t>
            </a:r>
            <a:r>
              <a:rPr lang="tr-TR" sz="1400" dirty="0"/>
              <a:t>.</a:t>
            </a:r>
          </a:p>
          <a:p>
            <a:pPr lvl="0"/>
            <a:r>
              <a:rPr lang="tr-TR" sz="1400" dirty="0" err="1"/>
              <a:t>The</a:t>
            </a:r>
            <a:r>
              <a:rPr lang="tr-TR" sz="1400" dirty="0"/>
              <a:t> test </a:t>
            </a:r>
            <a:r>
              <a:rPr lang="tr-TR" sz="1400" dirty="0" err="1"/>
              <a:t>interface</a:t>
            </a:r>
            <a:r>
              <a:rPr lang="tr-TR" sz="1400" dirty="0"/>
              <a:t>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automatically</a:t>
            </a:r>
            <a:r>
              <a:rPr lang="tr-TR" sz="1400" dirty="0"/>
              <a:t> </a:t>
            </a:r>
            <a:r>
              <a:rPr lang="tr-TR" sz="1400" dirty="0" err="1"/>
              <a:t>issue</a:t>
            </a:r>
            <a:r>
              <a:rPr lang="tr-TR" sz="1400" dirty="0"/>
              <a:t> a stop </a:t>
            </a:r>
            <a:r>
              <a:rPr lang="tr-TR" sz="1400" dirty="0" err="1"/>
              <a:t>command</a:t>
            </a:r>
            <a:r>
              <a:rPr lang="tr-TR" sz="1400" dirty="0"/>
              <a:t> </a:t>
            </a:r>
            <a:r>
              <a:rPr lang="tr-TR" sz="1400" dirty="0" err="1"/>
              <a:t>when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dataset</a:t>
            </a:r>
            <a:r>
              <a:rPr lang="tr-TR" sz="1400" dirty="0"/>
              <a:t> is </a:t>
            </a:r>
            <a:r>
              <a:rPr lang="tr-TR" sz="1400" dirty="0" err="1"/>
              <a:t>complete</a:t>
            </a:r>
            <a:r>
              <a:rPr lang="tr-TR" sz="1400" dirty="0"/>
              <a:t>.</a:t>
            </a:r>
          </a:p>
          <a:p>
            <a:r>
              <a:rPr lang="tr-TR" sz="1400" b="1" dirty="0" err="1"/>
              <a:t>All</a:t>
            </a:r>
            <a:r>
              <a:rPr lang="tr-TR" sz="1400" b="1" dirty="0"/>
              <a:t> </a:t>
            </a:r>
            <a:r>
              <a:rPr lang="tr-TR" sz="1400" b="1" dirty="0" err="1"/>
              <a:t>connection</a:t>
            </a:r>
            <a:r>
              <a:rPr lang="tr-TR" sz="1400" b="1" dirty="0"/>
              <a:t> </a:t>
            </a:r>
            <a:r>
              <a:rPr lang="tr-TR" sz="1400" b="1" dirty="0" err="1"/>
              <a:t>cables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</a:t>
            </a:r>
            <a:r>
              <a:rPr lang="tr-TR" sz="1400" b="1" dirty="0" err="1"/>
              <a:t>procedures</a:t>
            </a:r>
            <a:r>
              <a:rPr lang="tr-TR" sz="1400" b="1" dirty="0"/>
              <a:t> </a:t>
            </a:r>
            <a:r>
              <a:rPr lang="tr-TR" sz="1400" b="1" dirty="0" err="1"/>
              <a:t>must</a:t>
            </a:r>
            <a:r>
              <a:rPr lang="tr-TR" sz="1400" b="1" dirty="0"/>
              <a:t> be </a:t>
            </a:r>
            <a:r>
              <a:rPr lang="tr-TR" sz="1400" b="1" dirty="0" err="1"/>
              <a:t>clearly</a:t>
            </a:r>
            <a:r>
              <a:rPr lang="tr-TR" sz="1400" b="1" dirty="0"/>
              <a:t> </a:t>
            </a:r>
            <a:r>
              <a:rPr lang="tr-TR" sz="1400" b="1" dirty="0" err="1"/>
              <a:t>visible</a:t>
            </a:r>
            <a:r>
              <a:rPr lang="tr-TR" sz="1400" dirty="0"/>
              <a:t> </a:t>
            </a:r>
            <a:r>
              <a:rPr lang="tr-TR" sz="1400" dirty="0" err="1"/>
              <a:t>during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tests</a:t>
            </a:r>
            <a:r>
              <a:rPr lang="tr-TR" sz="1400" dirty="0"/>
              <a:t>.</a:t>
            </a:r>
          </a:p>
          <a:p>
            <a:r>
              <a:rPr lang="tr-TR" sz="1400" b="1" dirty="0" err="1"/>
              <a:t>The</a:t>
            </a:r>
            <a:r>
              <a:rPr lang="tr-TR" sz="1400" b="1" dirty="0"/>
              <a:t> video </a:t>
            </a:r>
            <a:r>
              <a:rPr lang="tr-TR" sz="1400" b="1" dirty="0" err="1"/>
              <a:t>duration</a:t>
            </a:r>
            <a:r>
              <a:rPr lang="tr-TR" sz="1400" b="1" dirty="0"/>
              <a:t> </a:t>
            </a:r>
            <a:r>
              <a:rPr lang="tr-TR" sz="1400" b="1" dirty="0" err="1"/>
              <a:t>must</a:t>
            </a:r>
            <a:r>
              <a:rPr lang="tr-TR" sz="1400" b="1" dirty="0"/>
              <a:t> not </a:t>
            </a:r>
            <a:r>
              <a:rPr lang="tr-TR" sz="1400" b="1" dirty="0" err="1"/>
              <a:t>exceed</a:t>
            </a:r>
            <a:r>
              <a:rPr lang="tr-TR" sz="1400" b="1" dirty="0"/>
              <a:t> 90 </a:t>
            </a:r>
            <a:r>
              <a:rPr lang="tr-TR" sz="1400" b="1" dirty="0" err="1"/>
              <a:t>seconds</a:t>
            </a:r>
            <a:r>
              <a:rPr lang="tr-TR" sz="1400" b="1" dirty="0"/>
              <a:t>.</a:t>
            </a:r>
            <a:br>
              <a:rPr lang="tr-TR" sz="1400" dirty="0"/>
            </a:br>
            <a:r>
              <a:rPr lang="tr-TR" sz="1400" dirty="0" err="1"/>
              <a:t>Any</a:t>
            </a:r>
            <a:r>
              <a:rPr lang="tr-TR" sz="1400" dirty="0"/>
              <a:t> </a:t>
            </a:r>
            <a:r>
              <a:rPr lang="tr-TR" sz="1400" dirty="0" err="1"/>
              <a:t>idle</a:t>
            </a:r>
            <a:r>
              <a:rPr lang="tr-TR" sz="1400" dirty="0"/>
              <a:t>/</a:t>
            </a:r>
            <a:r>
              <a:rPr lang="tr-TR" sz="1400" dirty="0" err="1"/>
              <a:t>waiting</a:t>
            </a:r>
            <a:r>
              <a:rPr lang="tr-TR" sz="1400" dirty="0"/>
              <a:t> </a:t>
            </a:r>
            <a:r>
              <a:rPr lang="tr-TR" sz="1400" dirty="0" err="1"/>
              <a:t>periods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b="1" dirty="0" err="1"/>
              <a:t>sped</a:t>
            </a:r>
            <a:r>
              <a:rPr lang="tr-TR" sz="1400" b="1" dirty="0"/>
              <a:t> </a:t>
            </a:r>
            <a:r>
              <a:rPr lang="tr-TR" sz="1400" b="1" dirty="0" err="1"/>
              <a:t>up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video.</a:t>
            </a:r>
          </a:p>
        </p:txBody>
      </p:sp>
    </p:spTree>
    <p:extLst>
      <p:ext uri="{BB962C8B-B14F-4D97-AF65-F5344CB8AC3E}">
        <p14:creationId xmlns:p14="http://schemas.microsoft.com/office/powerpoint/2010/main" val="2415655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9215"/>
            <a:ext cx="9144000" cy="75095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Video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</a:t>
            </a:r>
            <a:r>
              <a:rPr lang="tr-T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tr-T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29</a:t>
            </a:fld>
            <a:endParaRPr lang="tr-TR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5894"/>
          <a:stretch/>
        </p:blipFill>
        <p:spPr>
          <a:xfrm>
            <a:off x="10753658" y="57790"/>
            <a:ext cx="1377714" cy="11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592" y="430591"/>
            <a:ext cx="11719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latin typeface="+mj-lt"/>
                <a:cs typeface="Times New Roman" panose="02020603050405020304" pitchFamily="18" charset="0"/>
              </a:rPr>
              <a:t>Team Logo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ADFC7C-AF83-4572-9FBB-84CBA7658D2E}"/>
              </a:ext>
            </a:extLst>
          </p:cNvPr>
          <p:cNvSpPr/>
          <p:nvPr/>
        </p:nvSpPr>
        <p:spPr>
          <a:xfrm>
            <a:off x="1405851" y="5816050"/>
            <a:ext cx="9380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r-TR" dirty="0" err="1">
                <a:solidFill>
                  <a:srgbClr val="FF0000"/>
                </a:solidFill>
              </a:rPr>
              <a:t>This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page</a:t>
            </a:r>
            <a:r>
              <a:rPr lang="tr-TR" dirty="0">
                <a:solidFill>
                  <a:srgbClr val="FF0000"/>
                </a:solidFill>
              </a:rPr>
              <a:t> is </a:t>
            </a:r>
            <a:r>
              <a:rPr lang="tr-TR" dirty="0" err="1">
                <a:solidFill>
                  <a:srgbClr val="FF0000"/>
                </a:solidFill>
              </a:rPr>
              <a:t>submitted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for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information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and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shall</a:t>
            </a:r>
            <a:r>
              <a:rPr lang="tr-TR" dirty="0">
                <a:solidFill>
                  <a:srgbClr val="FF0000"/>
                </a:solidFill>
              </a:rPr>
              <a:t> be </a:t>
            </a:r>
            <a:r>
              <a:rPr lang="tr-TR" dirty="0" err="1">
                <a:solidFill>
                  <a:srgbClr val="FF0000"/>
                </a:solidFill>
              </a:rPr>
              <a:t>deleted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by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the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teams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before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submitted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for</a:t>
            </a:r>
            <a:r>
              <a:rPr lang="tr-TR" dirty="0">
                <a:solidFill>
                  <a:srgbClr val="FF0000"/>
                </a:solidFill>
              </a:rPr>
              <a:t> FRR.</a:t>
            </a:r>
          </a:p>
        </p:txBody>
      </p:sp>
      <p:graphicFrame>
        <p:nvGraphicFramePr>
          <p:cNvPr id="13" name="Tablo 6">
            <a:extLst>
              <a:ext uri="{FF2B5EF4-FFF2-40B4-BE49-F238E27FC236}">
                <a16:creationId xmlns:a16="http://schemas.microsoft.com/office/drawing/2014/main" id="{F9E6308C-5E74-4270-BA3A-B668A44C9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7601"/>
              </p:ext>
            </p:extLst>
          </p:nvPr>
        </p:nvGraphicFramePr>
        <p:xfrm>
          <a:off x="244272" y="1343228"/>
          <a:ext cx="10281056" cy="4472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043">
                  <a:extLst>
                    <a:ext uri="{9D8B030D-6E8A-4147-A177-3AD203B41FA5}">
                      <a16:colId xmlns:a16="http://schemas.microsoft.com/office/drawing/2014/main" val="3063261857"/>
                    </a:ext>
                  </a:extLst>
                </a:gridCol>
                <a:gridCol w="3362013">
                  <a:extLst>
                    <a:ext uri="{9D8B030D-6E8A-4147-A177-3AD203B41FA5}">
                      <a16:colId xmlns:a16="http://schemas.microsoft.com/office/drawing/2014/main" val="3553572562"/>
                    </a:ext>
                  </a:extLst>
                </a:gridCol>
              </a:tblGrid>
              <a:tr h="5710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 / Video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A4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Uluslararası</a:t>
                      </a:r>
                      <a:r>
                        <a:rPr lang="en-US" sz="1200" dirty="0"/>
                        <a:t>)</a:t>
                      </a:r>
                      <a:endParaRPr lang="tr-T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61749"/>
                  </a:ext>
                </a:extLst>
              </a:tr>
              <a:tr h="565725">
                <a:tc>
                  <a:txBody>
                    <a:bodyPr/>
                    <a:lstStyle/>
                    <a:p>
                      <a:pPr algn="ctr"/>
                      <a:r>
                        <a:rPr lang="tr-TR" sz="1200" dirty="0" err="1"/>
                        <a:t>Recovery</a:t>
                      </a:r>
                      <a:r>
                        <a:rPr lang="en-US" sz="1200" dirty="0"/>
                        <a:t> S</a:t>
                      </a:r>
                      <a:r>
                        <a:rPr lang="tr-TR" sz="1200" dirty="0"/>
                        <a:t>y</a:t>
                      </a:r>
                      <a:r>
                        <a:rPr lang="en-US" sz="1200" dirty="0"/>
                        <a:t>stem – Ro</a:t>
                      </a:r>
                      <a:r>
                        <a:rPr lang="tr-TR" sz="1200" dirty="0"/>
                        <a:t>c</a:t>
                      </a:r>
                      <a:r>
                        <a:rPr lang="en-US" sz="1200" dirty="0" err="1"/>
                        <a:t>ket</a:t>
                      </a:r>
                      <a:r>
                        <a:rPr lang="en-US" sz="1200" dirty="0"/>
                        <a:t> </a:t>
                      </a:r>
                      <a:r>
                        <a:rPr lang="tr-TR" sz="1200" dirty="0" err="1"/>
                        <a:t>Separation</a:t>
                      </a:r>
                      <a:r>
                        <a:rPr lang="en-US" sz="1200" dirty="0"/>
                        <a:t> Test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err="1">
                          <a:solidFill>
                            <a:srgbClr val="00B050"/>
                          </a:solidFill>
                        </a:rPr>
                        <a:t>Mandatory</a:t>
                      </a:r>
                      <a:endParaRPr lang="tr-TR" sz="12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2494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lang="tr-TR" sz="1200" dirty="0" err="1"/>
                        <a:t>Recovery</a:t>
                      </a:r>
                      <a:r>
                        <a:rPr lang="en-US" sz="1200" dirty="0"/>
                        <a:t> S</a:t>
                      </a:r>
                      <a:r>
                        <a:rPr lang="tr-TR" sz="1200" dirty="0"/>
                        <a:t>y</a:t>
                      </a:r>
                      <a:r>
                        <a:rPr lang="en-US" sz="1200" dirty="0"/>
                        <a:t>stem – Para</a:t>
                      </a:r>
                      <a:r>
                        <a:rPr lang="tr-TR" sz="1200" dirty="0" err="1"/>
                        <a:t>chute</a:t>
                      </a:r>
                      <a:r>
                        <a:rPr lang="en-US" sz="1200" dirty="0"/>
                        <a:t> Test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27994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ctr"/>
                      <a:r>
                        <a:rPr lang="tr-TR" sz="1200" dirty="0" err="1"/>
                        <a:t>Structural</a:t>
                      </a:r>
                      <a:r>
                        <a:rPr lang="en-US" sz="1200" dirty="0"/>
                        <a:t> – </a:t>
                      </a:r>
                      <a:r>
                        <a:rPr lang="tr-TR" sz="1200" dirty="0" err="1"/>
                        <a:t>Rigidity</a:t>
                      </a:r>
                      <a:r>
                        <a:rPr lang="en-US" sz="1200" dirty="0"/>
                        <a:t> Test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336347"/>
                  </a:ext>
                </a:extLst>
              </a:tr>
              <a:tr h="4160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</a:t>
                      </a:r>
                      <a:r>
                        <a:rPr lang="tr-TR" sz="1200" dirty="0"/>
                        <a:t>c</a:t>
                      </a:r>
                      <a:r>
                        <a:rPr lang="en-US" sz="1200" dirty="0" err="1"/>
                        <a:t>ket</a:t>
                      </a:r>
                      <a:r>
                        <a:rPr lang="en-US" sz="1200" dirty="0"/>
                        <a:t> </a:t>
                      </a:r>
                      <a:r>
                        <a:rPr lang="tr-TR" sz="1200" dirty="0"/>
                        <a:t>Integration </a:t>
                      </a:r>
                      <a:r>
                        <a:rPr lang="en-US" sz="1200" dirty="0"/>
                        <a:t>&amp; </a:t>
                      </a:r>
                      <a:r>
                        <a:rPr lang="tr-TR" sz="1200" dirty="0"/>
                        <a:t>Flight Readiness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926112"/>
                  </a:ext>
                </a:extLst>
              </a:tr>
              <a:tr h="5302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Avioni</a:t>
                      </a:r>
                      <a:r>
                        <a:rPr lang="tr-TR" sz="1200" dirty="0" err="1"/>
                        <a:t>cs</a:t>
                      </a:r>
                      <a:r>
                        <a:rPr lang="en-US" sz="1200" dirty="0"/>
                        <a:t> – </a:t>
                      </a:r>
                      <a:r>
                        <a:rPr lang="tr-TR" sz="1200" dirty="0" err="1"/>
                        <a:t>Communication</a:t>
                      </a:r>
                      <a:r>
                        <a:rPr lang="tr-TR" sz="1200" dirty="0"/>
                        <a:t> </a:t>
                      </a:r>
                      <a:r>
                        <a:rPr lang="en-US" sz="1200" dirty="0"/>
                        <a:t>Test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110176"/>
                  </a:ext>
                </a:extLst>
              </a:tr>
              <a:tr h="53028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Avioni</a:t>
                      </a:r>
                      <a:r>
                        <a:rPr lang="tr-TR" sz="1200" dirty="0" err="1"/>
                        <a:t>cs</a:t>
                      </a:r>
                      <a:r>
                        <a:rPr lang="en-US" sz="1200" dirty="0"/>
                        <a:t> – </a:t>
                      </a:r>
                      <a:r>
                        <a:rPr lang="en-US" sz="1200" dirty="0" err="1"/>
                        <a:t>Algorit</a:t>
                      </a:r>
                      <a:r>
                        <a:rPr lang="tr-TR" sz="1200" dirty="0"/>
                        <a:t>hm</a:t>
                      </a:r>
                      <a:r>
                        <a:rPr lang="en-US" sz="1200" dirty="0"/>
                        <a:t> &amp; F</a:t>
                      </a:r>
                      <a:r>
                        <a:rPr lang="tr-TR" sz="1200" dirty="0" err="1"/>
                        <a:t>unctionality</a:t>
                      </a:r>
                      <a:r>
                        <a:rPr lang="en-US" sz="1200" dirty="0"/>
                        <a:t> Test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439325"/>
                  </a:ext>
                </a:extLst>
              </a:tr>
              <a:tr h="5310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Avioni</a:t>
                      </a:r>
                      <a:r>
                        <a:rPr lang="tr-TR" sz="1200" dirty="0" err="1"/>
                        <a:t>cs</a:t>
                      </a:r>
                      <a:r>
                        <a:rPr lang="en-US" sz="1200" dirty="0"/>
                        <a:t> – </a:t>
                      </a:r>
                      <a:r>
                        <a:rPr lang="tr-TR" sz="1200" dirty="0" err="1"/>
                        <a:t>Referee</a:t>
                      </a:r>
                      <a:r>
                        <a:rPr lang="tr-TR" sz="1200" dirty="0"/>
                        <a:t> </a:t>
                      </a:r>
                      <a:r>
                        <a:rPr lang="tr-TR" sz="1200" dirty="0" err="1"/>
                        <a:t>Ground</a:t>
                      </a:r>
                      <a:r>
                        <a:rPr lang="tr-TR" sz="1200" dirty="0"/>
                        <a:t> Station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276257"/>
                  </a:ext>
                </a:extLst>
              </a:tr>
              <a:tr h="643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err="1"/>
                        <a:t>Avionics</a:t>
                      </a:r>
                      <a:r>
                        <a:rPr lang="tr-TR" sz="1200" dirty="0"/>
                        <a:t> – </a:t>
                      </a:r>
                      <a:r>
                        <a:rPr lang="en-US" sz="1200" dirty="0"/>
                        <a:t>Communication Test with SRAD Avionics &amp; Ground Avionics Test Bench</a:t>
                      </a:r>
                      <a:endParaRPr lang="tr-T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Mandatory</a:t>
                      </a:r>
                      <a:endParaRPr kumimoji="0" lang="tr-T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082930"/>
                  </a:ext>
                </a:extLst>
              </a:tr>
            </a:tbl>
          </a:graphicData>
        </a:graphic>
      </p:graphicFrame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DB3D105-A0E6-455D-B46E-BC875DD7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77C4FC7-B7EC-4FDA-BDB2-EA3B227A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450835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090" y="249215"/>
            <a:ext cx="9144000" cy="750956"/>
          </a:xfrm>
        </p:spPr>
        <p:txBody>
          <a:bodyPr>
            <a:normAutofit/>
          </a:bodyPr>
          <a:lstStyle/>
          <a:p>
            <a:r>
              <a:rPr lang="tr-TR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Appendices</a:t>
            </a:r>
            <a:endParaRPr lang="tr-T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1227317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6240440"/>
            <a:ext cx="12192000" cy="25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48" y="306044"/>
            <a:ext cx="11719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Team Logo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DC82-49FF-42E3-B7EA-26FF728940D5}" type="slidenum">
              <a:rPr lang="tr-TR" smtClean="0"/>
              <a:t>30</a:t>
            </a:fld>
            <a:endParaRPr lang="tr-TR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72C9E44-C959-4EA9-B84B-2B593D1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40" y="0"/>
            <a:ext cx="1212160" cy="1212160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3CD0DDAB-7119-84F6-7E4A-148C37B613A5}"/>
              </a:ext>
            </a:extLst>
          </p:cNvPr>
          <p:cNvSpPr txBox="1"/>
          <p:nvPr/>
        </p:nvSpPr>
        <p:spPr>
          <a:xfrm>
            <a:off x="300926" y="1106117"/>
            <a:ext cx="121847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Poster Requirements</a:t>
            </a:r>
          </a:p>
          <a:p>
            <a:endParaRPr lang="tr-TR" b="1" dirty="0"/>
          </a:p>
          <a:p>
            <a:r>
              <a:rPr lang="en-US" b="1" dirty="0"/>
              <a:t>Format:</a:t>
            </a:r>
            <a:endParaRPr lang="en-US" dirty="0"/>
          </a:p>
          <a:p>
            <a:pPr lvl="1"/>
            <a:r>
              <a:rPr lang="en-US" dirty="0"/>
              <a:t>Must be prepared in </a:t>
            </a:r>
            <a:r>
              <a:rPr lang="en-US" b="1" dirty="0"/>
              <a:t>PDF</a:t>
            </a:r>
            <a:r>
              <a:rPr lang="en-US" dirty="0"/>
              <a:t> format</a:t>
            </a:r>
          </a:p>
          <a:p>
            <a:pPr lvl="1"/>
            <a:r>
              <a:rPr lang="en-US" dirty="0"/>
              <a:t>Must be uploaded to the system</a:t>
            </a:r>
          </a:p>
          <a:p>
            <a:r>
              <a:rPr lang="en-US" b="1" dirty="0"/>
              <a:t>Size and Dimensions:</a:t>
            </a:r>
            <a:endParaRPr lang="en-US" dirty="0"/>
          </a:p>
          <a:p>
            <a:pPr lvl="1"/>
            <a:r>
              <a:rPr lang="en-US" dirty="0"/>
              <a:t>Must be in </a:t>
            </a:r>
            <a:r>
              <a:rPr lang="en-US" b="1" dirty="0"/>
              <a:t>A2</a:t>
            </a:r>
            <a:r>
              <a:rPr lang="en-US" dirty="0"/>
              <a:t> dimensions</a:t>
            </a:r>
          </a:p>
          <a:p>
            <a:pPr lvl="1"/>
            <a:r>
              <a:rPr lang="en-US" dirty="0"/>
              <a:t>File size must not exceed </a:t>
            </a:r>
            <a:r>
              <a:rPr lang="en-US" b="1" dirty="0"/>
              <a:t>15 MB</a:t>
            </a:r>
            <a:endParaRPr lang="en-US" dirty="0"/>
          </a:p>
          <a:p>
            <a:r>
              <a:rPr lang="en-US" b="1" dirty="0"/>
              <a:t>Content:</a:t>
            </a:r>
            <a:endParaRPr lang="en-US" dirty="0"/>
          </a:p>
          <a:p>
            <a:pPr lvl="1"/>
            <a:r>
              <a:rPr lang="en-US" dirty="0"/>
              <a:t>Should consist of a </a:t>
            </a:r>
            <a:r>
              <a:rPr lang="en-US" b="1" dirty="0"/>
              <a:t>single page</a:t>
            </a:r>
            <a:endParaRPr lang="en-US" dirty="0"/>
          </a:p>
          <a:p>
            <a:pPr lvl="1"/>
            <a:r>
              <a:rPr lang="en-US" dirty="0"/>
              <a:t>Should clearly present the </a:t>
            </a:r>
            <a:r>
              <a:rPr lang="en-US" b="1" dirty="0"/>
              <a:t>entire rocket system</a:t>
            </a:r>
            <a:endParaRPr lang="en-US" dirty="0"/>
          </a:p>
          <a:p>
            <a:pPr lvl="1"/>
            <a:r>
              <a:rPr lang="en-US" dirty="0"/>
              <a:t>A viewer should be able to easily understand and recognize all subsystems of the rocket (e.g., avionics, recovery, structure, propulsion, etc.)</a:t>
            </a:r>
          </a:p>
          <a:p>
            <a:r>
              <a:rPr lang="en-US" b="1" dirty="0"/>
              <a:t>Submission and Usage:</a:t>
            </a:r>
            <a:endParaRPr lang="en-US" dirty="0"/>
          </a:p>
          <a:p>
            <a:pPr lvl="1"/>
            <a:r>
              <a:rPr lang="en-US" dirty="0"/>
              <a:t>In addition to uploading to the system, a </a:t>
            </a:r>
            <a:r>
              <a:rPr lang="en-US" b="1" dirty="0"/>
              <a:t>printed version</a:t>
            </a:r>
            <a:r>
              <a:rPr lang="en-US" dirty="0"/>
              <a:t> must be brought to the competition area</a:t>
            </a:r>
          </a:p>
          <a:p>
            <a:r>
              <a:rPr lang="en-US" b="1" dirty="0"/>
              <a:t>Additionally: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latest </a:t>
            </a:r>
            <a:r>
              <a:rPr lang="en-US" b="1" dirty="0" err="1"/>
              <a:t>OpenRocket</a:t>
            </a:r>
            <a:r>
              <a:rPr lang="en-US" b="1" dirty="0"/>
              <a:t> file</a:t>
            </a:r>
            <a:r>
              <a:rPr lang="en-US" dirty="0"/>
              <a:t> must also be shared</a:t>
            </a:r>
          </a:p>
          <a:p>
            <a:endParaRPr lang="tr-TR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752153F-E217-4BD7-9648-E9D34542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6222"/>
            <a:ext cx="2743200" cy="365125"/>
          </a:xfrm>
        </p:spPr>
        <p:txBody>
          <a:bodyPr/>
          <a:lstStyle/>
          <a:p>
            <a:r>
              <a:rPr lang="tr-TR" dirty="0" err="1"/>
              <a:t>July</a:t>
            </a:r>
            <a:r>
              <a:rPr lang="tr-TR" dirty="0"/>
              <a:t> 7th, 2025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3903C880-F53D-458E-A90C-4B2893A4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33935" y="6426222"/>
            <a:ext cx="7124131" cy="365125"/>
          </a:xfrm>
        </p:spPr>
        <p:txBody>
          <a:bodyPr/>
          <a:lstStyle/>
          <a:p>
            <a:r>
              <a:rPr lang="tr-TR" dirty="0"/>
              <a:t>TEKNOFEST-</a:t>
            </a:r>
            <a:r>
              <a:rPr lang="en-US" dirty="0"/>
              <a:t>2025 </a:t>
            </a:r>
            <a:r>
              <a:rPr lang="tr-TR" dirty="0"/>
              <a:t>ROCKET COMPETITION FLIGHT READINESS REVIEW (FR</a:t>
            </a:r>
            <a:r>
              <a:rPr lang="en-US" dirty="0"/>
              <a:t>R</a:t>
            </a:r>
            <a:r>
              <a:rPr lang="tr-TR" dirty="0"/>
              <a:t>) REPORT</a:t>
            </a:r>
          </a:p>
        </p:txBody>
      </p:sp>
    </p:spTree>
    <p:extLst>
      <p:ext uri="{BB962C8B-B14F-4D97-AF65-F5344CB8AC3E}">
        <p14:creationId xmlns:p14="http://schemas.microsoft.com/office/powerpoint/2010/main" val="358550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470C76E1B2F514D9D930B6B0DCD220C" ma:contentTypeVersion="19" ma:contentTypeDescription="Yeni belge oluşturun." ma:contentTypeScope="" ma:versionID="ffdacd64e6534a5e5b66342426402cd5">
  <xsd:schema xmlns:xsd="http://www.w3.org/2001/XMLSchema" xmlns:xs="http://www.w3.org/2001/XMLSchema" xmlns:p="http://schemas.microsoft.com/office/2006/metadata/properties" xmlns:ns2="461b51cf-fae4-4b8b-9079-6f1d3d578e1c" xmlns:ns3="032345de-d3c7-4adb-be82-da5257eb0095" targetNamespace="http://schemas.microsoft.com/office/2006/metadata/properties" ma:root="true" ma:fieldsID="2fbe7514ac5167ed826c5b14262ef020" ns2:_="" ns3:_="">
    <xsd:import namespace="461b51cf-fae4-4b8b-9079-6f1d3d578e1c"/>
    <xsd:import namespace="032345de-d3c7-4adb-be82-da5257eb00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b51cf-fae4-4b8b-9079-6f1d3d578e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Resim Etiketleri" ma:readOnly="false" ma:fieldId="{5cf76f15-5ced-4ddc-b409-7134ff3c332f}" ma:taxonomyMulti="true" ma:sspId="bdb4ad91-825d-4c05-aaca-780a7ecb51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345de-d3c7-4adb-be82-da5257eb009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0fb8eb-6259-4744-843d-a9c21058576c}" ma:internalName="TaxCatchAll" ma:showField="CatchAllData" ma:web="032345de-d3c7-4adb-be82-da5257eb00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1b51cf-fae4-4b8b-9079-6f1d3d578e1c">
      <Terms xmlns="http://schemas.microsoft.com/office/infopath/2007/PartnerControls"/>
    </lcf76f155ced4ddcb4097134ff3c332f>
    <TaxCatchAll xmlns="032345de-d3c7-4adb-be82-da5257eb0095" xsi:nil="true"/>
  </documentManagement>
</p:properties>
</file>

<file path=customXml/itemProps1.xml><?xml version="1.0" encoding="utf-8"?>
<ds:datastoreItem xmlns:ds="http://schemas.openxmlformats.org/officeDocument/2006/customXml" ds:itemID="{6F468348-835B-4846-8DB5-B0263AB4AB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3058BD-A0CD-470A-8D56-E175B799EC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1b51cf-fae4-4b8b-9079-6f1d3d578e1c"/>
    <ds:schemaRef ds:uri="032345de-d3c7-4adb-be82-da5257eb00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805C14-D00C-4E76-AD8D-B250903F149A}">
  <ds:schemaRefs>
    <ds:schemaRef ds:uri="http://schemas.microsoft.com/office/2006/documentManagement/types"/>
    <ds:schemaRef ds:uri="032345de-d3c7-4adb-be82-da5257eb0095"/>
    <ds:schemaRef ds:uri="http://purl.org/dc/dcmitype/"/>
    <ds:schemaRef ds:uri="461b51cf-fae4-4b8b-9079-6f1d3d578e1c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4040</Words>
  <Application>Microsoft Office PowerPoint</Application>
  <PresentationFormat>Widescreen</PresentationFormat>
  <Paragraphs>534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Mangal</vt:lpstr>
      <vt:lpstr>Microsoft Sans Serif</vt:lpstr>
      <vt:lpstr>Times New Roman</vt:lpstr>
      <vt:lpstr>Wingdings</vt:lpstr>
      <vt:lpstr>Office Theme</vt:lpstr>
      <vt:lpstr>NOTICE-1</vt:lpstr>
      <vt:lpstr>NOTICE - 2</vt:lpstr>
      <vt:lpstr>TEKNOFEST-2025 ROCKET COMPETITION FLIGHT READINESS REVIEW (FRR) REPORT (TEAM ID &amp; NAME)</vt:lpstr>
      <vt:lpstr>OpenRocket / Rocket Design General Layout</vt:lpstr>
      <vt:lpstr>Static Margin / Final Simulation </vt:lpstr>
      <vt:lpstr>Rocket Subsystems Mechanical View &amp; Details </vt:lpstr>
      <vt:lpstr>Mechanical View of the Recovery System</vt:lpstr>
      <vt:lpstr>PowerPoint Presentation</vt:lpstr>
      <vt:lpstr>Payload Mechanical View</vt:lpstr>
      <vt:lpstr>PowerPoint Presentation</vt:lpstr>
      <vt:lpstr>PowerPoint Presentation</vt:lpstr>
      <vt:lpstr>PowerPoint Presentation</vt:lpstr>
      <vt:lpstr>PowerPoint Presentation</vt:lpstr>
      <vt:lpstr>Nose Cone Mechanical View</vt:lpstr>
      <vt:lpstr>Fins Mechanical View</vt:lpstr>
      <vt:lpstr>Body Parts &amp; Other Parts to be used for Integration  (Structural) Mechanical View</vt:lpstr>
      <vt:lpstr>Structural – Structural Supports in the Body (Integration Parts etc.) </vt:lpstr>
      <vt:lpstr>Motor Section Mechanical View &amp; Details </vt:lpstr>
      <vt:lpstr>Tests</vt:lpstr>
      <vt:lpstr>General Information About Tests</vt:lpstr>
      <vt:lpstr>Recovery System – Separation Test</vt:lpstr>
      <vt:lpstr>Recovery System - Parachute Test </vt:lpstr>
      <vt:lpstr>Structural – Rigidity Test</vt:lpstr>
      <vt:lpstr>Rocket Integration General &amp; Flight Readiness</vt:lpstr>
      <vt:lpstr>Avionics – Communication Test</vt:lpstr>
      <vt:lpstr>PowerPoint Presentation</vt:lpstr>
      <vt:lpstr>Avionics – Referee Ground Station Test</vt:lpstr>
      <vt:lpstr>Avionics – Communication Test with SRAD Avionics &amp; Ground Avionics Test Bench</vt:lpstr>
      <vt:lpstr>Test Videos Summary Tableo</vt:lpstr>
      <vt:lpstr>Appendices</vt:lpstr>
    </vt:vector>
  </TitlesOfParts>
  <Company>Ford Otomotiv San. 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Erdi Coşkunpınar</dc:creator>
  <cp:keywords>Herkese Açık</cp:keywords>
  <cp:lastModifiedBy>Burhan Şahin</cp:lastModifiedBy>
  <cp:revision>41</cp:revision>
  <dcterms:created xsi:type="dcterms:W3CDTF">2018-04-02T10:57:15Z</dcterms:created>
  <dcterms:modified xsi:type="dcterms:W3CDTF">2025-07-07T18:08:38Z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e24b52de-3f7f-4829-ab57-dc337770eac8</vt:lpwstr>
  </property>
  <property fmtid="{D5CDD505-2E9C-101B-9397-08002B2CF9AE}" pid="3" name="Classification">
    <vt:lpwstr>Herkese Açık</vt:lpwstr>
  </property>
  <property fmtid="{D5CDD505-2E9C-101B-9397-08002B2CF9AE}" pid="4" name="ContentTypeId">
    <vt:lpwstr>0x010100D470C76E1B2F514D9D930B6B0DCD220C</vt:lpwstr>
  </property>
  <property fmtid="{D5CDD505-2E9C-101B-9397-08002B2CF9AE}" pid="5" name="MediaServiceImageTags">
    <vt:lpwstr/>
  </property>
</Properties>
</file>